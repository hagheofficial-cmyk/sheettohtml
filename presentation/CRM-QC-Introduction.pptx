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autoCompressPictures="0" embedTrueTypeFonts="1" saveSubsetFont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embeddedFontLst>
    <p:embeddedFont>
      <p:font typeface="Vazirmatn"/>
      <p:regular r:id="rId38"/>
      <p:bold r:id="rId3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font" Target="fonts/Vazirmatn-Regular.fntdata"/><Relationship Id="rId39" Type="http://schemas.openxmlformats.org/officeDocument/2006/relationships/font" Target="fonts/Vazirmatn-Bold.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این ارائه، معرفی کاربردی سامانه کنترل کیفیت CRM است. اسکرین‌شات‌ها از رابط واقعی برنامه گرفته شده‌اند. ثبت‌های تیکت و سوشال نمونه آموزشی‌اند و در محیط مرورگر جداگانه ایجاد شده‌اند؛ داده اصلی سرور تغییر نکرده است. داده تماسِ QC از نمونه همراه برنامه است. متن‌ها، شکل‌ها و چیدمان پاورپوینت قابل ویرایش‌اند؛ اسکرین‌شات‌ها تصویرهای مستقل قابل جابه‌جایی و تعویض هستند.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تیکت و سوشال با فرم‌های سامانه ارزیابی می‌شوند و ریت تماس از فایل QC وارد می‌شود. بازه تاریخ بررسی در بخش‌های آماری مشترک است. داده در گزارش مدیریتی، پرونده فردی و برنامه اقدام اصلاحی استفاده می‌شود. ابزار مستقل گزارش تماس، آمار عملیاتی خروجی مرکز تماس را تحلیل می‌کند و با دیتای ریت QC یکی نیست.</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منوی اصلی شامل یازده بخش است. ثبت و سوابق ارزیابی تیکت و سوشال زیرمنو دارند. کارت‌های این اسلاید در حالت نمایش پاورپوینت به اسلاید مربوط متصل‌اند. از لینک فهرست در پایین هر اسلاید نیز می‌توان به این صفحه برگشت.</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3</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مبنای فیلتر تماس، تاریخ بررسی/ثبت فرم است؛ تاریخ انجام تماس جداست. هر دو روز ابتدا و انتهای بازه لحاظ می‌شوند. تاریخ نامعتبر یا معکوس اعمال نمی‌شود. حذف بازه یعنی دیدن کل داده. فیلتر نمایش، بک‌اپ و تأیید کل اطلاعات را بی‌صدا محدود نمی‌کند. در نمونه تماس، ۸۱ ریت کل و ۳۹ ریت با تاریخ بررسی ۱۴۰۵/۰۶/۲۰ وجود دارد؛ این اعداد نمونه‌اند، نه گزارش عملکرد امروز سازمان.</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4</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بازه سراسری روی کارت‌ها و نمودارهای داشبورد اعمال می‌شود. شمارش ارزیابی با میانگین نمره یک مفهوم نیست: نمره خالی وارد میانگین نمی‌شود، اما صفر واقعی معتبر است. در این تصویر ثبت‌های تیکت و سوشال آموزشی‌اند؛ از آن‌ها نتیجه عملکرد واقعی شرکت استخراج نشود.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5</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معیارها سه‌حالته‌اند: رعایت، عدم رعایت و نامرتبط. نامرتبط از مخرج نمره وزن‌دار حذف می‌شود. در منطق تیکت، مقدار ردلاین صفر، نمره نهایی را صفر می‌کند. این تصویر فرم ثبت جدید است و برای ارائه با اطلاعات آموزشی پر شده؛ متنِ ذخیره‌نشده، رکورد داده محسوب نمی‌شود.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6</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این بخش تاریخچه رکوردهای ثبت‌شده است، نه گزارش تجمیعی. صفحه‌بندی و جستجو کمک می‌کنند رکورد مشخص پیدا شود. ارزیابی‌های نمونه توسط API محلی معتبر شده‌اند. در معرفی، روی مرور، جستجو و مشاهده ریز نتیجه تمرکز کنید.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7</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مدت پاسخ‌گویی بر اساس ساعات کاری و روزهای تعطیلِ تنظیم‌شده محاسبه می‌شود؛ با اختلاف خام تقویمی یکی نیست. SLA و نمره کیفیت هر دو نمایش دارند. عدم رعایت SLA به‌تنهایی ردلاین مصنوعی ایجاد نمی‌کند. گزینه نامرتبط در محاسبه وزن‌ها کنار گذاشته می‌شود.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8</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در این جدول مدت پاسخ، وضعیت SLA و نمره کیفیت را جدا بخوانید. رکوردهای بی‌پاسخ و دلایل بررسی‌شده با فیلدهای خود نگهداری می‌شوند. بازه سراسری بر تاریخ بررسی رکورد اثر می‌گذارد؛ تاریخ دریافت پیام مبنای مستقل فیلتر نیست.</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9</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در گزارش تجمیعی، تعداد و میانگین هر منبع جدا نمایش داده می‌شود و میانگین کل بر نمره‌های معتبر استوار است. نبود ارزیابی با نمره صفر یکسان نیست. گزارش تیمی از تیم فعلی مدیریت کارشناسان استفاده می‌کند؛ سوابق اصلی برای این منظور بازنویسی نمی‌شوند. اعداد تصویر برای نمایش قابلیت‌ها هستند.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10</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این گزارش درباره کیفیت ارزیابی‌شده مکالمه است، نه تعداد تماس موفق مرکز تماس. مقدار ۱ رعایت، ۰ عدم رعایت، - موضوعیت نداشته و خانه ثبت‌نشده یک مفهوم جداست. نرخ رعایت فقط بر ۱ و ۰ محاسبه می‌شود. نمره کلی تماس از فایل اصلی می‌آید و با تغییر نام المان‌ها دوباره محاسبه نمی‌شود.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11</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کارشناس بدون ریت نباید در تحلیل با نمره صفر نمایش داده شود. این فهرست مرجع ورود به پروفایل است. تیم فرد از مدیریت کارشناسان خوانده می‌شود. تفکیک روزانه یا فایل‌محور در پرونده معرفی نمی‌شود؛ هدف، عملکرد و سوابق فردی است.</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12</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بازه بالای پاپ‌آپ قابل تغییر است و نشان بازه بارگذاری‌شده مشخص می‌کند چه داده‌ای در گزارش آمده است. عکس کامل، همه سوابق و جزئیات را با باز کردن بخش‌های بسته پوشش می‌دهد؛ اسکرین‌شات این ارائه فقط بخش قابل مشاهده پاپ‌آپ است. نمره‌های خالی وارد میانگین نمی‌شوند.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13</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اقدام‌های اصلاحی جدا از بازه ارزیابی نمایش داده می‌شوند و برچسب همه تاریخ‌ها دارند. تغییر وضعیت یا حذف فقط برای اقدامات ثبت‌شده در همین سامانه مجاز است؛ اقدام واردشده از پنل در پنل اصلی مدیریت می‌شود. تصویر دارای دو اقدام نمونه آموزشی است.</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14</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این تصویر تیم MLM را انتخاب کرده تا نمودارهای ویژه تیم دیده شوند. در حالت همه تیم‌ها، دو نمودار نخست مخفی‌اند و سایر بخش‌ها باقی می‌مانند. نام کارشناسان بدون تطبیق یکتا حدسی به تیم وصل نمی‌شوند. نمودارها بر داده‌های واقعیِ واردشده و بازه تاریخ بررسی استوارند.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15</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رنگ ماتریس خلاصه است و جای بررسی تعداد نمونه یا جزئیات را نمی‌گیرد. معیار موضوعیت‌نداشته و سلول ثبت‌نشده با شکست یکسان نیستند. قبل از تصمیم درباره فرد، داده و تعداد ریت قابل سنجش را ببینید و از پرونده برای توضیح استفاده کنید.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16</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آمار این صفحه با بازه سراسری هماهنگ است؛ عملیات بک‌اپ یا پاک‌سازی بازه و تأیید مستقل خود را دارند. داده فاقد تاریخ معتبر فقط در همه تاریخ‌ها وارد نمایش می‌شود و تعدادش جدا اعلام می‌شود. این بخش برای پیدا کردن مشکل ورودی است، نه نمره‌دادن دوباره به کارشناس.</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17</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تیم مقصد اختیاری فقط به نام‌های ثبت‌نشده کمک می‌کند و تیم فرد شناخته‌شده را تغییر نمی‌دهد. تطبیق نگارشی حروف فارسی/عربی و فاصله فقط اگر یکتا باشد پذیرفته می‌شود. در نسخه سرور، فایل‌های پوشه data/calls نیز خودکار خوانده می‌شوند. جایگزینی Excel محدود به فایل‌های هم‌نام است؛ افزودن تاریخچه ماه‌های دیگر را نگه می‌دارد.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18</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خالی بودن تاریخ بک‌اپ یعنی کل داده؛ اگر تاریخ انتخاب شود، رکوردها محدود به همان بازه‌اند. بازه بک‌اپ عمداً مستقل از بازه نمایش است و دکمه استفاده از بازه گزارش، انتخاب صریح کاربر است. فایل را خارج از حافظه مرورگر نگه دارید؛ تأیید اطلاعات جای این فایل مستقل را نمی‌گیرد.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19</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در بک‌اپ JSON، جایگزینی می‌تواند کل داده توضیح‌داده‌شده را عوض کند؛ با جایگزینی فایل هم‌نام Excel یکسان نیست. برای اضافه کردن آرشیو ماه جدید، افزودن معمولاً انتخاب مناسب است. پیش از جایگزینی، بک‌اپ فعلی گرفته شود. در تهیه این تصویر، پنجره باز و سپس لغو شد و هیچ جایگزینی انجام نشد.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20</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این ابزار داده و فهرست کارشناسان مستقل دارد و دیتایش با ریت QC ترکیب نمی‌شود. بازه و تم سامانه به ابزار منتقل می‌شوند. رکورد قدیمی فاقد ریز تاریخ در بازه محدود با هشدار محافظت می‌شود. در نمایشِ تهیه‌شده، کارشناسان نمونه ابزار و یک اکسل مصنوعی آموزشی استفاده شده است.</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21</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اکسل آموزشی این تصویر ۷۲ ردیف برای ۶ کارشناس نمونه دارد؛ این اعداد ساختگی‌اند و برای معرفی قابلیت استفاده شده‌اند. «تماس موفق» در این ابزار وضعیت عملیاتی تماس است، نه نمره مثبت QC. مدت واقعی مکالمه با زمان شنود ارزیاب برابر نیست. خروجی‌های ابزار و گزارش QC هدف‌های متفاوتی دارند.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22</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مدیریت کارشناسان مرجع تیم فعلی گزارش‌هاست. حذف تمام کارشناسان با نوشتن عبارت حذف و تأیید صریح انجام می‌شود و ریت‌ها یا کارشناسان QC را پاک نمی‌کند. تغییر تیم، تیم ذخیره‌شده در تاریخچه را بازنویسی نمی‌کند. گزینه حذف جمعی را فقط در تصمیم آگاهانه مدیریتی استفاده کنید.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23</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اعتبارسنجی اتمیک است: داخلی تکراری یا نامعتبر نباید نام یا تیم را نیمه‌کاره عوض کند. اصلاح نام برای تطبیق فایل‌ها اهمیت دارد؛ نام‌های مبهم حدسی یکی نمی‌شوند. در تهیه تصویر، فرم فقط باز و بسته شد و اطلاعات اصلی سرور تغییر نکرد.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24</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کارشناس سازمان، فردی است که عملکردش ارزیابی می‌شود؛ کارشناس QC ثبت‌کننده ارزیابی است. این دو فهرست یکسان نیستند. حذف QC دارای سابقه ارزیابی محدود است تا مرجع ثبت‌های موجود شکسته نشود.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25</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این صفحه مخصوص ریت تماس است، نه بازنویسی فرمول تیکت و سوشال. حذف یک المان از فرم فعال، مقادیر قدیمی ثبت‌شده را حذف نمی‌کند. نرخ‌ها همچنان از مقادیر واقعی ۱/۰/- به دست می‌آیند. نمره کلی اصلی فایل دست‌نخورده است و تغییر معیارها سوابق را دوباره نمره‌دهی نمی‌کند.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26</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آستانه رنگ روی نمایش اثر دارد، نه تغییر عدد نمره اصلی. وزن فرمول‌ها و تنظیمات SLA بر رکوردهای جدید اعمال می‌شوند؛ سوابق قبلی خودکار دوباره محاسبه نمی‌شوند. مدیریت انسانی به صفحه مدیریت کارشناسان منتقل شده است. کارت دیتای نمونه برای تست است و در کار عملیاتی نباید بدون برنامه از عملیات پاک‌سازی استفاده شود.</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27</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تغییر تم فقط نمایش را عوض می‌کند و داده یا نمره را تغییر نمی‌دهد. انتخاب کاربر در مرورگر ذخیره می‌شود و در تأیید اطلاعات هم حفظ می‌شود. اسکرین‌شات‌های این اسلاید هر دو از همان سامانه و همان داده نمایشی گرفته شده‌اند. تم خود پاورپوینت مطابق حالت تاریک سامانه طراحی شده است.</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28</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دکمه تأیید اطلاعات، نسخه کامل ثبت‌های ذخیره‌شده، کارشناسان، QCها، تنظیمات، لیست‌ها، اقدامات و اطلاعات خام را در مرورگر ذخیره می‌کند و تاریخ، تم و وضعیت گزارش را نیز حفظ می‌کند. متن ذخیره‌نشده فرم، رکورد ثبت‌شده نیست. پیام موفقیت و زمان تأیید را ببینید. بازگشایی باید در همان مرورگر و همان آدرس باشد. در منبع نسخه مرورگر، تغییرات خودکار به سرور منتشر نمی‌شوند؛ بازگشت صریح به اطلاعات سرور موجود است. پاک کردن داده سایت، مرورگر دیگر یا حالت خصوصی می‌تواند نسخه محلی را از بین ببرد؛ بک‌اپ مستقل همچنان لازم است.</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29</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۱ یعنی رعایت و ۰ یعنی عدم رعایت. خط تیره یعنی موضوعیت نداشته و از مخرج نرخ کنار گذاشته می‌شود. ثبت‌نشده یک وضعیت جداست و نه صفر است و نه موضوعیت‌نداشته. نرخ رعایت معیار از رعایت تقسیم بر رعایت به علاوه عدم رعایت محاسبه می‌شود. صفر واقعی وارد میانگین نمره می‌شود ولی نمره خالی وارد نمی‌شود. نمره کلی تماس همان عدد اصلی فایل است. مدت شنود با مدت واقعی مکالمه یکی نیست؛ تأخیر SLA به‌تنهایی ردلاین مصنوعی نیست.</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30</a:t>
            </a:fld>
            <a:endParaRPr lang="fa-I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ترتیب پیشنهادی: فهرست کارشناسان و QCها را کامل کنید؛ تنظیمات پایه و معیارها را کنترل کنید؛ ارزیابی‌ها را ثبت یا فایل QC را وارد کنید؛ بازه تاریخ بررسی را انتخاب کنید؛ گزارش و پرونده را مرور کنید و اقدام اصلاحی ثبت کنید؛ در پایان، بک‌اپ و تأیید اطلاعات را انجام دهید. این ترتیب یک پیشنهاد کاربردی است و الزام فنی برای استفاده از تک‌تک صفحه‌ها نیست.</a:t>
            </a:r>
            <a:endParaRPr lang="fa-IR" dirty="0"/>
          </a:p>
        </p:txBody>
      </p:sp>
      <p:sp>
        <p:nvSpPr>
          <p:cNvPr id="4" name="Slide Number Placeholder 3"/>
          <p:cNvSpPr>
            <a:spLocks noGrp="1"/>
          </p:cNvSpPr>
          <p:nvPr>
            <p:ph type="sldNum" sz="quarter" idx="10"/>
          </p:nvPr>
        </p:nvSpPr>
        <p:spPr/>
        <p:txBody>
          <a:bodyPr/>
          <a:lstStyle/>
          <a:p>
            <a:fld id="{F7021451-1387-4CA6-816F-3879F97B5CBC}" type="slidenum">
              <a:rPr lang="fa-IR"/>
              <a:t>31</a:t>
            </a:fld>
            <a:endParaRPr lang="fa-I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1" Type="http://schemas.openxmlformats.org/officeDocument/2006/relationships/image" Target="../media/image-1-1.png"/><Relationship Id="rId2" Type="http://schemas.openxmlformats.org/officeDocument/2006/relationships/image" Target="../media/image-1-2.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6.xml"/><Relationship Id="rId7" Type="http://schemas.openxmlformats.org/officeDocument/2006/relationships/slide" Target="slide8.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0.xml"/><Relationship Id="rId11" Type="http://schemas.openxmlformats.org/officeDocument/2006/relationships/slide" Target="slide12.xml"/><Relationship Id="rId12" Type="http://schemas.openxmlformats.org/officeDocument/2006/relationships/slide" Target="slide12.xml"/><Relationship Id="rId13" Type="http://schemas.openxmlformats.org/officeDocument/2006/relationships/slide" Target="slide17.xml"/><Relationship Id="rId14" Type="http://schemas.openxmlformats.org/officeDocument/2006/relationships/slide" Target="slide17.xml"/><Relationship Id="rId15" Type="http://schemas.openxmlformats.org/officeDocument/2006/relationships/slide" Target="slide15.xml"/><Relationship Id="rId16" Type="http://schemas.openxmlformats.org/officeDocument/2006/relationships/slide" Target="slide15.xml"/><Relationship Id="rId17" Type="http://schemas.openxmlformats.org/officeDocument/2006/relationships/slide" Target="slide21.xml"/><Relationship Id="rId18" Type="http://schemas.openxmlformats.org/officeDocument/2006/relationships/slide" Target="slide21.xml"/><Relationship Id="rId19" Type="http://schemas.openxmlformats.org/officeDocument/2006/relationships/slide" Target="slide26.xml"/><Relationship Id="rId20" Type="http://schemas.openxmlformats.org/officeDocument/2006/relationships/slide" Target="slide26.xml"/><Relationship Id="rId21" Type="http://schemas.openxmlformats.org/officeDocument/2006/relationships/slide" Target="slide27.xml"/><Relationship Id="rId22" Type="http://schemas.openxmlformats.org/officeDocument/2006/relationships/slide" Target="slide27.xml"/><Relationship Id="rId23" Type="http://schemas.openxmlformats.org/officeDocument/2006/relationships/slide" Target="slide23.xml"/><Relationship Id="rId24" Type="http://schemas.openxmlformats.org/officeDocument/2006/relationships/slide" Target="slide23.xml"/><Relationship Id="rId1" Type="http://schemas.openxmlformats.org/officeDocument/2006/relationships/image" Target="../media/image-3-1.png"/><Relationship Id="rId25" Type="http://schemas.openxmlformats.org/officeDocument/2006/relationships/image" Target="../media/image-3-2.jpg"/><Relationship Id="rId26" Type="http://schemas.openxmlformats.org/officeDocument/2006/relationships/slideLayout" Target="../slideLayouts/slideLayout1.xml"/><Relationship Id="rId2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4-1.png"/><Relationship Id="rId3" Type="http://schemas.openxmlformats.org/officeDocument/2006/relationships/image" Target="../media/image-4-2.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5-1.png"/><Relationship Id="rId3" Type="http://schemas.openxmlformats.org/officeDocument/2006/relationships/image" Target="../media/image-5-2.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6-1.png"/><Relationship Id="rId3" Type="http://schemas.openxmlformats.org/officeDocument/2006/relationships/image" Target="../media/image-6-2.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7-1.png"/><Relationship Id="rId3" Type="http://schemas.openxmlformats.org/officeDocument/2006/relationships/image" Target="../media/image-7-2.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8-1.png"/><Relationship Id="rId3" Type="http://schemas.openxmlformats.org/officeDocument/2006/relationships/image" Target="../media/image-8-2.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9-1.png"/><Relationship Id="rId3" Type="http://schemas.openxmlformats.org/officeDocument/2006/relationships/image" Target="../media/image-9-2.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0-1.png"/><Relationship Id="rId3" Type="http://schemas.openxmlformats.org/officeDocument/2006/relationships/image" Target="../media/image-10-2.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1-1.png"/><Relationship Id="rId3" Type="http://schemas.openxmlformats.org/officeDocument/2006/relationships/image" Target="../media/image-11-2.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2-1.png"/><Relationship Id="rId3" Type="http://schemas.openxmlformats.org/officeDocument/2006/relationships/image" Target="../media/image-12-2.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3-1.png"/><Relationship Id="rId3" Type="http://schemas.openxmlformats.org/officeDocument/2006/relationships/image" Target="../media/image-13-2.jp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4-1.png"/><Relationship Id="rId3" Type="http://schemas.openxmlformats.org/officeDocument/2006/relationships/image" Target="../media/image-14-2.jp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5-1.png"/><Relationship Id="rId3" Type="http://schemas.openxmlformats.org/officeDocument/2006/relationships/image" Target="../media/image-15-2.jp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6-1.png"/><Relationship Id="rId3" Type="http://schemas.openxmlformats.org/officeDocument/2006/relationships/image" Target="../media/image-16-2.jp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7-1.png"/><Relationship Id="rId3" Type="http://schemas.openxmlformats.org/officeDocument/2006/relationships/image" Target="../media/image-17-2.jp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8-1.png"/><Relationship Id="rId3" Type="http://schemas.openxmlformats.org/officeDocument/2006/relationships/image" Target="../media/image-18-2.jp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19-1.png"/><Relationship Id="rId3" Type="http://schemas.openxmlformats.org/officeDocument/2006/relationships/image" Target="../media/image-19-2.jp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0-1.png"/><Relationship Id="rId3" Type="http://schemas.openxmlformats.org/officeDocument/2006/relationships/image" Target="../media/image-20-2.jp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1-1.png"/><Relationship Id="rId3" Type="http://schemas.openxmlformats.org/officeDocument/2006/relationships/image" Target="../media/image-21-2.jp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2-1.png"/><Relationship Id="rId3" Type="http://schemas.openxmlformats.org/officeDocument/2006/relationships/image" Target="../media/image-22-2.jp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3-1.png"/><Relationship Id="rId3" Type="http://schemas.openxmlformats.org/officeDocument/2006/relationships/image" Target="../media/image-23-2.jp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4-1.png"/><Relationship Id="rId3" Type="http://schemas.openxmlformats.org/officeDocument/2006/relationships/image" Target="../media/image-24-2.jp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5-1.png"/><Relationship Id="rId3" Type="http://schemas.openxmlformats.org/officeDocument/2006/relationships/image" Target="../media/image-25-2.jp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6-1.png"/><Relationship Id="rId3" Type="http://schemas.openxmlformats.org/officeDocument/2006/relationships/image" Target="../media/image-26-2.jp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7-1.png"/><Relationship Id="rId3" Type="http://schemas.openxmlformats.org/officeDocument/2006/relationships/image" Target="../media/image-27-2.jp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8-1.png"/><Relationship Id="rId3" Type="http://schemas.openxmlformats.org/officeDocument/2006/relationships/image" Target="../media/image-28-2.jpg"/><Relationship Id="rId4" Type="http://schemas.openxmlformats.org/officeDocument/2006/relationships/image" Target="../media/image-28-3.jp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29-1.png"/><Relationship Id="rId3" Type="http://schemas.openxmlformats.org/officeDocument/2006/relationships/image" Target="../media/image-29-2.jp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0-1.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image" Target="../media/image-31-1.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20624" y="822960"/>
            <a:ext cx="7040880" cy="5458968"/>
          </a:xfrm>
          <a:prstGeom prst="roundRect">
            <a:avLst>
              <a:gd name="adj" fmla="val 6000"/>
            </a:avLst>
          </a:prstGeom>
          <a:solidFill>
            <a:srgbClr val="0D1322"/>
          </a:solidFill>
          <a:ln w="8890">
            <a:solidFill>
              <a:srgbClr val="22304F"/>
            </a:solidFill>
            <a:prstDash val="solid"/>
          </a:ln>
        </p:spPr>
      </p:sp>
      <p:pic>
        <p:nvPicPr>
          <p:cNvPr id="3" name="Screenshot / image: logo.png" descr="لوگوی اصلی سامانه">    </p:cNvPr>
          <p:cNvPicPr>
            <a:picLocks noChangeAspect="1"/>
          </p:cNvPicPr>
          <p:nvPr/>
        </p:nvPicPr>
        <p:blipFill>
          <a:blip r:embed="rId1"/>
          <a:stretch>
            <a:fillRect/>
          </a:stretch>
        </p:blipFill>
        <p:spPr>
          <a:xfrm>
            <a:off x="10817352" y="585216"/>
            <a:ext cx="804672" cy="804672"/>
          </a:xfrm>
          <a:prstGeom prst="rect">
            <a:avLst/>
          </a:prstGeom>
        </p:spPr>
      </p:pic>
      <p:sp>
        <p:nvSpPr>
          <p:cNvPr id="4" name="Editable text: معرفی و راهنمای بخش‌ها"/>
          <p:cNvSpPr/>
          <p:nvPr/>
        </p:nvSpPr>
        <p:spPr>
          <a:xfrm>
            <a:off x="7845552" y="1545336"/>
            <a:ext cx="3694176" cy="310896"/>
          </a:xfrm>
          <a:prstGeom prst="rect">
            <a:avLst/>
          </a:prstGeom>
          <a:noFill/>
          <a:ln/>
        </p:spPr>
        <p:txBody>
          <a:bodyPr wrap="square" lIns="0" tIns="0" rIns="0" bIns="0" rtlCol="0" anchor="t"/>
          <a:lstStyle/>
          <a:p>
            <a:pPr rtl="1" algn="r" indent="0" marL="0">
              <a:lnSpc>
                <a:spcPct val="113000"/>
              </a:lnSpc>
              <a:buNone/>
            </a:pPr>
            <a:r>
              <a:rPr lang="fa-IR" altLang="en-US" sz="1500" b="1" dirty="0">
                <a:solidFill>
                  <a:srgbClr val="38BDF8"/>
                </a:solidFill>
                <a:latin typeface="Vazirmatn" pitchFamily="34" charset="0"/>
                <a:ea typeface="Vazirmatn" pitchFamily="34" charset="-122"/>
                <a:cs typeface="Vazirmatn" pitchFamily="34" charset="-120"/>
              </a:rPr>
              <a:t>معرفی و راهنمای بخش‌ها</a:t>
            </a:r>
            <a:endParaRPr lang="fa-IR" sz="1500" dirty="0"/>
          </a:p>
        </p:txBody>
      </p:sp>
      <p:sp>
        <p:nvSpPr>
          <p:cNvPr id="5" name="Editable text: سامانه یکپارچه"/>
          <p:cNvSpPr/>
          <p:nvPr/>
        </p:nvSpPr>
        <p:spPr>
          <a:xfrm>
            <a:off x="7690104" y="2112264"/>
            <a:ext cx="3840480" cy="585216"/>
          </a:xfrm>
          <a:prstGeom prst="rect">
            <a:avLst/>
          </a:prstGeom>
          <a:noFill/>
          <a:ln/>
        </p:spPr>
        <p:txBody>
          <a:bodyPr wrap="square" lIns="0" tIns="0" rIns="0" bIns="0" rtlCol="0" anchor="t"/>
          <a:lstStyle/>
          <a:p>
            <a:pPr rtl="1" algn="r" indent="0" marL="0">
              <a:lnSpc>
                <a:spcPct val="113000"/>
              </a:lnSpc>
              <a:buNone/>
            </a:pPr>
            <a:r>
              <a:rPr lang="fa-IR" altLang="en-US" sz="3100" b="1" dirty="0">
                <a:solidFill>
                  <a:srgbClr val="F1F5F9"/>
                </a:solidFill>
                <a:latin typeface="Vazirmatn" pitchFamily="34" charset="0"/>
                <a:ea typeface="Vazirmatn" pitchFamily="34" charset="-122"/>
                <a:cs typeface="Vazirmatn" pitchFamily="34" charset="-120"/>
              </a:rPr>
              <a:t>سامانه یکپارچه</a:t>
            </a:r>
            <a:endParaRPr lang="fa-IR" sz="3100" dirty="0"/>
          </a:p>
        </p:txBody>
      </p:sp>
      <p:sp>
        <p:nvSpPr>
          <p:cNvPr id="6" name="Editable text: کنترل کیفیت CRM"/>
          <p:cNvSpPr/>
          <p:nvPr/>
        </p:nvSpPr>
        <p:spPr>
          <a:xfrm>
            <a:off x="7690104" y="2752344"/>
            <a:ext cx="3840480" cy="585216"/>
          </a:xfrm>
          <a:prstGeom prst="rect">
            <a:avLst/>
          </a:prstGeom>
          <a:noFill/>
          <a:ln/>
        </p:spPr>
        <p:txBody>
          <a:bodyPr wrap="square" lIns="0" tIns="0" rIns="0" bIns="0" rtlCol="0" anchor="t"/>
          <a:lstStyle/>
          <a:p>
            <a:pPr rtl="1" algn="r" indent="0" marL="0">
              <a:lnSpc>
                <a:spcPct val="113000"/>
              </a:lnSpc>
              <a:buNone/>
            </a:pPr>
            <a:r>
              <a:rPr lang="fa-IR" altLang="en-US" sz="3100" b="1" dirty="0">
                <a:solidFill>
                  <a:srgbClr val="F1F5F9"/>
                </a:solidFill>
                <a:latin typeface="Vazirmatn" pitchFamily="34" charset="0"/>
                <a:ea typeface="Vazirmatn" pitchFamily="34" charset="-122"/>
                <a:cs typeface="Vazirmatn" pitchFamily="34" charset="-120"/>
              </a:rPr>
              <a:t>کنترل کیفیت CRM</a:t>
            </a:r>
            <a:endParaRPr lang="fa-IR" sz="3100" dirty="0"/>
          </a:p>
        </p:txBody>
      </p:sp>
      <p:sp>
        <p:nvSpPr>
          <p:cNvPr id="7" name="Editable text: از ثبت ارزیابی تا تصمیم مدیریتی"/>
          <p:cNvSpPr/>
          <p:nvPr/>
        </p:nvSpPr>
        <p:spPr>
          <a:xfrm>
            <a:off x="7845552" y="3703320"/>
            <a:ext cx="3685032" cy="786384"/>
          </a:xfrm>
          <a:prstGeom prst="rect">
            <a:avLst/>
          </a:prstGeom>
          <a:noFill/>
          <a:ln/>
        </p:spPr>
        <p:txBody>
          <a:bodyPr wrap="square" lIns="0" tIns="0" rIns="0" bIns="0" rtlCol="0" anchor="t"/>
          <a:lstStyle/>
          <a:p>
            <a:pPr rtl="1" algn="r" indent="0" marL="0">
              <a:lnSpc>
                <a:spcPct val="122000"/>
              </a:lnSpc>
              <a:buNone/>
            </a:pPr>
            <a:r>
              <a:rPr lang="fa-IR" altLang="en-US" sz="2100" dirty="0">
                <a:solidFill>
                  <a:srgbClr val="CBD5E1"/>
                </a:solidFill>
                <a:latin typeface="Vazirmatn" pitchFamily="34" charset="0"/>
                <a:ea typeface="Vazirmatn" pitchFamily="34" charset="-122"/>
                <a:cs typeface="Vazirmatn" pitchFamily="34" charset="-120"/>
              </a:rPr>
              <a:t>از ثبت ارزیابی</a:t>
            </a:r>
            <a:endParaRPr lang="fa-IR" sz="2100" dirty="0"/>
          </a:p>
          <a:p>
            <a:pPr rtl="1" algn="r" indent="0" marL="0">
              <a:lnSpc>
                <a:spcPct val="122000"/>
              </a:lnSpc>
              <a:buNone/>
            </a:pPr>
            <a:r>
              <a:rPr lang="fa-IR" altLang="en-US" sz="2100" dirty="0">
                <a:solidFill>
                  <a:srgbClr val="CBD5E1"/>
                </a:solidFill>
                <a:latin typeface="Vazirmatn" pitchFamily="34" charset="0"/>
                <a:ea typeface="Vazirmatn" pitchFamily="34" charset="-122"/>
                <a:cs typeface="Vazirmatn" pitchFamily="34" charset="-120"/>
              </a:rPr>
              <a:t>تا تصمیم مدیریتی</a:t>
            </a:r>
            <a:endParaRPr lang="fa-IR" sz="2100" dirty="0"/>
          </a:p>
        </p:txBody>
      </p:sp>
      <p:pic>
        <p:nvPicPr>
          <p:cNvPr id="8" name="Screenshot / image: dashboard-full.jpg" descr="داشبورد و ناوبری واقعی سامانه">    </p:cNvPr>
          <p:cNvPicPr>
            <a:picLocks noChangeAspect="1"/>
          </p:cNvPicPr>
          <p:nvPr/>
        </p:nvPicPr>
        <p:blipFill>
          <a:blip r:embed="rId2"/>
          <a:stretch>
            <a:fillRect/>
          </a:stretch>
        </p:blipFill>
        <p:spPr>
          <a:xfrm>
            <a:off x="585216" y="1362227"/>
            <a:ext cx="6711696" cy="3859225"/>
          </a:xfrm>
          <a:prstGeom prst="rect">
            <a:avLst/>
          </a:prstGeom>
        </p:spPr>
      </p:pic>
      <p:sp>
        <p:nvSpPr>
          <p:cNvPr id="9" name="Editable text: رابط واقعی سامانه  |  داده نمایشی"/>
          <p:cNvSpPr/>
          <p:nvPr/>
        </p:nvSpPr>
        <p:spPr>
          <a:xfrm>
            <a:off x="813816" y="5650992"/>
            <a:ext cx="6281928" cy="228600"/>
          </a:xfrm>
          <a:prstGeom prst="rect">
            <a:avLst/>
          </a:prstGeom>
          <a:noFill/>
          <a:ln/>
        </p:spPr>
        <p:txBody>
          <a:bodyPr wrap="square" lIns="0" tIns="0" rIns="0" bIns="0" rtlCol="0" anchor="t"/>
          <a:lstStyle/>
          <a:p>
            <a:pPr rtl="1" algn="ctr" indent="0" marL="0">
              <a:lnSpc>
                <a:spcPct val="113000"/>
              </a:lnSpc>
              <a:buNone/>
            </a:pPr>
            <a:r>
              <a:rPr lang="fa-IR" altLang="en-US" sz="1180" dirty="0">
                <a:solidFill>
                  <a:srgbClr val="8EA0BD"/>
                </a:solidFill>
                <a:latin typeface="Vazirmatn" pitchFamily="34" charset="0"/>
                <a:ea typeface="Vazirmatn" pitchFamily="34" charset="-122"/>
                <a:cs typeface="Vazirmatn" pitchFamily="34" charset="-120"/>
              </a:rPr>
              <a:t>رابط واقعی سامانه  |  داده نمایشی</a:t>
            </a:r>
            <a:endParaRPr lang="fa-IR" sz="1180" dirty="0"/>
          </a:p>
        </p:txBody>
      </p:sp>
      <p:sp>
        <p:nvSpPr>
          <p:cNvPr id="10" name="Editable rect"/>
          <p:cNvSpPr/>
          <p:nvPr/>
        </p:nvSpPr>
        <p:spPr>
          <a:xfrm>
            <a:off x="7543800" y="1097280"/>
            <a:ext cx="18288" cy="4992624"/>
          </a:xfrm>
          <a:prstGeom prst="rect">
            <a:avLst/>
          </a:prstGeom>
          <a:solidFill>
            <a:srgbClr val="22304F"/>
          </a:solidFill>
          <a:ln w="12700">
            <a:solidFill>
              <a:srgbClr val="22304F">
                <a:alpha val="0"/>
              </a:srgbClr>
            </a:solidFill>
            <a:prstDash val="solid"/>
          </a:ln>
        </p:spPr>
      </p:sp>
      <p:sp>
        <p:nvSpPr>
          <p:cNvPr id="11" name="Editable roundRect"/>
          <p:cNvSpPr/>
          <p:nvPr/>
        </p:nvSpPr>
        <p:spPr>
          <a:xfrm>
            <a:off x="7854696" y="5001768"/>
            <a:ext cx="1115568" cy="384048"/>
          </a:xfrm>
          <a:prstGeom prst="roundRect">
            <a:avLst>
              <a:gd name="adj" fmla="val 6000"/>
            </a:avLst>
          </a:prstGeom>
          <a:solidFill>
            <a:srgbClr val="16223C"/>
          </a:solidFill>
          <a:ln w="12700">
            <a:solidFill>
              <a:srgbClr val="16223C">
                <a:alpha val="0"/>
              </a:srgbClr>
            </a:solidFill>
            <a:prstDash val="solid"/>
          </a:ln>
        </p:spPr>
      </p:sp>
      <p:sp>
        <p:nvSpPr>
          <p:cNvPr id="12" name="Editable text: تیکت"/>
          <p:cNvSpPr/>
          <p:nvPr/>
        </p:nvSpPr>
        <p:spPr>
          <a:xfrm>
            <a:off x="7891272" y="5102352"/>
            <a:ext cx="1042416" cy="204470"/>
          </a:xfrm>
          <a:prstGeom prst="rect">
            <a:avLst/>
          </a:prstGeom>
          <a:noFill/>
          <a:ln/>
        </p:spPr>
        <p:txBody>
          <a:bodyPr wrap="square" lIns="0" tIns="0" rIns="0" bIns="0" rtlCol="0" anchor="t"/>
          <a:lstStyle/>
          <a:p>
            <a:pPr rtl="1" algn="ctr" indent="0" marL="0">
              <a:lnSpc>
                <a:spcPct val="113000"/>
              </a:lnSpc>
              <a:buNone/>
            </a:pPr>
            <a:r>
              <a:rPr lang="fa-IR" altLang="en-US" sz="1150" b="1" dirty="0">
                <a:solidFill>
                  <a:srgbClr val="38BDF8"/>
                </a:solidFill>
                <a:latin typeface="Vazirmatn" pitchFamily="34" charset="0"/>
                <a:ea typeface="Vazirmatn" pitchFamily="34" charset="-122"/>
                <a:cs typeface="Vazirmatn" pitchFamily="34" charset="-120"/>
              </a:rPr>
              <a:t>تیکت</a:t>
            </a:r>
            <a:endParaRPr lang="fa-IR" sz="1150" dirty="0"/>
          </a:p>
        </p:txBody>
      </p:sp>
      <p:sp>
        <p:nvSpPr>
          <p:cNvPr id="13" name="Editable roundRect"/>
          <p:cNvSpPr/>
          <p:nvPr/>
        </p:nvSpPr>
        <p:spPr>
          <a:xfrm>
            <a:off x="9079992" y="5001768"/>
            <a:ext cx="1115568" cy="384048"/>
          </a:xfrm>
          <a:prstGeom prst="roundRect">
            <a:avLst>
              <a:gd name="adj" fmla="val 6000"/>
            </a:avLst>
          </a:prstGeom>
          <a:solidFill>
            <a:srgbClr val="16223C"/>
          </a:solidFill>
          <a:ln w="12700">
            <a:solidFill>
              <a:srgbClr val="16223C">
                <a:alpha val="0"/>
              </a:srgbClr>
            </a:solidFill>
            <a:prstDash val="solid"/>
          </a:ln>
        </p:spPr>
      </p:sp>
      <p:sp>
        <p:nvSpPr>
          <p:cNvPr id="14" name="Editable text: سوشال"/>
          <p:cNvSpPr/>
          <p:nvPr/>
        </p:nvSpPr>
        <p:spPr>
          <a:xfrm>
            <a:off x="9116568" y="5102352"/>
            <a:ext cx="1042416" cy="204470"/>
          </a:xfrm>
          <a:prstGeom prst="rect">
            <a:avLst/>
          </a:prstGeom>
          <a:noFill/>
          <a:ln/>
        </p:spPr>
        <p:txBody>
          <a:bodyPr wrap="square" lIns="0" tIns="0" rIns="0" bIns="0" rtlCol="0" anchor="t"/>
          <a:lstStyle/>
          <a:p>
            <a:pPr rtl="1" algn="ctr" indent="0" marL="0">
              <a:lnSpc>
                <a:spcPct val="113000"/>
              </a:lnSpc>
              <a:buNone/>
            </a:pPr>
            <a:r>
              <a:rPr lang="fa-IR" altLang="en-US" sz="1150" b="1" dirty="0">
                <a:solidFill>
                  <a:srgbClr val="A78BFA"/>
                </a:solidFill>
                <a:latin typeface="Vazirmatn" pitchFamily="34" charset="0"/>
                <a:ea typeface="Vazirmatn" pitchFamily="34" charset="-122"/>
                <a:cs typeface="Vazirmatn" pitchFamily="34" charset="-120"/>
              </a:rPr>
              <a:t>سوشال</a:t>
            </a:r>
            <a:endParaRPr lang="fa-IR" sz="1150" dirty="0"/>
          </a:p>
        </p:txBody>
      </p:sp>
      <p:sp>
        <p:nvSpPr>
          <p:cNvPr id="15" name="Editable roundRect"/>
          <p:cNvSpPr/>
          <p:nvPr/>
        </p:nvSpPr>
        <p:spPr>
          <a:xfrm>
            <a:off x="10305288" y="5001768"/>
            <a:ext cx="1115568" cy="384048"/>
          </a:xfrm>
          <a:prstGeom prst="roundRect">
            <a:avLst>
              <a:gd name="adj" fmla="val 6000"/>
            </a:avLst>
          </a:prstGeom>
          <a:solidFill>
            <a:srgbClr val="16223C"/>
          </a:solidFill>
          <a:ln w="12700">
            <a:solidFill>
              <a:srgbClr val="16223C">
                <a:alpha val="0"/>
              </a:srgbClr>
            </a:solidFill>
            <a:prstDash val="solid"/>
          </a:ln>
        </p:spPr>
      </p:sp>
      <p:sp>
        <p:nvSpPr>
          <p:cNvPr id="16" name="Editable text: ریت تماس"/>
          <p:cNvSpPr/>
          <p:nvPr/>
        </p:nvSpPr>
        <p:spPr>
          <a:xfrm>
            <a:off x="10341864" y="5102352"/>
            <a:ext cx="1042416" cy="204470"/>
          </a:xfrm>
          <a:prstGeom prst="rect">
            <a:avLst/>
          </a:prstGeom>
          <a:noFill/>
          <a:ln/>
        </p:spPr>
        <p:txBody>
          <a:bodyPr wrap="square" lIns="0" tIns="0" rIns="0" bIns="0" rtlCol="0" anchor="t"/>
          <a:lstStyle/>
          <a:p>
            <a:pPr rtl="1" algn="ctr" indent="0" marL="0">
              <a:lnSpc>
                <a:spcPct val="113000"/>
              </a:lnSpc>
              <a:buNone/>
            </a:pPr>
            <a:r>
              <a:rPr lang="fa-IR" altLang="en-US" sz="1150" b="1" dirty="0">
                <a:solidFill>
                  <a:srgbClr val="34D399"/>
                </a:solidFill>
                <a:latin typeface="Vazirmatn" pitchFamily="34" charset="0"/>
                <a:ea typeface="Vazirmatn" pitchFamily="34" charset="-122"/>
                <a:cs typeface="Vazirmatn" pitchFamily="34" charset="-120"/>
              </a:rPr>
              <a:t>ریت تماس</a:t>
            </a:r>
            <a:endParaRPr lang="fa-IR" sz="1150" dirty="0"/>
          </a:p>
        </p:txBody>
      </p:sp>
      <p:sp>
        <p:nvSpPr>
          <p:cNvPr id="17" name="Editable text: فارسی • راست‌به‌چپ • قابل ویرایش"/>
          <p:cNvSpPr/>
          <p:nvPr/>
        </p:nvSpPr>
        <p:spPr>
          <a:xfrm>
            <a:off x="7836408" y="5733288"/>
            <a:ext cx="3712464" cy="246888"/>
          </a:xfrm>
          <a:prstGeom prst="rect">
            <a:avLst/>
          </a:prstGeom>
          <a:noFill/>
          <a:ln/>
        </p:spPr>
        <p:txBody>
          <a:bodyPr wrap="square" lIns="0" tIns="0" rIns="0" bIns="0" rtlCol="0" anchor="t"/>
          <a:lstStyle/>
          <a:p>
            <a:pPr rtl="1" algn="r" indent="0" marL="0">
              <a:lnSpc>
                <a:spcPct val="113000"/>
              </a:lnSpc>
              <a:buNone/>
            </a:pPr>
            <a:r>
              <a:rPr lang="fa-IR" altLang="en-US" sz="1300" dirty="0">
                <a:solidFill>
                  <a:srgbClr val="8EA0BD"/>
                </a:solidFill>
                <a:latin typeface="Vazirmatn" pitchFamily="34" charset="0"/>
                <a:ea typeface="Vazirmatn" pitchFamily="34" charset="-122"/>
                <a:cs typeface="Vazirmatn" pitchFamily="34" charset="-120"/>
              </a:rPr>
              <a:t>فارسی • راست‌به‌چپ • قابل ویرایش</a:t>
            </a:r>
            <a:endParaRPr lang="fa-IR" sz="1300" dirty="0"/>
          </a:p>
        </p:txBody>
      </p:sp>
      <p:sp>
        <p:nvSpPr>
          <p:cNvPr id="18" name="Editable text: مهر ۱۴۰۵"/>
          <p:cNvSpPr/>
          <p:nvPr/>
        </p:nvSpPr>
        <p:spPr>
          <a:xfrm>
            <a:off x="7836408" y="6108192"/>
            <a:ext cx="3712464" cy="186690"/>
          </a:xfrm>
          <a:prstGeom prst="rect">
            <a:avLst/>
          </a:prstGeom>
          <a:noFill/>
          <a:ln/>
        </p:spPr>
        <p:txBody>
          <a:bodyPr wrap="square" lIns="0" tIns="0" rIns="0" bIns="0" rtlCol="0" anchor="t"/>
          <a:lstStyle/>
          <a:p>
            <a:pPr rtl="1" algn="r" indent="0" marL="0">
              <a:lnSpc>
                <a:spcPct val="113000"/>
              </a:lnSpc>
              <a:buNone/>
            </a:pPr>
            <a:r>
              <a:rPr lang="fa-IR" altLang="en-US" sz="1050" dirty="0">
                <a:solidFill>
                  <a:srgbClr val="8EA0BD"/>
                </a:solidFill>
                <a:latin typeface="Vazirmatn" pitchFamily="34" charset="0"/>
                <a:ea typeface="Vazirmatn" pitchFamily="34" charset="-122"/>
                <a:cs typeface="Vazirmatn" pitchFamily="34" charset="-120"/>
              </a:rPr>
              <a:t>مهر ۱۴۰۵</a:t>
            </a:r>
            <a:endParaRPr lang="fa-IR" sz="1050" dirty="0"/>
          </a:p>
        </p:txBody>
      </p:sp>
      <p:sp>
        <p:nvSpPr>
          <p:cNvPr id="19"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20" name="Editable text: فهرست بخش‌ها">
            <a:hlinkClick r:id="rId3"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3"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21"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22" name="Editable text: ۱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 / ۳۱</a:t>
            </a:r>
            <a:endParaRPr lang="fa-IR" sz="1000" dirty="0"/>
          </a:p>
        </p:txBody>
      </p:sp>
      <p:sp>
        <p:nvSpPr>
          <p:cNvPr id="23" name="Editable rect"/>
          <p:cNvSpPr/>
          <p:nvPr/>
        </p:nvSpPr>
        <p:spPr>
          <a:xfrm>
            <a:off x="502920" y="6830568"/>
            <a:ext cx="361041" cy="22860"/>
          </a:xfrm>
          <a:prstGeom prst="rect">
            <a:avLst/>
          </a:prstGeom>
          <a:solidFill>
            <a:srgbClr val="38BDF8"/>
          </a:solidFill>
          <a:ln w="12700">
            <a:solidFill>
              <a:srgbClr val="38BDF8">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نمای کلی"/>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نمای کلی</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از ثبت ارزیابی تا اقدام اصلاحی"/>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از ثبت ارزیابی تا اقدام اصلاحی</a:t>
            </a:r>
            <a:endParaRPr lang="fa-IR" sz="2800" dirty="0"/>
          </a:p>
        </p:txBody>
      </p:sp>
      <p:sp>
        <p:nvSpPr>
          <p:cNvPr id="9" name="Editable text: سه مسیر ارزیابی؛ یک تصویر مشترک از کیفیت عملکرد"/>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سه مسیر ارزیابی؛ یک تصویر مشترک از کیفیت عملکرد</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 / ۳۱</a:t>
            </a:r>
            <a:endParaRPr lang="fa-IR" sz="1000" dirty="0"/>
          </a:p>
        </p:txBody>
      </p:sp>
      <p:sp>
        <p:nvSpPr>
          <p:cNvPr id="14" name="Editable rect"/>
          <p:cNvSpPr/>
          <p:nvPr/>
        </p:nvSpPr>
        <p:spPr>
          <a:xfrm>
            <a:off x="502920" y="6830568"/>
            <a:ext cx="722081"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8549640" y="1783080"/>
            <a:ext cx="3035808" cy="1088136"/>
          </a:xfrm>
          <a:prstGeom prst="roundRect">
            <a:avLst>
              <a:gd name="adj" fmla="val 6000"/>
            </a:avLst>
          </a:prstGeom>
          <a:solidFill>
            <a:srgbClr val="111A2E"/>
          </a:solidFill>
          <a:ln w="8890">
            <a:solidFill>
              <a:srgbClr val="22304F"/>
            </a:solidFill>
            <a:prstDash val="solid"/>
          </a:ln>
        </p:spPr>
      </p:sp>
      <p:sp>
        <p:nvSpPr>
          <p:cNvPr id="16" name="Editable rect"/>
          <p:cNvSpPr/>
          <p:nvPr/>
        </p:nvSpPr>
        <p:spPr>
          <a:xfrm>
            <a:off x="11430000" y="1956816"/>
            <a:ext cx="41148" cy="713232"/>
          </a:xfrm>
          <a:prstGeom prst="rect">
            <a:avLst/>
          </a:prstGeom>
          <a:solidFill>
            <a:srgbClr val="38BDF8"/>
          </a:solidFill>
          <a:ln w="12700">
            <a:solidFill>
              <a:srgbClr val="38BDF8">
                <a:alpha val="0"/>
              </a:srgbClr>
            </a:solidFill>
            <a:prstDash val="solid"/>
          </a:ln>
        </p:spPr>
      </p:sp>
      <p:sp>
        <p:nvSpPr>
          <p:cNvPr id="17" name="Editable text: ارزیابی تیکت"/>
          <p:cNvSpPr/>
          <p:nvPr/>
        </p:nvSpPr>
        <p:spPr>
          <a:xfrm>
            <a:off x="8723376" y="1975104"/>
            <a:ext cx="247802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38BDF8"/>
                </a:solidFill>
                <a:latin typeface="Vazirmatn" pitchFamily="34" charset="0"/>
                <a:ea typeface="Vazirmatn" pitchFamily="34" charset="-122"/>
                <a:cs typeface="Vazirmatn" pitchFamily="34" charset="-120"/>
              </a:rPr>
              <a:t>ارزیابی تیکت</a:t>
            </a:r>
            <a:endParaRPr lang="fa-IR" sz="1800" dirty="0"/>
          </a:p>
        </p:txBody>
      </p:sp>
      <p:sp>
        <p:nvSpPr>
          <p:cNvPr id="18" name="Editable text: اطلاعات تیکت و معیارهای رسیدگی"/>
          <p:cNvSpPr/>
          <p:nvPr/>
        </p:nvSpPr>
        <p:spPr>
          <a:xfrm>
            <a:off x="8723376" y="2414016"/>
            <a:ext cx="2478024" cy="283464"/>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اطلاعات تیکت و معیارهای رسیدگی</a:t>
            </a:r>
            <a:endParaRPr lang="fa-IR" sz="1380" dirty="0"/>
          </a:p>
        </p:txBody>
      </p:sp>
      <p:sp>
        <p:nvSpPr>
          <p:cNvPr id="19" name="Editable roundRect"/>
          <p:cNvSpPr/>
          <p:nvPr/>
        </p:nvSpPr>
        <p:spPr>
          <a:xfrm>
            <a:off x="8549640" y="3090672"/>
            <a:ext cx="3035808" cy="1088136"/>
          </a:xfrm>
          <a:prstGeom prst="roundRect">
            <a:avLst>
              <a:gd name="adj" fmla="val 6000"/>
            </a:avLst>
          </a:prstGeom>
          <a:solidFill>
            <a:srgbClr val="111A2E"/>
          </a:solidFill>
          <a:ln w="8890">
            <a:solidFill>
              <a:srgbClr val="22304F"/>
            </a:solidFill>
            <a:prstDash val="solid"/>
          </a:ln>
        </p:spPr>
      </p:sp>
      <p:sp>
        <p:nvSpPr>
          <p:cNvPr id="20" name="Editable rect"/>
          <p:cNvSpPr/>
          <p:nvPr/>
        </p:nvSpPr>
        <p:spPr>
          <a:xfrm>
            <a:off x="11430000" y="3264408"/>
            <a:ext cx="41148" cy="713232"/>
          </a:xfrm>
          <a:prstGeom prst="rect">
            <a:avLst/>
          </a:prstGeom>
          <a:solidFill>
            <a:srgbClr val="A78BFA"/>
          </a:solidFill>
          <a:ln w="12700">
            <a:solidFill>
              <a:srgbClr val="A78BFA">
                <a:alpha val="0"/>
              </a:srgbClr>
            </a:solidFill>
            <a:prstDash val="solid"/>
          </a:ln>
        </p:spPr>
      </p:sp>
      <p:sp>
        <p:nvSpPr>
          <p:cNvPr id="21" name="Editable text: ارزیابی سوشال"/>
          <p:cNvSpPr/>
          <p:nvPr/>
        </p:nvSpPr>
        <p:spPr>
          <a:xfrm>
            <a:off x="8723376" y="3282696"/>
            <a:ext cx="247802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A78BFA"/>
                </a:solidFill>
                <a:latin typeface="Vazirmatn" pitchFamily="34" charset="0"/>
                <a:ea typeface="Vazirmatn" pitchFamily="34" charset="-122"/>
                <a:cs typeface="Vazirmatn" pitchFamily="34" charset="-120"/>
              </a:rPr>
              <a:t>ارزیابی سوشال</a:t>
            </a:r>
            <a:endParaRPr lang="fa-IR" sz="1800" dirty="0"/>
          </a:p>
        </p:txBody>
      </p:sp>
      <p:sp>
        <p:nvSpPr>
          <p:cNvPr id="22" name="Editable text: کیفیت تعامل و زمان پاسخ"/>
          <p:cNvSpPr/>
          <p:nvPr/>
        </p:nvSpPr>
        <p:spPr>
          <a:xfrm>
            <a:off x="8723376" y="3721608"/>
            <a:ext cx="2478024" cy="283464"/>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کیفیت تعامل و زمان پاسخ</a:t>
            </a:r>
            <a:endParaRPr lang="fa-IR" sz="1380" dirty="0"/>
          </a:p>
        </p:txBody>
      </p:sp>
      <p:sp>
        <p:nvSpPr>
          <p:cNvPr id="23" name="Editable roundRect"/>
          <p:cNvSpPr/>
          <p:nvPr/>
        </p:nvSpPr>
        <p:spPr>
          <a:xfrm>
            <a:off x="8549640" y="4398264"/>
            <a:ext cx="3035808" cy="1088136"/>
          </a:xfrm>
          <a:prstGeom prst="roundRect">
            <a:avLst>
              <a:gd name="adj" fmla="val 6000"/>
            </a:avLst>
          </a:prstGeom>
          <a:solidFill>
            <a:srgbClr val="111A2E"/>
          </a:solidFill>
          <a:ln w="8890">
            <a:solidFill>
              <a:srgbClr val="22304F"/>
            </a:solidFill>
            <a:prstDash val="solid"/>
          </a:ln>
        </p:spPr>
      </p:sp>
      <p:sp>
        <p:nvSpPr>
          <p:cNvPr id="24" name="Editable rect"/>
          <p:cNvSpPr/>
          <p:nvPr/>
        </p:nvSpPr>
        <p:spPr>
          <a:xfrm>
            <a:off x="11430000" y="4572000"/>
            <a:ext cx="41148" cy="713232"/>
          </a:xfrm>
          <a:prstGeom prst="rect">
            <a:avLst/>
          </a:prstGeom>
          <a:solidFill>
            <a:srgbClr val="34D399"/>
          </a:solidFill>
          <a:ln w="12700">
            <a:solidFill>
              <a:srgbClr val="34D399">
                <a:alpha val="0"/>
              </a:srgbClr>
            </a:solidFill>
            <a:prstDash val="solid"/>
          </a:ln>
        </p:spPr>
      </p:sp>
      <p:sp>
        <p:nvSpPr>
          <p:cNvPr id="25" name="Editable text: ریت تماس QC"/>
          <p:cNvSpPr/>
          <p:nvPr/>
        </p:nvSpPr>
        <p:spPr>
          <a:xfrm>
            <a:off x="8723376" y="4590288"/>
            <a:ext cx="247802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34D399"/>
                </a:solidFill>
                <a:latin typeface="Vazirmatn" pitchFamily="34" charset="0"/>
                <a:ea typeface="Vazirmatn" pitchFamily="34" charset="-122"/>
                <a:cs typeface="Vazirmatn" pitchFamily="34" charset="-120"/>
              </a:rPr>
              <a:t>ریت تماس QC</a:t>
            </a:r>
            <a:endParaRPr lang="fa-IR" sz="1800" dirty="0"/>
          </a:p>
        </p:txBody>
      </p:sp>
      <p:sp>
        <p:nvSpPr>
          <p:cNvPr id="26" name="Editable text: ورود فایل و معیارهای مکالمه"/>
          <p:cNvSpPr/>
          <p:nvPr/>
        </p:nvSpPr>
        <p:spPr>
          <a:xfrm>
            <a:off x="8723376" y="5029200"/>
            <a:ext cx="2478024" cy="283464"/>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ورود فایل و معیارهای مکالمه</a:t>
            </a:r>
            <a:endParaRPr lang="fa-IR" sz="1380" dirty="0"/>
          </a:p>
        </p:txBody>
      </p:sp>
      <p:sp>
        <p:nvSpPr>
          <p:cNvPr id="27" name="Editable roundRect"/>
          <p:cNvSpPr/>
          <p:nvPr/>
        </p:nvSpPr>
        <p:spPr>
          <a:xfrm>
            <a:off x="594360" y="1783080"/>
            <a:ext cx="3035808" cy="1088136"/>
          </a:xfrm>
          <a:prstGeom prst="roundRect">
            <a:avLst>
              <a:gd name="adj" fmla="val 6000"/>
            </a:avLst>
          </a:prstGeom>
          <a:solidFill>
            <a:srgbClr val="111A2E"/>
          </a:solidFill>
          <a:ln w="8890">
            <a:solidFill>
              <a:srgbClr val="22304F"/>
            </a:solidFill>
            <a:prstDash val="solid"/>
          </a:ln>
        </p:spPr>
      </p:sp>
      <p:sp>
        <p:nvSpPr>
          <p:cNvPr id="28" name="Editable rect"/>
          <p:cNvSpPr/>
          <p:nvPr/>
        </p:nvSpPr>
        <p:spPr>
          <a:xfrm>
            <a:off x="3474720" y="1956816"/>
            <a:ext cx="41148" cy="713232"/>
          </a:xfrm>
          <a:prstGeom prst="rect">
            <a:avLst/>
          </a:prstGeom>
          <a:solidFill>
            <a:srgbClr val="38BDF8"/>
          </a:solidFill>
          <a:ln w="12700">
            <a:solidFill>
              <a:srgbClr val="38BDF8">
                <a:alpha val="0"/>
              </a:srgbClr>
            </a:solidFill>
            <a:prstDash val="solid"/>
          </a:ln>
        </p:spPr>
      </p:sp>
      <p:sp>
        <p:nvSpPr>
          <p:cNvPr id="29" name="Editable text: گزارش مدیریتی"/>
          <p:cNvSpPr/>
          <p:nvPr/>
        </p:nvSpPr>
        <p:spPr>
          <a:xfrm>
            <a:off x="768096" y="1975104"/>
            <a:ext cx="247802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38BDF8"/>
                </a:solidFill>
                <a:latin typeface="Vazirmatn" pitchFamily="34" charset="0"/>
                <a:ea typeface="Vazirmatn" pitchFamily="34" charset="-122"/>
                <a:cs typeface="Vazirmatn" pitchFamily="34" charset="-120"/>
              </a:rPr>
              <a:t>گزارش مدیریتی</a:t>
            </a:r>
            <a:endParaRPr lang="fa-IR" sz="1800" dirty="0"/>
          </a:p>
        </p:txBody>
      </p:sp>
      <p:sp>
        <p:nvSpPr>
          <p:cNvPr id="30" name="Editable text: مقایسه کارشناس، تیم و منابع"/>
          <p:cNvSpPr/>
          <p:nvPr/>
        </p:nvSpPr>
        <p:spPr>
          <a:xfrm>
            <a:off x="768096" y="2414016"/>
            <a:ext cx="2478024" cy="283464"/>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مقایسه کارشناس، تیم و منابع</a:t>
            </a:r>
            <a:endParaRPr lang="fa-IR" sz="1380" dirty="0"/>
          </a:p>
        </p:txBody>
      </p:sp>
      <p:sp>
        <p:nvSpPr>
          <p:cNvPr id="31" name="Editable roundRect"/>
          <p:cNvSpPr/>
          <p:nvPr/>
        </p:nvSpPr>
        <p:spPr>
          <a:xfrm>
            <a:off x="594360" y="3090672"/>
            <a:ext cx="3035808" cy="1088136"/>
          </a:xfrm>
          <a:prstGeom prst="roundRect">
            <a:avLst>
              <a:gd name="adj" fmla="val 6000"/>
            </a:avLst>
          </a:prstGeom>
          <a:solidFill>
            <a:srgbClr val="111A2E"/>
          </a:solidFill>
          <a:ln w="8890">
            <a:solidFill>
              <a:srgbClr val="22304F"/>
            </a:solidFill>
            <a:prstDash val="solid"/>
          </a:ln>
        </p:spPr>
      </p:sp>
      <p:sp>
        <p:nvSpPr>
          <p:cNvPr id="32" name="Editable rect"/>
          <p:cNvSpPr/>
          <p:nvPr/>
        </p:nvSpPr>
        <p:spPr>
          <a:xfrm>
            <a:off x="3474720" y="3264408"/>
            <a:ext cx="41148" cy="713232"/>
          </a:xfrm>
          <a:prstGeom prst="rect">
            <a:avLst/>
          </a:prstGeom>
          <a:solidFill>
            <a:srgbClr val="A78BFA"/>
          </a:solidFill>
          <a:ln w="12700">
            <a:solidFill>
              <a:srgbClr val="A78BFA">
                <a:alpha val="0"/>
              </a:srgbClr>
            </a:solidFill>
            <a:prstDash val="solid"/>
          </a:ln>
        </p:spPr>
      </p:sp>
      <p:sp>
        <p:nvSpPr>
          <p:cNvPr id="33" name="Editable text: پرونده فردی"/>
          <p:cNvSpPr/>
          <p:nvPr/>
        </p:nvSpPr>
        <p:spPr>
          <a:xfrm>
            <a:off x="768096" y="3282696"/>
            <a:ext cx="247802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A78BFA"/>
                </a:solidFill>
                <a:latin typeface="Vazirmatn" pitchFamily="34" charset="0"/>
                <a:ea typeface="Vazirmatn" pitchFamily="34" charset="-122"/>
                <a:cs typeface="Vazirmatn" pitchFamily="34" charset="-120"/>
              </a:rPr>
              <a:t>پرونده فردی</a:t>
            </a:r>
            <a:endParaRPr lang="fa-IR" sz="1800" dirty="0"/>
          </a:p>
        </p:txBody>
      </p:sp>
      <p:sp>
        <p:nvSpPr>
          <p:cNvPr id="34" name="Editable text: سوابق، معیارها و ردلاین"/>
          <p:cNvSpPr/>
          <p:nvPr/>
        </p:nvSpPr>
        <p:spPr>
          <a:xfrm>
            <a:off x="768096" y="3721608"/>
            <a:ext cx="2478024" cy="283464"/>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سوابق، معیارها و ردلاین</a:t>
            </a:r>
            <a:endParaRPr lang="fa-IR" sz="1380" dirty="0"/>
          </a:p>
        </p:txBody>
      </p:sp>
      <p:sp>
        <p:nvSpPr>
          <p:cNvPr id="35" name="Editable roundRect"/>
          <p:cNvSpPr/>
          <p:nvPr/>
        </p:nvSpPr>
        <p:spPr>
          <a:xfrm>
            <a:off x="594360" y="4398264"/>
            <a:ext cx="3035808" cy="1088136"/>
          </a:xfrm>
          <a:prstGeom prst="roundRect">
            <a:avLst>
              <a:gd name="adj" fmla="val 6000"/>
            </a:avLst>
          </a:prstGeom>
          <a:solidFill>
            <a:srgbClr val="111A2E"/>
          </a:solidFill>
          <a:ln w="8890">
            <a:solidFill>
              <a:srgbClr val="22304F"/>
            </a:solidFill>
            <a:prstDash val="solid"/>
          </a:ln>
        </p:spPr>
      </p:sp>
      <p:sp>
        <p:nvSpPr>
          <p:cNvPr id="36" name="Editable rect"/>
          <p:cNvSpPr/>
          <p:nvPr/>
        </p:nvSpPr>
        <p:spPr>
          <a:xfrm>
            <a:off x="3474720" y="4572000"/>
            <a:ext cx="41148" cy="713232"/>
          </a:xfrm>
          <a:prstGeom prst="rect">
            <a:avLst/>
          </a:prstGeom>
          <a:solidFill>
            <a:srgbClr val="34D399"/>
          </a:solidFill>
          <a:ln w="12700">
            <a:solidFill>
              <a:srgbClr val="34D399">
                <a:alpha val="0"/>
              </a:srgbClr>
            </a:solidFill>
            <a:prstDash val="solid"/>
          </a:ln>
        </p:spPr>
      </p:sp>
      <p:sp>
        <p:nvSpPr>
          <p:cNvPr id="37" name="Editable text: اقدام اصلاحی"/>
          <p:cNvSpPr/>
          <p:nvPr/>
        </p:nvSpPr>
        <p:spPr>
          <a:xfrm>
            <a:off x="768096" y="4590288"/>
            <a:ext cx="247802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34D399"/>
                </a:solidFill>
                <a:latin typeface="Vazirmatn" pitchFamily="34" charset="0"/>
                <a:ea typeface="Vazirmatn" pitchFamily="34" charset="-122"/>
                <a:cs typeface="Vazirmatn" pitchFamily="34" charset="-120"/>
              </a:rPr>
              <a:t>اقدام اصلاحی</a:t>
            </a:r>
            <a:endParaRPr lang="fa-IR" sz="1800" dirty="0"/>
          </a:p>
        </p:txBody>
      </p:sp>
      <p:sp>
        <p:nvSpPr>
          <p:cNvPr id="38" name="Editable text: توافق آموزشی و پیگیری اجرا"/>
          <p:cNvSpPr/>
          <p:nvPr/>
        </p:nvSpPr>
        <p:spPr>
          <a:xfrm>
            <a:off x="768096" y="5029200"/>
            <a:ext cx="2478024" cy="283464"/>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توافق آموزشی و پیگیری اجرا</a:t>
            </a:r>
            <a:endParaRPr lang="fa-IR" sz="1380" dirty="0"/>
          </a:p>
        </p:txBody>
      </p:sp>
      <p:sp>
        <p:nvSpPr>
          <p:cNvPr id="39" name="Editable roundRect"/>
          <p:cNvSpPr/>
          <p:nvPr/>
        </p:nvSpPr>
        <p:spPr>
          <a:xfrm>
            <a:off x="4270248" y="2011680"/>
            <a:ext cx="3639312" cy="3493008"/>
          </a:xfrm>
          <a:prstGeom prst="roundRect">
            <a:avLst>
              <a:gd name="adj" fmla="val 6000"/>
            </a:avLst>
          </a:prstGeom>
          <a:solidFill>
            <a:srgbClr val="16223C"/>
          </a:solidFill>
          <a:ln w="8890">
            <a:solidFill>
              <a:srgbClr val="38BDF8"/>
            </a:solidFill>
            <a:prstDash val="solid"/>
          </a:ln>
        </p:spPr>
      </p:sp>
      <p:pic>
        <p:nvPicPr>
          <p:cNvPr id="40" name="Screenshot / image: logo.png" descr="لوگوی سامانه">    </p:cNvPr>
          <p:cNvPicPr>
            <a:picLocks noChangeAspect="1"/>
          </p:cNvPicPr>
          <p:nvPr/>
        </p:nvPicPr>
        <p:blipFill>
          <a:blip r:embed="rId3"/>
          <a:stretch>
            <a:fillRect/>
          </a:stretch>
        </p:blipFill>
        <p:spPr>
          <a:xfrm>
            <a:off x="5669280" y="2386584"/>
            <a:ext cx="841248" cy="841248"/>
          </a:xfrm>
          <a:prstGeom prst="rect">
            <a:avLst/>
          </a:prstGeom>
        </p:spPr>
      </p:pic>
      <p:sp>
        <p:nvSpPr>
          <p:cNvPr id="41" name="Editable text: سامانه یکپارچه کنترل کیفیت"/>
          <p:cNvSpPr/>
          <p:nvPr/>
        </p:nvSpPr>
        <p:spPr>
          <a:xfrm>
            <a:off x="4572000" y="3483864"/>
            <a:ext cx="3035808" cy="795528"/>
          </a:xfrm>
          <a:prstGeom prst="rect">
            <a:avLst/>
          </a:prstGeom>
          <a:noFill/>
          <a:ln/>
        </p:spPr>
        <p:txBody>
          <a:bodyPr wrap="square" lIns="0" tIns="0" rIns="0" bIns="0" rtlCol="0" anchor="t"/>
          <a:lstStyle/>
          <a:p>
            <a:pPr rtl="1" algn="ctr" indent="0" marL="0">
              <a:lnSpc>
                <a:spcPct val="113000"/>
              </a:lnSpc>
              <a:buNone/>
            </a:pPr>
            <a:r>
              <a:rPr lang="fa-IR" altLang="en-US" sz="2400" b="1" dirty="0">
                <a:solidFill>
                  <a:srgbClr val="F1F5F9"/>
                </a:solidFill>
                <a:latin typeface="Vazirmatn" pitchFamily="34" charset="0"/>
                <a:ea typeface="Vazirmatn" pitchFamily="34" charset="-122"/>
                <a:cs typeface="Vazirmatn" pitchFamily="34" charset="-120"/>
              </a:rPr>
              <a:t>سامانه یکپارچه</a:t>
            </a:r>
            <a:endParaRPr lang="fa-IR" sz="2400" dirty="0"/>
          </a:p>
          <a:p>
            <a:pPr rtl="1" algn="ctr" indent="0" marL="0">
              <a:lnSpc>
                <a:spcPct val="113000"/>
              </a:lnSpc>
              <a:buNone/>
            </a:pPr>
            <a:r>
              <a:rPr lang="fa-IR" altLang="en-US" sz="2400" b="1" dirty="0">
                <a:solidFill>
                  <a:srgbClr val="F1F5F9"/>
                </a:solidFill>
                <a:latin typeface="Vazirmatn" pitchFamily="34" charset="0"/>
                <a:ea typeface="Vazirmatn" pitchFamily="34" charset="-122"/>
                <a:cs typeface="Vazirmatn" pitchFamily="34" charset="-120"/>
              </a:rPr>
              <a:t>کنترل کیفیت</a:t>
            </a:r>
            <a:endParaRPr lang="fa-IR" sz="2400" dirty="0"/>
          </a:p>
        </p:txBody>
      </p:sp>
      <p:sp>
        <p:nvSpPr>
          <p:cNvPr id="42" name="Editable text: بازه مشترک تاریخ بررسی"/>
          <p:cNvSpPr/>
          <p:nvPr/>
        </p:nvSpPr>
        <p:spPr>
          <a:xfrm>
            <a:off x="4572000" y="4489704"/>
            <a:ext cx="3035808" cy="283464"/>
          </a:xfrm>
          <a:prstGeom prst="rect">
            <a:avLst/>
          </a:prstGeom>
          <a:noFill/>
          <a:ln/>
        </p:spPr>
        <p:txBody>
          <a:bodyPr wrap="square" lIns="0" tIns="0" rIns="0" bIns="0" rtlCol="0" anchor="t"/>
          <a:lstStyle/>
          <a:p>
            <a:pPr rtl="1" algn="ct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بازه مشترک تاریخ بررسی</a:t>
            </a:r>
            <a:endParaRPr lang="fa-IR" sz="1450" dirty="0"/>
          </a:p>
        </p:txBody>
      </p:sp>
      <p:sp>
        <p:nvSpPr>
          <p:cNvPr id="43" name="Editable text: داده محفوظ • نتیجه قابل پیگیری"/>
          <p:cNvSpPr/>
          <p:nvPr/>
        </p:nvSpPr>
        <p:spPr>
          <a:xfrm>
            <a:off x="4526280" y="4992624"/>
            <a:ext cx="3127248" cy="228600"/>
          </a:xfrm>
          <a:prstGeom prst="rect">
            <a:avLst/>
          </a:prstGeom>
          <a:noFill/>
          <a:ln/>
        </p:spPr>
        <p:txBody>
          <a:bodyPr wrap="square" lIns="0" tIns="0" rIns="0" bIns="0" rtlCol="0" anchor="t"/>
          <a:lstStyle/>
          <a:p>
            <a:pPr rtl="1" algn="ctr" indent="0" marL="0">
              <a:lnSpc>
                <a:spcPct val="113000"/>
              </a:lnSpc>
              <a:buNone/>
            </a:pPr>
            <a:r>
              <a:rPr lang="fa-IR" altLang="en-US" sz="1230" dirty="0">
                <a:solidFill>
                  <a:srgbClr val="8EA0BD"/>
                </a:solidFill>
                <a:latin typeface="Vazirmatn" pitchFamily="34" charset="0"/>
                <a:ea typeface="Vazirmatn" pitchFamily="34" charset="-122"/>
                <a:cs typeface="Vazirmatn" pitchFamily="34" charset="-120"/>
              </a:rPr>
              <a:t>داده محفوظ • نتیجه قابل پیگیری</a:t>
            </a:r>
            <a:endParaRPr lang="fa-IR" sz="1230" dirty="0"/>
          </a:p>
        </p:txBody>
      </p:sp>
      <p:sp>
        <p:nvSpPr>
          <p:cNvPr id="44" name="Editable leftArrow"/>
          <p:cNvSpPr/>
          <p:nvPr/>
        </p:nvSpPr>
        <p:spPr>
          <a:xfrm>
            <a:off x="8092440" y="3374136"/>
            <a:ext cx="256032" cy="356616"/>
          </a:xfrm>
          <a:prstGeom prst="leftArrow">
            <a:avLst/>
          </a:prstGeom>
          <a:solidFill>
            <a:srgbClr val="38BDF8"/>
          </a:solidFill>
          <a:ln w="12700">
            <a:solidFill>
              <a:srgbClr val="38BDF8">
                <a:alpha val="0"/>
              </a:srgbClr>
            </a:solidFill>
            <a:prstDash val="solid"/>
          </a:ln>
        </p:spPr>
      </p:sp>
      <p:sp>
        <p:nvSpPr>
          <p:cNvPr id="45" name="Editable leftArrow"/>
          <p:cNvSpPr/>
          <p:nvPr/>
        </p:nvSpPr>
        <p:spPr>
          <a:xfrm>
            <a:off x="3831336" y="3374136"/>
            <a:ext cx="256032" cy="356616"/>
          </a:xfrm>
          <a:prstGeom prst="leftArrow">
            <a:avLst/>
          </a:prstGeom>
          <a:solidFill>
            <a:srgbClr val="38BDF8"/>
          </a:solidFill>
          <a:ln w="12700">
            <a:solidFill>
              <a:srgbClr val="38BDF8">
                <a:alpha val="0"/>
              </a:srgbClr>
            </a:solidFill>
            <a:prstDash val="solid"/>
          </a:ln>
        </p:spPr>
      </p:sp>
      <p:sp>
        <p:nvSpPr>
          <p:cNvPr id="46" name="Editable roundRect"/>
          <p:cNvSpPr/>
          <p:nvPr/>
        </p:nvSpPr>
        <p:spPr>
          <a:xfrm>
            <a:off x="594360" y="5934456"/>
            <a:ext cx="10991088" cy="420624"/>
          </a:xfrm>
          <a:prstGeom prst="roundRect">
            <a:avLst>
              <a:gd name="adj" fmla="val 6000"/>
            </a:avLst>
          </a:prstGeom>
          <a:solidFill>
            <a:srgbClr val="342C18"/>
          </a:solidFill>
          <a:ln w="12700">
            <a:solidFill>
              <a:srgbClr val="342C18">
                <a:alpha val="0"/>
              </a:srgbClr>
            </a:solidFill>
            <a:prstDash val="solid"/>
          </a:ln>
        </p:spPr>
      </p:sp>
      <p:sp>
        <p:nvSpPr>
          <p:cNvPr id="47" name="Editable text: گزارش تماس عملیاتی، ابزار مستقل با داده جداست؛ نمره کیفیت مکالمه "/>
          <p:cNvSpPr/>
          <p:nvPr/>
        </p:nvSpPr>
        <p:spPr>
          <a:xfrm>
            <a:off x="786384" y="6025896"/>
            <a:ext cx="10616184" cy="232918"/>
          </a:xfrm>
          <a:prstGeom prst="rect">
            <a:avLst/>
          </a:prstGeom>
          <a:noFill/>
          <a:ln/>
        </p:spPr>
        <p:txBody>
          <a:bodyPr wrap="square" lIns="0" tIns="0" rIns="0" bIns="0" rtlCol="0" anchor="t"/>
          <a:lstStyle/>
          <a:p>
            <a:pPr rtl="1" algn="ctr" indent="0" marL="0">
              <a:lnSpc>
                <a:spcPct val="113000"/>
              </a:lnSpc>
              <a:buNone/>
            </a:pPr>
            <a:r>
              <a:rPr lang="fa-IR" altLang="en-US" sz="1310" dirty="0">
                <a:solidFill>
                  <a:srgbClr val="FBBF24"/>
                </a:solidFill>
                <a:latin typeface="Vazirmatn" pitchFamily="34" charset="0"/>
                <a:ea typeface="Vazirmatn" pitchFamily="34" charset="-122"/>
                <a:cs typeface="Vazirmatn" pitchFamily="34" charset="-120"/>
              </a:rPr>
              <a:t>گزارش تماس عملیاتی، ابزار مستقل با داده جداست؛ نمره کیفیت مکالمه نیست.</a:t>
            </a:r>
            <a:endParaRPr lang="fa-IR" sz="13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راهنمای ناوبری"/>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راهنمای ناوبری</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نقشه بخش‌های سامانه"/>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نقشه بخش‌های سامانه</a:t>
            </a:r>
            <a:endParaRPr lang="fa-IR" sz="2800" dirty="0"/>
          </a:p>
        </p:txBody>
      </p:sp>
      <p:sp>
        <p:nvSpPr>
          <p:cNvPr id="9" name="Editable text: برای رفتن به توضیح هر بخش، روی کارت آن کلیک کنید."/>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برای رفتن به توضیح هر بخش، روی کارت آن کلیک کنید.</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۳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۳ / ۳۱</a:t>
            </a:r>
            <a:endParaRPr lang="fa-IR" sz="1000" dirty="0"/>
          </a:p>
        </p:txBody>
      </p:sp>
      <p:sp>
        <p:nvSpPr>
          <p:cNvPr id="14" name="Editable rect"/>
          <p:cNvSpPr/>
          <p:nvPr/>
        </p:nvSpPr>
        <p:spPr>
          <a:xfrm>
            <a:off x="502920" y="6830568"/>
            <a:ext cx="1083122" cy="22860"/>
          </a:xfrm>
          <a:prstGeom prst="rect">
            <a:avLst/>
          </a:prstGeom>
          <a:solidFill>
            <a:srgbClr val="38BDF8"/>
          </a:solidFill>
          <a:ln w="12700">
            <a:solidFill>
              <a:srgbClr val="38BDF8">
                <a:alpha val="0"/>
              </a:srgbClr>
            </a:solidFill>
            <a:prstDash val="solid"/>
          </a:ln>
        </p:spPr>
      </p:sp>
      <p:sp>
        <p:nvSpPr>
          <p:cNvPr id="15" name="Editable roundRect">
            <a:hlinkClick r:id="rId3" tooltip="توضیح داشبورد" action="ppaction://hlinksldjump"/>
          </p:cNvPr>
          <p:cNvSpPr/>
          <p:nvPr/>
        </p:nvSpPr>
        <p:spPr>
          <a:xfrm>
            <a:off x="5102352" y="1810512"/>
            <a:ext cx="4096512" cy="612648"/>
          </a:xfrm>
          <a:prstGeom prst="roundRect">
            <a:avLst>
              <a:gd name="adj" fmla="val 6000"/>
            </a:avLst>
          </a:prstGeom>
          <a:solidFill>
            <a:srgbClr val="111A2E"/>
          </a:solidFill>
          <a:ln w="8890">
            <a:solidFill>
              <a:srgbClr val="22304F"/>
            </a:solidFill>
            <a:prstDash val="solid"/>
          </a:ln>
        </p:spPr>
      </p:sp>
      <p:sp>
        <p:nvSpPr>
          <p:cNvPr id="16" name="Editable text: داشبورد">
            <a:hlinkClick r:id="rId4" tooltip="" action="ppaction://hlinksldjump"/>
          </p:cNvPr>
          <p:cNvSpPr/>
          <p:nvPr/>
        </p:nvSpPr>
        <p:spPr>
          <a:xfrm>
            <a:off x="5266944" y="1901952"/>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4" action="ppaction://hlinksldjump" tooltip="">
                  <a:extLst>
                    <a:ext uri="{A12FA001-AC4F-418D-AE19-62706E023703}">
                      <ahyp:hlinkClr xmlns:ahyp="http://schemas.microsoft.com/office/drawing/2018/hyperlinkcolor" val="tx"/>
                    </a:ext>
                  </a:extLst>
                </a:hlinkClick>
              </a:rPr>
              <a:t>داشبورد</a:t>
            </a:r>
            <a:endParaRPr lang="fa-IR" sz="1580" dirty="0"/>
          </a:p>
        </p:txBody>
      </p:sp>
      <p:sp>
        <p:nvSpPr>
          <p:cNvPr id="17" name="Editable text: خلاصه عملکرد"/>
          <p:cNvSpPr/>
          <p:nvPr/>
        </p:nvSpPr>
        <p:spPr>
          <a:xfrm>
            <a:off x="5266944" y="2203704"/>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خلاصه عملکرد</a:t>
            </a:r>
            <a:endParaRPr lang="fa-IR" sz="1040" dirty="0"/>
          </a:p>
        </p:txBody>
      </p:sp>
      <p:sp>
        <p:nvSpPr>
          <p:cNvPr id="18" name="Editable text: ←"/>
          <p:cNvSpPr/>
          <p:nvPr/>
        </p:nvSpPr>
        <p:spPr>
          <a:xfrm>
            <a:off x="5239512" y="1938528"/>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19" name="Editable roundRect">
            <a:hlinkClick r:id="rId5" tooltip="توضیح ارزیابی تیکت" action="ppaction://hlinksldjump"/>
          </p:cNvPr>
          <p:cNvSpPr/>
          <p:nvPr/>
        </p:nvSpPr>
        <p:spPr>
          <a:xfrm>
            <a:off x="594360" y="1810512"/>
            <a:ext cx="4096512" cy="612648"/>
          </a:xfrm>
          <a:prstGeom prst="roundRect">
            <a:avLst>
              <a:gd name="adj" fmla="val 6000"/>
            </a:avLst>
          </a:prstGeom>
          <a:solidFill>
            <a:srgbClr val="111A2E"/>
          </a:solidFill>
          <a:ln w="8890">
            <a:solidFill>
              <a:srgbClr val="22304F"/>
            </a:solidFill>
            <a:prstDash val="solid"/>
          </a:ln>
        </p:spPr>
      </p:sp>
      <p:sp>
        <p:nvSpPr>
          <p:cNvPr id="20" name="Editable text: ارزیابی تیکت">
            <a:hlinkClick r:id="rId6" tooltip="" action="ppaction://hlinksldjump"/>
          </p:cNvPr>
          <p:cNvSpPr/>
          <p:nvPr/>
        </p:nvSpPr>
        <p:spPr>
          <a:xfrm>
            <a:off x="758952" y="1901952"/>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6" action="ppaction://hlinksldjump" tooltip="">
                  <a:extLst>
                    <a:ext uri="{A12FA001-AC4F-418D-AE19-62706E023703}">
                      <ahyp:hlinkClr xmlns:ahyp="http://schemas.microsoft.com/office/drawing/2018/hyperlinkcolor" val="tx"/>
                    </a:ext>
                  </a:extLst>
                </a:hlinkClick>
              </a:rPr>
              <a:t>ارزیابی تیکت</a:t>
            </a:r>
            <a:endParaRPr lang="fa-IR" sz="1580" dirty="0"/>
          </a:p>
        </p:txBody>
      </p:sp>
      <p:sp>
        <p:nvSpPr>
          <p:cNvPr id="21" name="Editable text: ثبت و سوابق رسیدگی"/>
          <p:cNvSpPr/>
          <p:nvPr/>
        </p:nvSpPr>
        <p:spPr>
          <a:xfrm>
            <a:off x="758952" y="2203704"/>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ثبت و سوابق رسیدگی</a:t>
            </a:r>
            <a:endParaRPr lang="fa-IR" sz="1040" dirty="0"/>
          </a:p>
        </p:txBody>
      </p:sp>
      <p:sp>
        <p:nvSpPr>
          <p:cNvPr id="22" name="Editable text: ←"/>
          <p:cNvSpPr/>
          <p:nvPr/>
        </p:nvSpPr>
        <p:spPr>
          <a:xfrm>
            <a:off x="731520" y="1938528"/>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23" name="Editable roundRect">
            <a:hlinkClick r:id="rId7" tooltip="توضیح ارزیابی سوشال" action="ppaction://hlinksldjump"/>
          </p:cNvPr>
          <p:cNvSpPr/>
          <p:nvPr/>
        </p:nvSpPr>
        <p:spPr>
          <a:xfrm>
            <a:off x="5102352" y="2551176"/>
            <a:ext cx="4096512" cy="612648"/>
          </a:xfrm>
          <a:prstGeom prst="roundRect">
            <a:avLst>
              <a:gd name="adj" fmla="val 6000"/>
            </a:avLst>
          </a:prstGeom>
          <a:solidFill>
            <a:srgbClr val="111A2E"/>
          </a:solidFill>
          <a:ln w="8890">
            <a:solidFill>
              <a:srgbClr val="22304F"/>
            </a:solidFill>
            <a:prstDash val="solid"/>
          </a:ln>
        </p:spPr>
      </p:sp>
      <p:sp>
        <p:nvSpPr>
          <p:cNvPr id="24" name="Editable text: ارزیابی سوشال">
            <a:hlinkClick r:id="rId8" tooltip="" action="ppaction://hlinksldjump"/>
          </p:cNvPr>
          <p:cNvSpPr/>
          <p:nvPr/>
        </p:nvSpPr>
        <p:spPr>
          <a:xfrm>
            <a:off x="5266944" y="2642616"/>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8" action="ppaction://hlinksldjump" tooltip="">
                  <a:extLst>
                    <a:ext uri="{A12FA001-AC4F-418D-AE19-62706E023703}">
                      <ahyp:hlinkClr xmlns:ahyp="http://schemas.microsoft.com/office/drawing/2018/hyperlinkcolor" val="tx"/>
                    </a:ext>
                  </a:extLst>
                </a:hlinkClick>
              </a:rPr>
              <a:t>ارزیابی سوشال</a:t>
            </a:r>
            <a:endParaRPr lang="fa-IR" sz="1580" dirty="0"/>
          </a:p>
        </p:txBody>
      </p:sp>
      <p:sp>
        <p:nvSpPr>
          <p:cNvPr id="25" name="Editable text: کیفیت و SLA"/>
          <p:cNvSpPr/>
          <p:nvPr/>
        </p:nvSpPr>
        <p:spPr>
          <a:xfrm>
            <a:off x="5266944" y="2944368"/>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کیفیت و SLA</a:t>
            </a:r>
            <a:endParaRPr lang="fa-IR" sz="1040" dirty="0"/>
          </a:p>
        </p:txBody>
      </p:sp>
      <p:sp>
        <p:nvSpPr>
          <p:cNvPr id="26" name="Editable text: ←"/>
          <p:cNvSpPr/>
          <p:nvPr/>
        </p:nvSpPr>
        <p:spPr>
          <a:xfrm>
            <a:off x="5239512" y="2679192"/>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27" name="Editable roundRect">
            <a:hlinkClick r:id="rId9" tooltip="توضیح گزارش‌ها" action="ppaction://hlinksldjump"/>
          </p:cNvPr>
          <p:cNvSpPr/>
          <p:nvPr/>
        </p:nvSpPr>
        <p:spPr>
          <a:xfrm>
            <a:off x="594360" y="2551176"/>
            <a:ext cx="4096512" cy="612648"/>
          </a:xfrm>
          <a:prstGeom prst="roundRect">
            <a:avLst>
              <a:gd name="adj" fmla="val 6000"/>
            </a:avLst>
          </a:prstGeom>
          <a:solidFill>
            <a:srgbClr val="111A2E"/>
          </a:solidFill>
          <a:ln w="8890">
            <a:solidFill>
              <a:srgbClr val="22304F"/>
            </a:solidFill>
            <a:prstDash val="solid"/>
          </a:ln>
        </p:spPr>
      </p:sp>
      <p:sp>
        <p:nvSpPr>
          <p:cNvPr id="28" name="Editable text: گزارش‌ها">
            <a:hlinkClick r:id="rId10" tooltip="" action="ppaction://hlinksldjump"/>
          </p:cNvPr>
          <p:cNvSpPr/>
          <p:nvPr/>
        </p:nvSpPr>
        <p:spPr>
          <a:xfrm>
            <a:off x="758952" y="2642616"/>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10" action="ppaction://hlinksldjump" tooltip="">
                  <a:extLst>
                    <a:ext uri="{A12FA001-AC4F-418D-AE19-62706E023703}">
                      <ahyp:hlinkClr xmlns:ahyp="http://schemas.microsoft.com/office/drawing/2018/hyperlinkcolor" val="tx"/>
                    </a:ext>
                  </a:extLst>
                </a:hlinkClick>
              </a:rPr>
              <a:t>گزارش‌ها</a:t>
            </a:r>
            <a:endParaRPr lang="fa-IR" sz="1580" dirty="0"/>
          </a:p>
        </p:txBody>
      </p:sp>
      <p:sp>
        <p:nvSpPr>
          <p:cNvPr id="29" name="Editable text: مقایسه و خروجی"/>
          <p:cNvSpPr/>
          <p:nvPr/>
        </p:nvSpPr>
        <p:spPr>
          <a:xfrm>
            <a:off x="758952" y="2944368"/>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مقایسه و خروجی</a:t>
            </a:r>
            <a:endParaRPr lang="fa-IR" sz="1040" dirty="0"/>
          </a:p>
        </p:txBody>
      </p:sp>
      <p:sp>
        <p:nvSpPr>
          <p:cNvPr id="30" name="Editable text: ←"/>
          <p:cNvSpPr/>
          <p:nvPr/>
        </p:nvSpPr>
        <p:spPr>
          <a:xfrm>
            <a:off x="731520" y="2679192"/>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31" name="Editable roundRect">
            <a:hlinkClick r:id="rId11" tooltip="توضیح پرونده کارشناس" action="ppaction://hlinksldjump"/>
          </p:cNvPr>
          <p:cNvSpPr/>
          <p:nvPr/>
        </p:nvSpPr>
        <p:spPr>
          <a:xfrm>
            <a:off x="5102352" y="3291840"/>
            <a:ext cx="4096512" cy="612648"/>
          </a:xfrm>
          <a:prstGeom prst="roundRect">
            <a:avLst>
              <a:gd name="adj" fmla="val 6000"/>
            </a:avLst>
          </a:prstGeom>
          <a:solidFill>
            <a:srgbClr val="111A2E"/>
          </a:solidFill>
          <a:ln w="8890">
            <a:solidFill>
              <a:srgbClr val="22304F"/>
            </a:solidFill>
            <a:prstDash val="solid"/>
          </a:ln>
        </p:spPr>
      </p:sp>
      <p:sp>
        <p:nvSpPr>
          <p:cNvPr id="32" name="Editable text: پرونده کارشناس">
            <a:hlinkClick r:id="rId12" tooltip="" action="ppaction://hlinksldjump"/>
          </p:cNvPr>
          <p:cNvSpPr/>
          <p:nvPr/>
        </p:nvSpPr>
        <p:spPr>
          <a:xfrm>
            <a:off x="5266944" y="3383280"/>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12" action="ppaction://hlinksldjump" tooltip="">
                  <a:extLst>
                    <a:ext uri="{A12FA001-AC4F-418D-AE19-62706E023703}">
                      <ahyp:hlinkClr xmlns:ahyp="http://schemas.microsoft.com/office/drawing/2018/hyperlinkcolor" val="tx"/>
                    </a:ext>
                  </a:extLst>
                </a:hlinkClick>
              </a:rPr>
              <a:t>پرونده کارشناس</a:t>
            </a:r>
            <a:endParaRPr lang="fa-IR" sz="1580" dirty="0"/>
          </a:p>
        </p:txBody>
      </p:sp>
      <p:sp>
        <p:nvSpPr>
          <p:cNvPr id="33" name="Editable text: پروفایل فردی و اقدام"/>
          <p:cNvSpPr/>
          <p:nvPr/>
        </p:nvSpPr>
        <p:spPr>
          <a:xfrm>
            <a:off x="5266944" y="3685032"/>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پروفایل فردی و اقدام</a:t>
            </a:r>
            <a:endParaRPr lang="fa-IR" sz="1040" dirty="0"/>
          </a:p>
        </p:txBody>
      </p:sp>
      <p:sp>
        <p:nvSpPr>
          <p:cNvPr id="34" name="Editable text: ←"/>
          <p:cNvSpPr/>
          <p:nvPr/>
        </p:nvSpPr>
        <p:spPr>
          <a:xfrm>
            <a:off x="5239512" y="3419856"/>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35" name="Editable roundRect">
            <a:hlinkClick r:id="rId13" tooltip="توضیح مرکز داده" action="ppaction://hlinksldjump"/>
          </p:cNvPr>
          <p:cNvSpPr/>
          <p:nvPr/>
        </p:nvSpPr>
        <p:spPr>
          <a:xfrm>
            <a:off x="594360" y="3291840"/>
            <a:ext cx="4096512" cy="612648"/>
          </a:xfrm>
          <a:prstGeom prst="roundRect">
            <a:avLst>
              <a:gd name="adj" fmla="val 6000"/>
            </a:avLst>
          </a:prstGeom>
          <a:solidFill>
            <a:srgbClr val="111A2E"/>
          </a:solidFill>
          <a:ln w="8890">
            <a:solidFill>
              <a:srgbClr val="22304F"/>
            </a:solidFill>
            <a:prstDash val="solid"/>
          </a:ln>
        </p:spPr>
      </p:sp>
      <p:sp>
        <p:nvSpPr>
          <p:cNvPr id="36" name="Editable text: مرکز داده">
            <a:hlinkClick r:id="rId14" tooltip="" action="ppaction://hlinksldjump"/>
          </p:cNvPr>
          <p:cNvSpPr/>
          <p:nvPr/>
        </p:nvSpPr>
        <p:spPr>
          <a:xfrm>
            <a:off x="758952" y="3383280"/>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14" action="ppaction://hlinksldjump" tooltip="">
                  <a:extLst>
                    <a:ext uri="{A12FA001-AC4F-418D-AE19-62706E023703}">
                      <ahyp:hlinkClr xmlns:ahyp="http://schemas.microsoft.com/office/drawing/2018/hyperlinkcolor" val="tx"/>
                    </a:ext>
                  </a:extLst>
                </a:hlinkClick>
              </a:rPr>
              <a:t>مرکز داده</a:t>
            </a:r>
            <a:endParaRPr lang="fa-IR" sz="1580" dirty="0"/>
          </a:p>
        </p:txBody>
      </p:sp>
      <p:sp>
        <p:nvSpPr>
          <p:cNvPr id="37" name="Editable text: ورود، آرشیو و بازیابی"/>
          <p:cNvSpPr/>
          <p:nvPr/>
        </p:nvSpPr>
        <p:spPr>
          <a:xfrm>
            <a:off x="758952" y="3685032"/>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ورود، آرشیو و بازیابی</a:t>
            </a:r>
            <a:endParaRPr lang="fa-IR" sz="1040" dirty="0"/>
          </a:p>
        </p:txBody>
      </p:sp>
      <p:sp>
        <p:nvSpPr>
          <p:cNvPr id="38" name="Editable text: ←"/>
          <p:cNvSpPr/>
          <p:nvPr/>
        </p:nvSpPr>
        <p:spPr>
          <a:xfrm>
            <a:off x="731520" y="3419856"/>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39" name="Editable roundRect">
            <a:hlinkClick r:id="rId15" tooltip="توضیح تحلیل ریت تماس" action="ppaction://hlinksldjump"/>
          </p:cNvPr>
          <p:cNvSpPr/>
          <p:nvPr/>
        </p:nvSpPr>
        <p:spPr>
          <a:xfrm>
            <a:off x="5102352" y="4032504"/>
            <a:ext cx="4096512" cy="612648"/>
          </a:xfrm>
          <a:prstGeom prst="roundRect">
            <a:avLst>
              <a:gd name="adj" fmla="val 6000"/>
            </a:avLst>
          </a:prstGeom>
          <a:solidFill>
            <a:srgbClr val="111A2E"/>
          </a:solidFill>
          <a:ln w="8890">
            <a:solidFill>
              <a:srgbClr val="22304F"/>
            </a:solidFill>
            <a:prstDash val="solid"/>
          </a:ln>
        </p:spPr>
      </p:sp>
      <p:sp>
        <p:nvSpPr>
          <p:cNvPr id="40" name="Editable text: تحلیل ریت تماس">
            <a:hlinkClick r:id="rId16" tooltip="" action="ppaction://hlinksldjump"/>
          </p:cNvPr>
          <p:cNvSpPr/>
          <p:nvPr/>
        </p:nvSpPr>
        <p:spPr>
          <a:xfrm>
            <a:off x="5266944" y="4123944"/>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16" action="ppaction://hlinksldjump" tooltip="">
                  <a:extLst>
                    <a:ext uri="{A12FA001-AC4F-418D-AE19-62706E023703}">
                      <ahyp:hlinkClr xmlns:ahyp="http://schemas.microsoft.com/office/drawing/2018/hyperlinkcolor" val="tx"/>
                    </a:ext>
                  </a:extLst>
                </a:hlinkClick>
              </a:rPr>
              <a:t>تحلیل ریت تماس</a:t>
            </a:r>
            <a:endParaRPr lang="fa-IR" sz="1580" dirty="0"/>
          </a:p>
        </p:txBody>
      </p:sp>
      <p:sp>
        <p:nvSpPr>
          <p:cNvPr id="41" name="Editable text: روند و ماتریس خطا"/>
          <p:cNvSpPr/>
          <p:nvPr/>
        </p:nvSpPr>
        <p:spPr>
          <a:xfrm>
            <a:off x="5266944" y="4425696"/>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روند و ماتریس خطا</a:t>
            </a:r>
            <a:endParaRPr lang="fa-IR" sz="1040" dirty="0"/>
          </a:p>
        </p:txBody>
      </p:sp>
      <p:sp>
        <p:nvSpPr>
          <p:cNvPr id="42" name="Editable text: ←"/>
          <p:cNvSpPr/>
          <p:nvPr/>
        </p:nvSpPr>
        <p:spPr>
          <a:xfrm>
            <a:off x="5239512" y="4160520"/>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43" name="Editable roundRect">
            <a:hlinkClick r:id="rId17" tooltip="توضیح گزارش تماس" action="ppaction://hlinksldjump"/>
          </p:cNvPr>
          <p:cNvSpPr/>
          <p:nvPr/>
        </p:nvSpPr>
        <p:spPr>
          <a:xfrm>
            <a:off x="594360" y="4032504"/>
            <a:ext cx="4096512" cy="612648"/>
          </a:xfrm>
          <a:prstGeom prst="roundRect">
            <a:avLst>
              <a:gd name="adj" fmla="val 6000"/>
            </a:avLst>
          </a:prstGeom>
          <a:solidFill>
            <a:srgbClr val="111A2E"/>
          </a:solidFill>
          <a:ln w="8890">
            <a:solidFill>
              <a:srgbClr val="22304F"/>
            </a:solidFill>
            <a:prstDash val="solid"/>
          </a:ln>
        </p:spPr>
      </p:sp>
      <p:sp>
        <p:nvSpPr>
          <p:cNvPr id="44" name="Editable text: گزارش تماس">
            <a:hlinkClick r:id="rId18" tooltip="" action="ppaction://hlinksldjump"/>
          </p:cNvPr>
          <p:cNvSpPr/>
          <p:nvPr/>
        </p:nvSpPr>
        <p:spPr>
          <a:xfrm>
            <a:off x="758952" y="4123944"/>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18" action="ppaction://hlinksldjump" tooltip="">
                  <a:extLst>
                    <a:ext uri="{A12FA001-AC4F-418D-AE19-62706E023703}">
                      <ahyp:hlinkClr xmlns:ahyp="http://schemas.microsoft.com/office/drawing/2018/hyperlinkcolor" val="tx"/>
                    </a:ext>
                  </a:extLst>
                </a:hlinkClick>
              </a:rPr>
              <a:t>گزارش تماس</a:t>
            </a:r>
            <a:endParaRPr lang="fa-IR" sz="1580" dirty="0"/>
          </a:p>
        </p:txBody>
      </p:sp>
      <p:sp>
        <p:nvSpPr>
          <p:cNvPr id="45" name="Editable text: آمار عملیاتی مستقل"/>
          <p:cNvSpPr/>
          <p:nvPr/>
        </p:nvSpPr>
        <p:spPr>
          <a:xfrm>
            <a:off x="758952" y="4425696"/>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آمار عملیاتی مستقل</a:t>
            </a:r>
            <a:endParaRPr lang="fa-IR" sz="1040" dirty="0"/>
          </a:p>
        </p:txBody>
      </p:sp>
      <p:sp>
        <p:nvSpPr>
          <p:cNvPr id="46" name="Editable text: ←"/>
          <p:cNvSpPr/>
          <p:nvPr/>
        </p:nvSpPr>
        <p:spPr>
          <a:xfrm>
            <a:off x="731520" y="4160520"/>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47" name="Editable roundRect">
            <a:hlinkClick r:id="rId19" tooltip="توضیح تغییر المان‌ها" action="ppaction://hlinksldjump"/>
          </p:cNvPr>
          <p:cNvSpPr/>
          <p:nvPr/>
        </p:nvSpPr>
        <p:spPr>
          <a:xfrm>
            <a:off x="5102352" y="4773168"/>
            <a:ext cx="4096512" cy="612648"/>
          </a:xfrm>
          <a:prstGeom prst="roundRect">
            <a:avLst>
              <a:gd name="adj" fmla="val 6000"/>
            </a:avLst>
          </a:prstGeom>
          <a:solidFill>
            <a:srgbClr val="111A2E"/>
          </a:solidFill>
          <a:ln w="8890">
            <a:solidFill>
              <a:srgbClr val="22304F"/>
            </a:solidFill>
            <a:prstDash val="solid"/>
          </a:ln>
        </p:spPr>
      </p:sp>
      <p:sp>
        <p:nvSpPr>
          <p:cNvPr id="48" name="Editable text: تغییر المان‌ها">
            <a:hlinkClick r:id="rId20" tooltip="" action="ppaction://hlinksldjump"/>
          </p:cNvPr>
          <p:cNvSpPr/>
          <p:nvPr/>
        </p:nvSpPr>
        <p:spPr>
          <a:xfrm>
            <a:off x="5266944" y="4864608"/>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20" action="ppaction://hlinksldjump" tooltip="">
                  <a:extLst>
                    <a:ext uri="{A12FA001-AC4F-418D-AE19-62706E023703}">
                      <ahyp:hlinkClr xmlns:ahyp="http://schemas.microsoft.com/office/drawing/2018/hyperlinkcolor" val="tx"/>
                    </a:ext>
                  </a:extLst>
                </a:hlinkClick>
              </a:rPr>
              <a:t>تغییر المان‌ها</a:t>
            </a:r>
            <a:endParaRPr lang="fa-IR" sz="1580" dirty="0"/>
          </a:p>
        </p:txBody>
      </p:sp>
      <p:sp>
        <p:nvSpPr>
          <p:cNvPr id="49" name="Editable text: معیار و ستون Excel"/>
          <p:cNvSpPr/>
          <p:nvPr/>
        </p:nvSpPr>
        <p:spPr>
          <a:xfrm>
            <a:off x="5266944" y="5166360"/>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معیار و ستون Excel</a:t>
            </a:r>
            <a:endParaRPr lang="fa-IR" sz="1040" dirty="0"/>
          </a:p>
        </p:txBody>
      </p:sp>
      <p:sp>
        <p:nvSpPr>
          <p:cNvPr id="50" name="Editable text: ←"/>
          <p:cNvSpPr/>
          <p:nvPr/>
        </p:nvSpPr>
        <p:spPr>
          <a:xfrm>
            <a:off x="5239512" y="4901184"/>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51" name="Editable roundRect">
            <a:hlinkClick r:id="rId21" tooltip="توضیح مدیریت پایه" action="ppaction://hlinksldjump"/>
          </p:cNvPr>
          <p:cNvSpPr/>
          <p:nvPr/>
        </p:nvSpPr>
        <p:spPr>
          <a:xfrm>
            <a:off x="594360" y="4773168"/>
            <a:ext cx="4096512" cy="612648"/>
          </a:xfrm>
          <a:prstGeom prst="roundRect">
            <a:avLst>
              <a:gd name="adj" fmla="val 6000"/>
            </a:avLst>
          </a:prstGeom>
          <a:solidFill>
            <a:srgbClr val="111A2E"/>
          </a:solidFill>
          <a:ln w="8890">
            <a:solidFill>
              <a:srgbClr val="22304F"/>
            </a:solidFill>
            <a:prstDash val="solid"/>
          </a:ln>
        </p:spPr>
      </p:sp>
      <p:sp>
        <p:nvSpPr>
          <p:cNvPr id="52" name="Editable text: مدیریت پایه">
            <a:hlinkClick r:id="rId22" tooltip="" action="ppaction://hlinksldjump"/>
          </p:cNvPr>
          <p:cNvSpPr/>
          <p:nvPr/>
        </p:nvSpPr>
        <p:spPr>
          <a:xfrm>
            <a:off x="758952" y="4864608"/>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22" action="ppaction://hlinksldjump" tooltip="">
                  <a:extLst>
                    <a:ext uri="{A12FA001-AC4F-418D-AE19-62706E023703}">
                      <ahyp:hlinkClr xmlns:ahyp="http://schemas.microsoft.com/office/drawing/2018/hyperlinkcolor" val="tx"/>
                    </a:ext>
                  </a:extLst>
                </a:hlinkClick>
              </a:rPr>
              <a:t>مدیریت پایه</a:t>
            </a:r>
            <a:endParaRPr lang="fa-IR" sz="1580" dirty="0"/>
          </a:p>
        </p:txBody>
      </p:sp>
      <p:sp>
        <p:nvSpPr>
          <p:cNvPr id="53" name="Editable text: قواعد و تنظیمات"/>
          <p:cNvSpPr/>
          <p:nvPr/>
        </p:nvSpPr>
        <p:spPr>
          <a:xfrm>
            <a:off x="758952" y="5166360"/>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قواعد و تنظیمات</a:t>
            </a:r>
            <a:endParaRPr lang="fa-IR" sz="1040" dirty="0"/>
          </a:p>
        </p:txBody>
      </p:sp>
      <p:sp>
        <p:nvSpPr>
          <p:cNvPr id="54" name="Editable text: ←"/>
          <p:cNvSpPr/>
          <p:nvPr/>
        </p:nvSpPr>
        <p:spPr>
          <a:xfrm>
            <a:off x="731520" y="4901184"/>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55" name="Editable roundRect">
            <a:hlinkClick r:id="rId23" tooltip="توضیح مدیریت کارشناسان" action="ppaction://hlinksldjump"/>
          </p:cNvPr>
          <p:cNvSpPr/>
          <p:nvPr/>
        </p:nvSpPr>
        <p:spPr>
          <a:xfrm>
            <a:off x="5102352" y="5513832"/>
            <a:ext cx="4096512" cy="612648"/>
          </a:xfrm>
          <a:prstGeom prst="roundRect">
            <a:avLst>
              <a:gd name="adj" fmla="val 6000"/>
            </a:avLst>
          </a:prstGeom>
          <a:solidFill>
            <a:srgbClr val="111A2E"/>
          </a:solidFill>
          <a:ln w="8890">
            <a:solidFill>
              <a:srgbClr val="22304F"/>
            </a:solidFill>
            <a:prstDash val="solid"/>
          </a:ln>
        </p:spPr>
      </p:sp>
      <p:sp>
        <p:nvSpPr>
          <p:cNvPr id="56" name="Editable text: مدیریت کارشناسان">
            <a:hlinkClick r:id="rId24" tooltip="" action="ppaction://hlinksldjump"/>
          </p:cNvPr>
          <p:cNvSpPr/>
          <p:nvPr/>
        </p:nvSpPr>
        <p:spPr>
          <a:xfrm>
            <a:off x="5266944" y="5605272"/>
            <a:ext cx="3502152" cy="280924"/>
          </a:xfrm>
          <a:prstGeom prst="rect">
            <a:avLst/>
          </a:prstGeom>
          <a:noFill/>
          <a:ln/>
        </p:spPr>
        <p:txBody>
          <a:bodyPr wrap="square" lIns="0" tIns="0" rIns="0" bIns="0" rtlCol="0" anchor="t"/>
          <a:lstStyle/>
          <a:p>
            <a:pPr rtl="1" algn="r" indent="0" marL="0">
              <a:lnSpc>
                <a:spcPct val="113000"/>
              </a:lnSpc>
              <a:buNone/>
            </a:pPr>
            <a:r>
              <a:rPr lang="fa-IR" altLang="en-US" sz="1580" b="1" u="sng" dirty="0">
                <a:solidFill>
                  <a:srgbClr val="F1F5F9"/>
                </a:solidFill>
                <a:latin typeface="Vazirmatn" pitchFamily="34" charset="0"/>
                <a:ea typeface="Vazirmatn" pitchFamily="34" charset="-122"/>
                <a:cs typeface="Vazirmatn" pitchFamily="34" charset="-120"/>
                <a:hlinkClick r:id="rId24" action="ppaction://hlinksldjump" tooltip="">
                  <a:extLst>
                    <a:ext uri="{A12FA001-AC4F-418D-AE19-62706E023703}">
                      <ahyp:hlinkClr xmlns:ahyp="http://schemas.microsoft.com/office/drawing/2018/hyperlinkcolor" val="tx"/>
                    </a:ext>
                  </a:extLst>
                </a:hlinkClick>
              </a:rPr>
              <a:t>مدیریت کارشناسان</a:t>
            </a:r>
            <a:endParaRPr lang="fa-IR" sz="1580" dirty="0"/>
          </a:p>
        </p:txBody>
      </p:sp>
      <p:sp>
        <p:nvSpPr>
          <p:cNvPr id="57" name="Editable text: هویت، تیم و ارزیاب QC"/>
          <p:cNvSpPr/>
          <p:nvPr/>
        </p:nvSpPr>
        <p:spPr>
          <a:xfrm>
            <a:off x="5266944" y="5907024"/>
            <a:ext cx="3502152" cy="192024"/>
          </a:xfrm>
          <a:prstGeom prst="rect">
            <a:avLst/>
          </a:prstGeom>
          <a:noFill/>
          <a:ln/>
        </p:spPr>
        <p:txBody>
          <a:bodyPr wrap="square" lIns="0" tIns="0" rIns="0" bIns="0" rtlCol="0" anchor="t"/>
          <a:lstStyle/>
          <a:p>
            <a:pPr rtl="1" algn="r" indent="0" marL="0">
              <a:lnSpc>
                <a:spcPct val="113000"/>
              </a:lnSpc>
              <a:buNone/>
            </a:pPr>
            <a:r>
              <a:rPr lang="fa-IR" altLang="en-US" sz="1040" dirty="0">
                <a:solidFill>
                  <a:srgbClr val="8EA0BD"/>
                </a:solidFill>
                <a:latin typeface="Vazirmatn" pitchFamily="34" charset="0"/>
                <a:ea typeface="Vazirmatn" pitchFamily="34" charset="-122"/>
                <a:cs typeface="Vazirmatn" pitchFamily="34" charset="-120"/>
              </a:rPr>
              <a:t>هویت، تیم و ارزیاب QC</a:t>
            </a:r>
            <a:endParaRPr lang="fa-IR" sz="1040" dirty="0"/>
          </a:p>
        </p:txBody>
      </p:sp>
      <p:sp>
        <p:nvSpPr>
          <p:cNvPr id="58" name="Editable text: ←"/>
          <p:cNvSpPr/>
          <p:nvPr/>
        </p:nvSpPr>
        <p:spPr>
          <a:xfrm>
            <a:off x="5239512" y="5641848"/>
            <a:ext cx="201168" cy="257810"/>
          </a:xfrm>
          <a:prstGeom prst="rect">
            <a:avLst/>
          </a:prstGeom>
          <a:noFill/>
          <a:ln/>
        </p:spPr>
        <p:txBody>
          <a:bodyPr wrap="square" lIns="0" tIns="0" rIns="0" bIns="0" rtlCol="0" anchor="t"/>
          <a:lstStyle/>
          <a:p>
            <a:pPr algn="r" indent="0" marL="0">
              <a:lnSpc>
                <a:spcPct val="113000"/>
              </a:lnSpc>
              <a:buNone/>
            </a:pPr>
            <a:r>
              <a:rPr lang="fa-IR" altLang="en-US" sz="1450" dirty="0">
                <a:solidFill>
                  <a:srgbClr val="38BDF8"/>
                </a:solidFill>
                <a:latin typeface="Vazirmatn" pitchFamily="34" charset="0"/>
                <a:ea typeface="Vazirmatn" pitchFamily="34" charset="-122"/>
                <a:cs typeface="Vazirmatn" pitchFamily="34" charset="-120"/>
              </a:rPr>
              <a:t>←</a:t>
            </a:r>
            <a:endParaRPr lang="fa-IR" sz="1450" dirty="0"/>
          </a:p>
        </p:txBody>
      </p:sp>
      <p:sp>
        <p:nvSpPr>
          <p:cNvPr id="59" name="Editable roundRect"/>
          <p:cNvSpPr/>
          <p:nvPr/>
        </p:nvSpPr>
        <p:spPr>
          <a:xfrm>
            <a:off x="9582912" y="1810512"/>
            <a:ext cx="1975104" cy="4498848"/>
          </a:xfrm>
          <a:prstGeom prst="roundRect">
            <a:avLst>
              <a:gd name="adj" fmla="val 6000"/>
            </a:avLst>
          </a:prstGeom>
          <a:solidFill>
            <a:srgbClr val="0D1322"/>
          </a:solidFill>
          <a:ln w="8890">
            <a:solidFill>
              <a:srgbClr val="22304F"/>
            </a:solidFill>
            <a:prstDash val="solid"/>
          </a:ln>
        </p:spPr>
      </p:sp>
      <p:pic>
        <p:nvPicPr>
          <p:cNvPr id="60" name="Screenshot / image: navigation.jpg" descr="منوی واقعی سامانه">    </p:cNvPr>
          <p:cNvPicPr>
            <a:picLocks noChangeAspect="1"/>
          </p:cNvPicPr>
          <p:nvPr/>
        </p:nvPicPr>
        <p:blipFill>
          <a:blip r:embed="rId25"/>
          <a:stretch>
            <a:fillRect/>
          </a:stretch>
        </p:blipFill>
        <p:spPr>
          <a:xfrm>
            <a:off x="10028517" y="1984248"/>
            <a:ext cx="1083893" cy="41056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کنترل‌های مشترک"/>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کنترل‌های مشترک</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بازه بررسی؛ یک تاریخ برای همه گزارش‌ها"/>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بازه بررسی؛ یک تاریخ برای همه گزارش‌ها</a:t>
            </a:r>
            <a:endParaRPr lang="fa-IR" sz="2800" dirty="0"/>
          </a:p>
        </p:txBody>
      </p:sp>
      <p:sp>
        <p:nvSpPr>
          <p:cNvPr id="9" name="Editable text: داشبورد، سوابق، گزارش‌ها، پرونده و تحلیل، همان بازه بررسی را می‌خ"/>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داشبورد، سوابق، گزارش‌ها، پرونده و تحلیل، همان بازه بررسی را می‌خوانند.</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۴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۴ / ۳۱</a:t>
            </a:r>
            <a:endParaRPr lang="fa-IR" sz="1000" dirty="0"/>
          </a:p>
        </p:txBody>
      </p:sp>
      <p:sp>
        <p:nvSpPr>
          <p:cNvPr id="14" name="Editable rect"/>
          <p:cNvSpPr/>
          <p:nvPr/>
        </p:nvSpPr>
        <p:spPr>
          <a:xfrm>
            <a:off x="502920" y="6830568"/>
            <a:ext cx="1444162"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date-range.jpg" descr="تقویم جلالی و بازه یک‌روزه در رابط واقعی سامانه">    </p:cNvPr>
          <p:cNvPicPr>
            <a:picLocks noChangeAspect="1"/>
          </p:cNvPicPr>
          <p:nvPr/>
        </p:nvPicPr>
        <p:blipFill>
          <a:blip r:embed="rId3"/>
          <a:stretch>
            <a:fillRect/>
          </a:stretch>
        </p:blipFill>
        <p:spPr>
          <a:xfrm>
            <a:off x="621792" y="2554530"/>
            <a:ext cx="7562088" cy="3056533"/>
          </a:xfrm>
          <a:prstGeom prst="rect">
            <a:avLst/>
          </a:prstGeom>
        </p:spPr>
      </p:pic>
      <p:sp>
        <p:nvSpPr>
          <p:cNvPr id="22" name="Editable text: تقویم جلالی و بازه یک‌روزه در رابط واقعی سامانه"/>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تقویم جلالی و بازه یک‌روزه در رابط واقعی سامانه</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8BDF8"/>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8BDF8"/>
          </a:solidFill>
          <a:ln w="12700">
            <a:solidFill>
              <a:srgbClr val="38BDF8">
                <a:alpha val="0"/>
              </a:srgbClr>
            </a:solidFill>
            <a:prstDash val="solid"/>
          </a:ln>
        </p:spPr>
      </p:sp>
      <p:sp>
        <p:nvSpPr>
          <p:cNvPr id="25" name="Editable text: تاریخ و تقویم"/>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تاریخ و تقویم</a:t>
            </a:r>
            <a:endParaRPr lang="fa-IR" sz="1650" dirty="0"/>
          </a:p>
        </p:txBody>
      </p:sp>
      <p:sp>
        <p:nvSpPr>
          <p:cNvPr id="26" name="Editable text: ورود دستی تاریخ یا انتخاب از تقویم جلالی؛ با کنترل معتبر بودن باز"/>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ورود دستی تاریخ یا انتخاب از تقویم جلالی؛ با کنترل معتبر بودن بازه.</a:t>
            </a:r>
            <a:endParaRPr lang="fa-IR" sz="1430" dirty="0"/>
          </a:p>
        </p:txBody>
      </p:sp>
      <p:sp>
        <p:nvSpPr>
          <p:cNvPr id="27" name="Editable rect"/>
          <p:cNvSpPr/>
          <p:nvPr/>
        </p:nvSpPr>
        <p:spPr>
          <a:xfrm>
            <a:off x="11686032" y="3255264"/>
            <a:ext cx="32004" cy="740664"/>
          </a:xfrm>
          <a:prstGeom prst="rect">
            <a:avLst/>
          </a:prstGeom>
          <a:solidFill>
            <a:srgbClr val="38BDF8"/>
          </a:solidFill>
          <a:ln w="12700">
            <a:solidFill>
              <a:srgbClr val="38BDF8">
                <a:alpha val="0"/>
              </a:srgbClr>
            </a:solidFill>
            <a:prstDash val="solid"/>
          </a:ln>
        </p:spPr>
      </p:sp>
      <p:sp>
        <p:nvSpPr>
          <p:cNvPr id="28" name="Editable text: بازه‌های آماده"/>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بازه‌های آماده</a:t>
            </a:r>
            <a:endParaRPr lang="fa-IR" sz="1650" dirty="0"/>
          </a:p>
        </p:txBody>
      </p:sp>
      <p:sp>
        <p:nvSpPr>
          <p:cNvPr id="29" name="Editable text: امروز، ماه جاری، ماه قبل، همه تاریخ‌ها یا بازه دلخواه."/>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امروز، ماه جاری، ماه قبل، همه تاریخ‌ها یا بازه دلخواه.</a:t>
            </a:r>
            <a:endParaRPr lang="fa-IR" sz="1430" dirty="0"/>
          </a:p>
        </p:txBody>
      </p:sp>
      <p:sp>
        <p:nvSpPr>
          <p:cNvPr id="30" name="Editable rect"/>
          <p:cNvSpPr/>
          <p:nvPr/>
        </p:nvSpPr>
        <p:spPr>
          <a:xfrm>
            <a:off x="11686032" y="4270248"/>
            <a:ext cx="32004" cy="740664"/>
          </a:xfrm>
          <a:prstGeom prst="rect">
            <a:avLst/>
          </a:prstGeom>
          <a:solidFill>
            <a:srgbClr val="38BDF8"/>
          </a:solidFill>
          <a:ln w="12700">
            <a:solidFill>
              <a:srgbClr val="38BDF8">
                <a:alpha val="0"/>
              </a:srgbClr>
            </a:solidFill>
            <a:prstDash val="solid"/>
          </a:ln>
        </p:spPr>
      </p:sp>
      <p:sp>
        <p:nvSpPr>
          <p:cNvPr id="31" name="Editable text: حفظ انتخاب"/>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حفظ انتخاب</a:t>
            </a:r>
            <a:endParaRPr lang="fa-IR" sz="1650" dirty="0"/>
          </a:p>
        </p:txBody>
      </p:sp>
      <p:sp>
        <p:nvSpPr>
          <p:cNvPr id="32" name="Editable text: با تغییر صفحه، تاریخ انتخاب‌شده حفظ می‌شود و همه نماها هماهنگ می‌"/>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با تغییر صفحه، تاریخ انتخاب‌شده حفظ می‌شود و همه نماها هماهنگ می‌مانند.</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2B3D"/>
          </a:solidFill>
          <a:ln w="8890">
            <a:solidFill>
              <a:srgbClr val="38BDF8"/>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8BDF8"/>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مقایسه منصفانه در یک بازه مشترک"/>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مقایسه منصفانه در یک بازه مشترک</a:t>
            </a:r>
            <a:endParaRPr lang="fa-IR" sz="1340" dirty="0"/>
          </a:p>
        </p:txBody>
      </p:sp>
      <p:sp>
        <p:nvSpPr>
          <p:cNvPr id="36" name="Editable text: بالای تمام صفحه‌ها"/>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بالای تمام صفحه‌ها</a:t>
            </a:r>
            <a:endParaRPr lang="fa-IR" sz="9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داشبورد"/>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داشبورد</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داشبورد؛ خلاصه مدیریتی در یک نگاه"/>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داشبورد؛ خلاصه مدیریتی در یک نگاه</a:t>
            </a:r>
            <a:endParaRPr lang="fa-IR" sz="2800" dirty="0"/>
          </a:p>
        </p:txBody>
      </p:sp>
      <p:sp>
        <p:nvSpPr>
          <p:cNvPr id="9" name="Editable text: نقطه شروع بررسی وضعیت کیفیت و حجم ارزیابی‌ها"/>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نقطه شروع بررسی وضعیت کیفیت و حجم ارزیابی‌ها</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۵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۵ / ۳۱</a:t>
            </a:r>
            <a:endParaRPr lang="fa-IR" sz="1000" dirty="0"/>
          </a:p>
        </p:txBody>
      </p:sp>
      <p:sp>
        <p:nvSpPr>
          <p:cNvPr id="14" name="Editable rect"/>
          <p:cNvSpPr/>
          <p:nvPr/>
        </p:nvSpPr>
        <p:spPr>
          <a:xfrm>
            <a:off x="502920" y="6830568"/>
            <a:ext cx="1805203"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dashboard.jpg" descr="کارت‌های عملکرد و نمودارهای خلاصه داشبورد">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کارت‌های عملکرد و نمودارهای خلاصه داشبورد"/>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کارت‌های عملکرد و نمودارهای خلاصه داشبورد</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8BDF8"/>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8BDF8"/>
          </a:solidFill>
          <a:ln w="12700">
            <a:solidFill>
              <a:srgbClr val="38BDF8">
                <a:alpha val="0"/>
              </a:srgbClr>
            </a:solidFill>
            <a:prstDash val="solid"/>
          </a:ln>
        </p:spPr>
      </p:sp>
      <p:sp>
        <p:nvSpPr>
          <p:cNvPr id="25" name="Editable text: شاخص‌های کلیدی"/>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شاخص‌های کلیدی</a:t>
            </a:r>
            <a:endParaRPr lang="fa-IR" sz="1650" dirty="0"/>
          </a:p>
        </p:txBody>
      </p:sp>
      <p:sp>
        <p:nvSpPr>
          <p:cNvPr id="26" name="Editable text: تعداد ارزیابی‌ها، میانگین نمره، وضعیت SLA و ردلاین در بازه انتخاب"/>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تعداد ارزیابی‌ها، میانگین نمره، وضعیت SLA و ردلاین در بازه انتخاب‌شده.</a:t>
            </a:r>
            <a:endParaRPr lang="fa-IR" sz="1430" dirty="0"/>
          </a:p>
        </p:txBody>
      </p:sp>
      <p:sp>
        <p:nvSpPr>
          <p:cNvPr id="27" name="Editable rect"/>
          <p:cNvSpPr/>
          <p:nvPr/>
        </p:nvSpPr>
        <p:spPr>
          <a:xfrm>
            <a:off x="11686032" y="3255264"/>
            <a:ext cx="32004" cy="740664"/>
          </a:xfrm>
          <a:prstGeom prst="rect">
            <a:avLst/>
          </a:prstGeom>
          <a:solidFill>
            <a:srgbClr val="38BDF8"/>
          </a:solidFill>
          <a:ln w="12700">
            <a:solidFill>
              <a:srgbClr val="38BDF8">
                <a:alpha val="0"/>
              </a:srgbClr>
            </a:solidFill>
            <a:prstDash val="solid"/>
          </a:ln>
        </p:spPr>
      </p:sp>
      <p:sp>
        <p:nvSpPr>
          <p:cNvPr id="28" name="Editable text: سه منبع کنار هم"/>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سه منبع کنار هم</a:t>
            </a:r>
            <a:endParaRPr lang="fa-IR" sz="1650" dirty="0"/>
          </a:p>
        </p:txBody>
      </p:sp>
      <p:sp>
        <p:nvSpPr>
          <p:cNvPr id="29" name="Editable text: نمای یکپارچه از تیکت، سوشال و ریت تماس، بدون مراجعه جداگانه به فا"/>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نمای یکپارچه از تیکت، سوشال و ریت تماس، بدون مراجعه جداگانه به فایل‌ها.</a:t>
            </a:r>
            <a:endParaRPr lang="fa-IR" sz="1430" dirty="0"/>
          </a:p>
        </p:txBody>
      </p:sp>
      <p:sp>
        <p:nvSpPr>
          <p:cNvPr id="30" name="Editable rect"/>
          <p:cNvSpPr/>
          <p:nvPr/>
        </p:nvSpPr>
        <p:spPr>
          <a:xfrm>
            <a:off x="11686032" y="4270248"/>
            <a:ext cx="32004" cy="740664"/>
          </a:xfrm>
          <a:prstGeom prst="rect">
            <a:avLst/>
          </a:prstGeom>
          <a:solidFill>
            <a:srgbClr val="38BDF8"/>
          </a:solidFill>
          <a:ln w="12700">
            <a:solidFill>
              <a:srgbClr val="38BDF8">
                <a:alpha val="0"/>
              </a:srgbClr>
            </a:solidFill>
            <a:prstDash val="solid"/>
          </a:ln>
        </p:spPr>
      </p:sp>
      <p:sp>
        <p:nvSpPr>
          <p:cNvPr id="31" name="Editable text: نمودارهای خلاصه"/>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نمودارهای خلاصه</a:t>
            </a:r>
            <a:endParaRPr lang="fa-IR" sz="1650" dirty="0"/>
          </a:p>
        </p:txBody>
      </p:sp>
      <p:sp>
        <p:nvSpPr>
          <p:cNvPr id="32" name="Editable text: مرور توزیع نمره‌ها و وضعیت پاسخ‌گویی، برای انتخاب بررسی بعدی."/>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مرور توزیع نمره‌ها و وضعیت پاسخ‌گویی، برای انتخاب بررسی بعدی.</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2B3D"/>
          </a:solidFill>
          <a:ln w="8890">
            <a:solidFill>
              <a:srgbClr val="38BDF8"/>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8BDF8"/>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تشخیص سریع اولویت‌های پیگیری"/>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تشخیص سریع اولویت‌های پیگیری</a:t>
            </a:r>
            <a:endParaRPr lang="fa-IR" sz="1340" dirty="0"/>
          </a:p>
        </p:txBody>
      </p:sp>
      <p:sp>
        <p:nvSpPr>
          <p:cNvPr id="36" name="Editable text: داشبورد"/>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داشبورد</a:t>
            </a:r>
            <a:endParaRPr lang="fa-IR" sz="9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ارزیابی تیکت · ثبت"/>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ارزیابی تیکت · ثبت</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ارزیابی تیکت؛ ثبت استاندارد کیفیت رسیدگی"/>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ارزیابی تیکت؛ ثبت استاندارد کیفیت رسیدگی</a:t>
            </a:r>
            <a:endParaRPr lang="fa-IR" sz="2800" dirty="0"/>
          </a:p>
        </p:txBody>
      </p:sp>
      <p:sp>
        <p:nvSpPr>
          <p:cNvPr id="9" name="Editable text: از اطلاعات پایه تا معیارهای بررسی و نمره زنده"/>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از اطلاعات پایه تا معیارهای بررسی و نمره زنده</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۶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۶ / ۳۱</a:t>
            </a:r>
            <a:endParaRPr lang="fa-IR" sz="1000" dirty="0"/>
          </a:p>
        </p:txBody>
      </p:sp>
      <p:sp>
        <p:nvSpPr>
          <p:cNvPr id="14" name="Editable rect"/>
          <p:cNvSpPr/>
          <p:nvPr/>
        </p:nvSpPr>
        <p:spPr>
          <a:xfrm>
            <a:off x="502920" y="6830568"/>
            <a:ext cx="2166243"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ticket-form.jpg" descr="فرم ثبت تیکت؛ نمونه تکمیل‌شده با نمره زنده">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فرم ثبت تیکت؛ نمونه تکمیل‌شده با نمره زنده"/>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فرم ثبت تیکت؛ نمونه تکمیل‌شده با نمره زنده</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8BDF8"/>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8BDF8"/>
          </a:solidFill>
          <a:ln w="12700">
            <a:solidFill>
              <a:srgbClr val="38BDF8">
                <a:alpha val="0"/>
              </a:srgbClr>
            </a:solidFill>
            <a:prstDash val="solid"/>
          </a:ln>
        </p:spPr>
      </p:sp>
      <p:sp>
        <p:nvSpPr>
          <p:cNvPr id="25" name="Editable text: مشخصات ارزیابی"/>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مشخصات ارزیابی</a:t>
            </a:r>
            <a:endParaRPr lang="fa-IR" sz="1650" dirty="0"/>
          </a:p>
        </p:txBody>
      </p:sp>
      <p:sp>
        <p:nvSpPr>
          <p:cNvPr id="26" name="Editable text: کارشناس QC، تاریخ بررسی، کارشناس، تیم و کد یکتای تیکت."/>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کارشناس QC، تاریخ بررسی، کارشناس، تیم و کد یکتای تیکت.</a:t>
            </a:r>
            <a:endParaRPr lang="fa-IR" sz="1430" dirty="0"/>
          </a:p>
        </p:txBody>
      </p:sp>
      <p:sp>
        <p:nvSpPr>
          <p:cNvPr id="27" name="Editable rect"/>
          <p:cNvSpPr/>
          <p:nvPr/>
        </p:nvSpPr>
        <p:spPr>
          <a:xfrm>
            <a:off x="11686032" y="3255264"/>
            <a:ext cx="32004" cy="740664"/>
          </a:xfrm>
          <a:prstGeom prst="rect">
            <a:avLst/>
          </a:prstGeom>
          <a:solidFill>
            <a:srgbClr val="38BDF8"/>
          </a:solidFill>
          <a:ln w="12700">
            <a:solidFill>
              <a:srgbClr val="38BDF8">
                <a:alpha val="0"/>
              </a:srgbClr>
            </a:solidFill>
            <a:prstDash val="solid"/>
          </a:ln>
        </p:spPr>
      </p:sp>
      <p:sp>
        <p:nvSpPr>
          <p:cNvPr id="28" name="Editable text: چهار معیار اصلی"/>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چهار معیار اصلی</a:t>
            </a:r>
            <a:endParaRPr lang="fa-IR" sz="1650" dirty="0"/>
          </a:p>
        </p:txBody>
      </p:sp>
      <p:sp>
        <p:nvSpPr>
          <p:cNvPr id="29" name="Editable text: پیگیری، یادداشت، دلیل بستن تیکت و ثبت اکشن در CRM."/>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پیگیری، یادداشت، دلیل بستن تیکت و ثبت اکشن در CRM.</a:t>
            </a:r>
            <a:endParaRPr lang="fa-IR" sz="1430" dirty="0"/>
          </a:p>
        </p:txBody>
      </p:sp>
      <p:sp>
        <p:nvSpPr>
          <p:cNvPr id="30" name="Editable rect"/>
          <p:cNvSpPr/>
          <p:nvPr/>
        </p:nvSpPr>
        <p:spPr>
          <a:xfrm>
            <a:off x="11686032" y="4270248"/>
            <a:ext cx="32004" cy="740664"/>
          </a:xfrm>
          <a:prstGeom prst="rect">
            <a:avLst/>
          </a:prstGeom>
          <a:solidFill>
            <a:srgbClr val="38BDF8"/>
          </a:solidFill>
          <a:ln w="12700">
            <a:solidFill>
              <a:srgbClr val="38BDF8">
                <a:alpha val="0"/>
              </a:srgbClr>
            </a:solidFill>
            <a:prstDash val="solid"/>
          </a:ln>
        </p:spPr>
      </p:sp>
      <p:sp>
        <p:nvSpPr>
          <p:cNvPr id="31" name="Editable text: نمره و توضیح"/>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نمره و توضیح</a:t>
            </a:r>
            <a:endParaRPr lang="fa-IR" sz="1650" dirty="0"/>
          </a:p>
        </p:txBody>
      </p:sp>
      <p:sp>
        <p:nvSpPr>
          <p:cNvPr id="32" name="Editable text: نمایش زنده نمره وزن‌دار، وضعیت ردلاین و توضیح ارزیاب."/>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نمایش زنده نمره وزن‌دار، وضعیت ردلاین و توضیح ارزیاب.</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2B3D"/>
          </a:solidFill>
          <a:ln w="8890">
            <a:solidFill>
              <a:srgbClr val="38BDF8"/>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8BDF8"/>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ثبت قابل پیگیری و همسان با معیارها"/>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ثبت قابل پیگیری و همسان با معیارها</a:t>
            </a:r>
            <a:endParaRPr lang="fa-IR" sz="1340" dirty="0"/>
          </a:p>
        </p:txBody>
      </p:sp>
      <p:sp>
        <p:nvSpPr>
          <p:cNvPr id="36" name="Editable text: ارزیابی تیکت ← ثبت ارزیابی"/>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ارزیابی تیکت ← ثبت ارزیابی</a:t>
            </a:r>
            <a:endParaRPr lang="fa-IR" sz="9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ارزیابی تیکت · سوابق"/>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ارزیابی تیکت · سوابق</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سوابق تیکت؛ جستجو و مرور ارزیابی‌ها"/>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سوابق تیکت؛ جستجو و مرور ارزیابی‌ها</a:t>
            </a:r>
            <a:endParaRPr lang="fa-IR" sz="2800" dirty="0"/>
          </a:p>
        </p:txBody>
      </p:sp>
      <p:sp>
        <p:nvSpPr>
          <p:cNvPr id="9" name="Editable text: دسترسی به تاریخچه ثبت‌ها، با فیلترهای قابل ترکیب"/>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دسترسی به تاریخچه ثبت‌ها، با فیلترهای قابل ترکیب</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۷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۷ / ۳۱</a:t>
            </a:r>
            <a:endParaRPr lang="fa-IR" sz="1000" dirty="0"/>
          </a:p>
        </p:txBody>
      </p:sp>
      <p:sp>
        <p:nvSpPr>
          <p:cNvPr id="14" name="Editable rect"/>
          <p:cNvSpPr/>
          <p:nvPr/>
        </p:nvSpPr>
        <p:spPr>
          <a:xfrm>
            <a:off x="502920" y="6830568"/>
            <a:ext cx="2527284"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ticket-history.jpg" descr="جدول سوابق تیکت با ثبت‌های آموزشی">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جدول سوابق تیکت با ثبت‌های آموزشی"/>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جدول سوابق تیکت با ثبت‌های آموزشی</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8BDF8"/>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8BDF8"/>
          </a:solidFill>
          <a:ln w="12700">
            <a:solidFill>
              <a:srgbClr val="38BDF8">
                <a:alpha val="0"/>
              </a:srgbClr>
            </a:solidFill>
            <a:prstDash val="solid"/>
          </a:ln>
        </p:spPr>
      </p:sp>
      <p:sp>
        <p:nvSpPr>
          <p:cNvPr id="25" name="Editable text: جستجوی سوابق"/>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جستجوی سوابق</a:t>
            </a:r>
            <a:endParaRPr lang="fa-IR" sz="1650" dirty="0"/>
          </a:p>
        </p:txBody>
      </p:sp>
      <p:sp>
        <p:nvSpPr>
          <p:cNvPr id="26" name="Editable text: یافتن ارزیابی بر اساس کد تیکت، نام کارشناس و متن مرتبط."/>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یافتن ارزیابی بر اساس کد تیکت، نام کارشناس و متن مرتبط.</a:t>
            </a:r>
            <a:endParaRPr lang="fa-IR" sz="1430" dirty="0"/>
          </a:p>
        </p:txBody>
      </p:sp>
      <p:sp>
        <p:nvSpPr>
          <p:cNvPr id="27" name="Editable rect"/>
          <p:cNvSpPr/>
          <p:nvPr/>
        </p:nvSpPr>
        <p:spPr>
          <a:xfrm>
            <a:off x="11686032" y="3255264"/>
            <a:ext cx="32004" cy="740664"/>
          </a:xfrm>
          <a:prstGeom prst="rect">
            <a:avLst/>
          </a:prstGeom>
          <a:solidFill>
            <a:srgbClr val="38BDF8"/>
          </a:solidFill>
          <a:ln w="12700">
            <a:solidFill>
              <a:srgbClr val="38BDF8">
                <a:alpha val="0"/>
              </a:srgbClr>
            </a:solidFill>
            <a:prstDash val="solid"/>
          </a:ln>
        </p:spPr>
      </p:sp>
      <p:sp>
        <p:nvSpPr>
          <p:cNvPr id="28" name="Editable text: فیلتر تیم و فرد"/>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فیلتر تیم و فرد</a:t>
            </a:r>
            <a:endParaRPr lang="fa-IR" sz="1650" dirty="0"/>
          </a:p>
        </p:txBody>
      </p:sp>
      <p:sp>
        <p:nvSpPr>
          <p:cNvPr id="29" name="Editable text: تمرکز بر یک یا چند تیم و کارشناس، در همان بازه تاریخ بررسی."/>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تمرکز بر یک یا چند تیم و کارشناس، در همان بازه تاریخ بررسی.</a:t>
            </a:r>
            <a:endParaRPr lang="fa-IR" sz="1430" dirty="0"/>
          </a:p>
        </p:txBody>
      </p:sp>
      <p:sp>
        <p:nvSpPr>
          <p:cNvPr id="30" name="Editable rect"/>
          <p:cNvSpPr/>
          <p:nvPr/>
        </p:nvSpPr>
        <p:spPr>
          <a:xfrm>
            <a:off x="11686032" y="4270248"/>
            <a:ext cx="32004" cy="740664"/>
          </a:xfrm>
          <a:prstGeom prst="rect">
            <a:avLst/>
          </a:prstGeom>
          <a:solidFill>
            <a:srgbClr val="38BDF8"/>
          </a:solidFill>
          <a:ln w="12700">
            <a:solidFill>
              <a:srgbClr val="38BDF8">
                <a:alpha val="0"/>
              </a:srgbClr>
            </a:solidFill>
            <a:prstDash val="solid"/>
          </a:ln>
        </p:spPr>
      </p:sp>
      <p:sp>
        <p:nvSpPr>
          <p:cNvPr id="31" name="Editable text: مرور نتیجه"/>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مرور نتیجه</a:t>
            </a:r>
            <a:endParaRPr lang="fa-IR" sz="1650" dirty="0"/>
          </a:p>
        </p:txBody>
      </p:sp>
      <p:sp>
        <p:nvSpPr>
          <p:cNvPr id="32" name="Editable text: دیدن نمره، وضعیت معیارها، ردلاین و اطلاعات ارزیاب در جدول سوابق."/>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دیدن نمره، وضعیت معیارها، ردلاین و اطلاعات ارزیاب در جدول سوابق.</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2B3D"/>
          </a:solidFill>
          <a:ln w="8890">
            <a:solidFill>
              <a:srgbClr val="38BDF8"/>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8BDF8"/>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پاسخ به سؤال «این نمره از کجا آمده؟»"/>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پاسخ به سؤال «این نمره از کجا آمده؟»</a:t>
            </a:r>
            <a:endParaRPr lang="fa-IR" sz="1340" dirty="0"/>
          </a:p>
        </p:txBody>
      </p:sp>
      <p:sp>
        <p:nvSpPr>
          <p:cNvPr id="36" name="Editable text: ارزیابی تیکت ← سوابق ارزیابی"/>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ارزیابی تیکت ← سوابق ارزیابی</a:t>
            </a:r>
            <a:endParaRPr lang="fa-IR" sz="9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ارزیابی سوشال · ثبت"/>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ارزیابی سوشال · ثبت</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ارزیابی سوشال؛ کیفیت پاسخ و زمان رسیدگی"/>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ارزیابی سوشال؛ کیفیت پاسخ و زمان رسیدگی</a:t>
            </a:r>
            <a:endParaRPr lang="fa-IR" sz="2800" dirty="0"/>
          </a:p>
        </p:txBody>
      </p:sp>
      <p:sp>
        <p:nvSpPr>
          <p:cNvPr id="9" name="Editable text: ثبت پیام، زمان پاسخ، معیارهای کیفیت و وضعیت SLA"/>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ثبت پیام، زمان پاسخ، معیارهای کیفیت و وضعیت SLA</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۸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۸ / ۳۱</a:t>
            </a:r>
            <a:endParaRPr lang="fa-IR" sz="1000" dirty="0"/>
          </a:p>
        </p:txBody>
      </p:sp>
      <p:sp>
        <p:nvSpPr>
          <p:cNvPr id="14" name="Editable rect"/>
          <p:cNvSpPr/>
          <p:nvPr/>
        </p:nvSpPr>
        <p:spPr>
          <a:xfrm>
            <a:off x="502920" y="6830568"/>
            <a:ext cx="2888324"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social-form.jpg" descr="فرم ثبت سوشال با نمونه زمان دریافت و پاسخ">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فرم ثبت سوشال با نمونه زمان دریافت و پاسخ"/>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فرم ثبت سوشال با نمونه زمان دریافت و پاسخ</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A78BFA"/>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A78BFA"/>
          </a:solidFill>
          <a:ln w="12700">
            <a:solidFill>
              <a:srgbClr val="A78BFA">
                <a:alpha val="0"/>
              </a:srgbClr>
            </a:solidFill>
            <a:prstDash val="solid"/>
          </a:ln>
        </p:spPr>
      </p:sp>
      <p:sp>
        <p:nvSpPr>
          <p:cNvPr id="25" name="Editable text: اطلاعات پیام"/>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اطلاعات پیام</a:t>
            </a:r>
            <a:endParaRPr lang="fa-IR" sz="1650" dirty="0"/>
          </a:p>
        </p:txBody>
      </p:sp>
      <p:sp>
        <p:nvSpPr>
          <p:cNvPr id="26" name="Editable text: پیامرسان، تاریخ و ساعت دریافت و پاسخ، کارشناس و ارزیاب QC."/>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پیامرسان، تاریخ و ساعت دریافت و پاسخ، کارشناس و ارزیاب QC.</a:t>
            </a:r>
            <a:endParaRPr lang="fa-IR" sz="1430" dirty="0"/>
          </a:p>
        </p:txBody>
      </p:sp>
      <p:sp>
        <p:nvSpPr>
          <p:cNvPr id="27" name="Editable rect"/>
          <p:cNvSpPr/>
          <p:nvPr/>
        </p:nvSpPr>
        <p:spPr>
          <a:xfrm>
            <a:off x="11686032" y="3255264"/>
            <a:ext cx="32004" cy="740664"/>
          </a:xfrm>
          <a:prstGeom prst="rect">
            <a:avLst/>
          </a:prstGeom>
          <a:solidFill>
            <a:srgbClr val="A78BFA"/>
          </a:solidFill>
          <a:ln w="12700">
            <a:solidFill>
              <a:srgbClr val="A78BFA">
                <a:alpha val="0"/>
              </a:srgbClr>
            </a:solidFill>
            <a:prstDash val="solid"/>
          </a:ln>
        </p:spPr>
      </p:sp>
      <p:sp>
        <p:nvSpPr>
          <p:cNvPr id="28" name="Editable text: کیفیت تعامل"/>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کیفیت تعامل</a:t>
            </a:r>
            <a:endParaRPr lang="fa-IR" sz="1650" dirty="0"/>
          </a:p>
        </p:txBody>
      </p:sp>
      <p:sp>
        <p:nvSpPr>
          <p:cNvPr id="29" name="Editable text: المان‌های SLA، پیگیری، پایان‌بندی و لحن، با نمره زنده."/>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المان‌های SLA، پیگیری، پایان‌بندی و لحن، با نمره زنده.</a:t>
            </a:r>
            <a:endParaRPr lang="fa-IR" sz="1430" dirty="0"/>
          </a:p>
        </p:txBody>
      </p:sp>
      <p:sp>
        <p:nvSpPr>
          <p:cNvPr id="30" name="Editable rect"/>
          <p:cNvSpPr/>
          <p:nvPr/>
        </p:nvSpPr>
        <p:spPr>
          <a:xfrm>
            <a:off x="11686032" y="4270248"/>
            <a:ext cx="32004" cy="740664"/>
          </a:xfrm>
          <a:prstGeom prst="rect">
            <a:avLst/>
          </a:prstGeom>
          <a:solidFill>
            <a:srgbClr val="A78BFA"/>
          </a:solidFill>
          <a:ln w="12700">
            <a:solidFill>
              <a:srgbClr val="A78BFA">
                <a:alpha val="0"/>
              </a:srgbClr>
            </a:solidFill>
            <a:prstDash val="solid"/>
          </a:ln>
        </p:spPr>
      </p:sp>
      <p:sp>
        <p:nvSpPr>
          <p:cNvPr id="31" name="Editable text: زمان پاسخ واقعی"/>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زمان پاسخ واقعی</a:t>
            </a:r>
            <a:endParaRPr lang="fa-IR" sz="1650" dirty="0"/>
          </a:p>
        </p:txBody>
      </p:sp>
      <p:sp>
        <p:nvSpPr>
          <p:cNvPr id="32" name="Editable text: محاسبه مدت پاسخ در ساعات کاری و ثبت دلیل تأخیر یا عدم پاسخ."/>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محاسبه مدت پاسخ در ساعات کاری و ثبت دلیل تأخیر یا عدم پاسخ.</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22203A"/>
          </a:solidFill>
          <a:ln w="8890">
            <a:solidFill>
              <a:srgbClr val="A78BFA"/>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A78BFA"/>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تفکیک کیفیت پاسخ از تأخیر در رسیدگی"/>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تفکیک کیفیت پاسخ از تأخیر در رسیدگی</a:t>
            </a:r>
            <a:endParaRPr lang="fa-IR" sz="1340" dirty="0"/>
          </a:p>
        </p:txBody>
      </p:sp>
      <p:sp>
        <p:nvSpPr>
          <p:cNvPr id="36" name="Editable text: ارزیابی سوشال ← ثبت ارزیابی"/>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ارزیابی سوشال ← ثبت ارزیابی</a:t>
            </a:r>
            <a:endParaRPr lang="fa-IR"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ارزیابی سوشال · سوابق"/>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ارزیابی سوشال · سوابق</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سوابق سوشال؛ کیفیت و SLA قابل پیگیری"/>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سوابق سوشال؛ کیفیت و SLA قابل پیگیری</a:t>
            </a:r>
            <a:endParaRPr lang="fa-IR" sz="2800" dirty="0"/>
          </a:p>
        </p:txBody>
      </p:sp>
      <p:sp>
        <p:nvSpPr>
          <p:cNvPr id="9" name="Editable text: مرور ثبت‌ها در سطح پیامرسان، کارشناس و تیم"/>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مرور ثبت‌ها در سطح پیامرسان، کارشناس و تیم</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۹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۹ / ۳۱</a:t>
            </a:r>
            <a:endParaRPr lang="fa-IR" sz="1000" dirty="0"/>
          </a:p>
        </p:txBody>
      </p:sp>
      <p:sp>
        <p:nvSpPr>
          <p:cNvPr id="14" name="Editable rect"/>
          <p:cNvSpPr/>
          <p:nvPr/>
        </p:nvSpPr>
        <p:spPr>
          <a:xfrm>
            <a:off x="502920" y="6830568"/>
            <a:ext cx="3249365"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social-history.jpg" descr="جدول سوابق سوشال؛ نمونه‌های آموزشی با وضعیت‌های متفاوت">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جدول سوابق سوشال؛ نمونه‌های آموزشی با وضعیت‌های متفاوت"/>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جدول سوابق سوشال؛ نمونه‌های آموزشی با وضعیت‌های متفاوت</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A78BFA"/>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A78BFA"/>
          </a:solidFill>
          <a:ln w="12700">
            <a:solidFill>
              <a:srgbClr val="A78BFA">
                <a:alpha val="0"/>
              </a:srgbClr>
            </a:solidFill>
            <a:prstDash val="solid"/>
          </a:ln>
        </p:spPr>
      </p:sp>
      <p:sp>
        <p:nvSpPr>
          <p:cNvPr id="25" name="Editable text: مرور زمان‌ها"/>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مرور زمان‌ها</a:t>
            </a:r>
            <a:endParaRPr lang="fa-IR" sz="1650" dirty="0"/>
          </a:p>
        </p:txBody>
      </p:sp>
      <p:sp>
        <p:nvSpPr>
          <p:cNvPr id="26" name="Editable text: دیدن مدت پاسخ کاری و وضعیت رعایت یا عدم رعایت SLA."/>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دیدن مدت پاسخ کاری و وضعیت رعایت یا عدم رعایت SLA.</a:t>
            </a:r>
            <a:endParaRPr lang="fa-IR" sz="1430" dirty="0"/>
          </a:p>
        </p:txBody>
      </p:sp>
      <p:sp>
        <p:nvSpPr>
          <p:cNvPr id="27" name="Editable rect"/>
          <p:cNvSpPr/>
          <p:nvPr/>
        </p:nvSpPr>
        <p:spPr>
          <a:xfrm>
            <a:off x="11686032" y="3255264"/>
            <a:ext cx="32004" cy="740664"/>
          </a:xfrm>
          <a:prstGeom prst="rect">
            <a:avLst/>
          </a:prstGeom>
          <a:solidFill>
            <a:srgbClr val="A78BFA"/>
          </a:solidFill>
          <a:ln w="12700">
            <a:solidFill>
              <a:srgbClr val="A78BFA">
                <a:alpha val="0"/>
              </a:srgbClr>
            </a:solidFill>
            <a:prstDash val="solid"/>
          </a:ln>
        </p:spPr>
      </p:sp>
      <p:sp>
        <p:nvSpPr>
          <p:cNvPr id="28" name="Editable text: فیلتر و جستجو"/>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فیلتر و جستجو</a:t>
            </a:r>
            <a:endParaRPr lang="fa-IR" sz="1650" dirty="0"/>
          </a:p>
        </p:txBody>
      </p:sp>
      <p:sp>
        <p:nvSpPr>
          <p:cNvPr id="29" name="Editable text: جستجو در نام، پیامرسان و کامنت؛ محدود کردن تیم و کارشناس."/>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جستجو در نام، پیامرسان و کامنت؛ محدود کردن تیم و کارشناس.</a:t>
            </a:r>
            <a:endParaRPr lang="fa-IR" sz="1430" dirty="0"/>
          </a:p>
        </p:txBody>
      </p:sp>
      <p:sp>
        <p:nvSpPr>
          <p:cNvPr id="30" name="Editable rect"/>
          <p:cNvSpPr/>
          <p:nvPr/>
        </p:nvSpPr>
        <p:spPr>
          <a:xfrm>
            <a:off x="11686032" y="4270248"/>
            <a:ext cx="32004" cy="740664"/>
          </a:xfrm>
          <a:prstGeom prst="rect">
            <a:avLst/>
          </a:prstGeom>
          <a:solidFill>
            <a:srgbClr val="A78BFA"/>
          </a:solidFill>
          <a:ln w="12700">
            <a:solidFill>
              <a:srgbClr val="A78BFA">
                <a:alpha val="0"/>
              </a:srgbClr>
            </a:solidFill>
            <a:prstDash val="solid"/>
          </a:ln>
        </p:spPr>
      </p:sp>
      <p:sp>
        <p:nvSpPr>
          <p:cNvPr id="31" name="Editable text: علت و نتیجه"/>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علت و نتیجه</a:t>
            </a:r>
            <a:endParaRPr lang="fa-IR" sz="1650" dirty="0"/>
          </a:p>
        </p:txBody>
      </p:sp>
      <p:sp>
        <p:nvSpPr>
          <p:cNvPr id="32" name="Editable text: بررسی کیفیت معیارها، وضعیت پاسخ و نمره ثبت‌شده هر ارزیابی."/>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بررسی کیفیت معیارها، وضعیت پاسخ و نمره ثبت‌شده هر ارزیابی.</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22203A"/>
          </a:solidFill>
          <a:ln w="8890">
            <a:solidFill>
              <a:srgbClr val="A78BFA"/>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A78BFA"/>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شناسایی تأخیر و نیاز آموزشی"/>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شناسایی تأخیر و نیاز آموزشی</a:t>
            </a:r>
            <a:endParaRPr lang="fa-IR" sz="1340" dirty="0"/>
          </a:p>
        </p:txBody>
      </p:sp>
      <p:sp>
        <p:nvSpPr>
          <p:cNvPr id="36" name="Editable text: ارزیابی سوشال ← سوابق ارزیابی"/>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ارزیابی سوشال ← سوابق ارزیابی</a:t>
            </a:r>
            <a:endParaRPr lang="fa-IR" sz="9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گزارش‌های کنترل کیفیت"/>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گزارش‌های کنترل کیفیت</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گزارش‌ها؛ مقایسه فردی، تیمی و تجمیعی"/>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گزارش‌ها؛ مقایسه فردی، تیمی و تجمیعی</a:t>
            </a:r>
            <a:endParaRPr lang="fa-IR" sz="2800" dirty="0"/>
          </a:p>
        </p:txBody>
      </p:sp>
      <p:sp>
        <p:nvSpPr>
          <p:cNvPr id="9" name="Editable text: تبدیل ثبت‌های پراکنده به گزارش قابل ارائه و خروجی Excel"/>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تبدیل ثبت‌های پراکنده به گزارش قابل ارائه و خروجی Excel</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۱۰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۱۰ / ۳۱</a:t>
            </a:r>
            <a:endParaRPr lang="fa-IR" sz="1000" dirty="0"/>
          </a:p>
        </p:txBody>
      </p:sp>
      <p:sp>
        <p:nvSpPr>
          <p:cNvPr id="14" name="Editable rect"/>
          <p:cNvSpPr/>
          <p:nvPr/>
        </p:nvSpPr>
        <p:spPr>
          <a:xfrm>
            <a:off x="502920" y="6830568"/>
            <a:ext cx="3610405"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reports-combined.jpg" descr="گزارش تجمیعی سه منبع و نمودارهای مقایسه‌ای">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گزارش تجمیعی سه منبع و نمودارهای مقایسه‌ای"/>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گزارش تجمیعی سه منبع و نمودارهای مقایسه‌ای</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8BDF8"/>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8BDF8"/>
          </a:solidFill>
          <a:ln w="12700">
            <a:solidFill>
              <a:srgbClr val="38BDF8">
                <a:alpha val="0"/>
              </a:srgbClr>
            </a:solidFill>
            <a:prstDash val="solid"/>
          </a:ln>
        </p:spPr>
      </p:sp>
      <p:sp>
        <p:nvSpPr>
          <p:cNvPr id="25" name="Editable text: انتخاب نوع گزارش"/>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انتخاب نوع گزارش</a:t>
            </a:r>
            <a:endParaRPr lang="fa-IR" sz="1650" dirty="0"/>
          </a:p>
        </p:txBody>
      </p:sp>
      <p:sp>
        <p:nvSpPr>
          <p:cNvPr id="26" name="Editable text: تیکت، سوشال، تماس یا گزارش تجمیعی سه منبع."/>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تیکت، سوشال، تماس یا گزارش تجمیعی سه منبع.</a:t>
            </a:r>
            <a:endParaRPr lang="fa-IR" sz="1430" dirty="0"/>
          </a:p>
        </p:txBody>
      </p:sp>
      <p:sp>
        <p:nvSpPr>
          <p:cNvPr id="27" name="Editable rect"/>
          <p:cNvSpPr/>
          <p:nvPr/>
        </p:nvSpPr>
        <p:spPr>
          <a:xfrm>
            <a:off x="11686032" y="3255264"/>
            <a:ext cx="32004" cy="740664"/>
          </a:xfrm>
          <a:prstGeom prst="rect">
            <a:avLst/>
          </a:prstGeom>
          <a:solidFill>
            <a:srgbClr val="38BDF8"/>
          </a:solidFill>
          <a:ln w="12700">
            <a:solidFill>
              <a:srgbClr val="38BDF8">
                <a:alpha val="0"/>
              </a:srgbClr>
            </a:solidFill>
            <a:prstDash val="solid"/>
          </a:ln>
        </p:spPr>
      </p:sp>
      <p:sp>
        <p:nvSpPr>
          <p:cNvPr id="28" name="Editable text: انتخاب سطح تحلیل"/>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انتخاب سطح تحلیل</a:t>
            </a:r>
            <a:endParaRPr lang="fa-IR" sz="1650" dirty="0"/>
          </a:p>
        </p:txBody>
      </p:sp>
      <p:sp>
        <p:nvSpPr>
          <p:cNvPr id="29" name="Editable text: مقایسه کارشناس یا تیم؛ با فیلتر چندانتخابی و بازه مشترک."/>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مقایسه کارشناس یا تیم؛ با فیلتر چندانتخابی و بازه مشترک.</a:t>
            </a:r>
            <a:endParaRPr lang="fa-IR" sz="1430" dirty="0"/>
          </a:p>
        </p:txBody>
      </p:sp>
      <p:sp>
        <p:nvSpPr>
          <p:cNvPr id="30" name="Editable rect"/>
          <p:cNvSpPr/>
          <p:nvPr/>
        </p:nvSpPr>
        <p:spPr>
          <a:xfrm>
            <a:off x="11686032" y="4270248"/>
            <a:ext cx="32004" cy="740664"/>
          </a:xfrm>
          <a:prstGeom prst="rect">
            <a:avLst/>
          </a:prstGeom>
          <a:solidFill>
            <a:srgbClr val="38BDF8"/>
          </a:solidFill>
          <a:ln w="12700">
            <a:solidFill>
              <a:srgbClr val="38BDF8">
                <a:alpha val="0"/>
              </a:srgbClr>
            </a:solidFill>
            <a:prstDash val="solid"/>
          </a:ln>
        </p:spPr>
      </p:sp>
      <p:sp>
        <p:nvSpPr>
          <p:cNvPr id="31" name="Editable text: نمودار و خروجی"/>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نمودار و خروجی</a:t>
            </a:r>
            <a:endParaRPr lang="fa-IR" sz="1650" dirty="0"/>
          </a:p>
        </p:txBody>
      </p:sp>
      <p:sp>
        <p:nvSpPr>
          <p:cNvPr id="32" name="Editable text: جدول، نمودار و خروجی Excel مطابق نوع گزارش و فیلتر انتخابی."/>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جدول، نمودار و خروجی Excel مطابق نوع گزارش و فیلتر انتخابی.</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2B3D"/>
          </a:solidFill>
          <a:ln w="8890">
            <a:solidFill>
              <a:srgbClr val="38BDF8"/>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8BDF8"/>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یک گزارش مشترک برای جلسه مدیریت"/>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یک گزارش مشترک برای جلسه مدیریت</a:t>
            </a:r>
            <a:endParaRPr lang="fa-IR" sz="1340" dirty="0"/>
          </a:p>
        </p:txBody>
      </p:sp>
      <p:sp>
        <p:nvSpPr>
          <p:cNvPr id="36" name="Editable text: گزارش‌ها"/>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گزارش‌ها</a:t>
            </a:r>
            <a:endParaRPr lang="fa-IR"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گزارش‌ها · کیفیت تماس"/>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گزارش‌ها · کیفیت تماس</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گزارش ریت تماس؛ از جمع‌بندی تا هر مکالمه"/>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گزارش ریت تماس؛ از جمع‌بندی تا هر مکالمه</a:t>
            </a:r>
            <a:endParaRPr lang="fa-IR" sz="2800" dirty="0"/>
          </a:p>
        </p:txBody>
      </p:sp>
      <p:sp>
        <p:nvSpPr>
          <p:cNvPr id="9" name="Editable text: شفافیت نمره، نام شریک، معیارها و ردلاین‌ها"/>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شفافیت نمره، نام شریک، معیارها و ردلاین‌ها</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۱۱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۱۱ / ۳۱</a:t>
            </a:r>
            <a:endParaRPr lang="fa-IR" sz="1000" dirty="0"/>
          </a:p>
        </p:txBody>
      </p:sp>
      <p:sp>
        <p:nvSpPr>
          <p:cNvPr id="14" name="Editable rect"/>
          <p:cNvSpPr/>
          <p:nvPr/>
        </p:nvSpPr>
        <p:spPr>
          <a:xfrm>
            <a:off x="502920" y="6830568"/>
            <a:ext cx="3971446"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reports-call-detail.jpg" descr="ریز تماس‌های یک کارشناس با مقادیر واقعی معیارها">    </p:cNvPr>
          <p:cNvPicPr>
            <a:picLocks noChangeAspect="1"/>
          </p:cNvPicPr>
          <p:nvPr/>
        </p:nvPicPr>
        <p:blipFill>
          <a:blip r:embed="rId3"/>
          <a:stretch>
            <a:fillRect/>
          </a:stretch>
        </p:blipFill>
        <p:spPr>
          <a:xfrm>
            <a:off x="1126624" y="2194560"/>
            <a:ext cx="6552424" cy="3776472"/>
          </a:xfrm>
          <a:prstGeom prst="rect">
            <a:avLst/>
          </a:prstGeom>
        </p:spPr>
      </p:pic>
      <p:sp>
        <p:nvSpPr>
          <p:cNvPr id="22" name="Editable text: ریز تماس‌های یک کارشناس با مقادیر واقعی معیارها"/>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ریز تماس‌های یک کارشناس با مقادیر واقعی معیارها</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4D399"/>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4D399"/>
          </a:solidFill>
          <a:ln w="12700">
            <a:solidFill>
              <a:srgbClr val="34D399">
                <a:alpha val="0"/>
              </a:srgbClr>
            </a:solidFill>
            <a:prstDash val="solid"/>
          </a:ln>
        </p:spPr>
      </p:sp>
      <p:sp>
        <p:nvSpPr>
          <p:cNvPr id="25" name="Editable text: کیفیت تماس تیم‌ها"/>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کیفیت تماس تیم‌ها</a:t>
            </a:r>
            <a:endParaRPr lang="fa-IR" sz="1650" dirty="0"/>
          </a:p>
        </p:txBody>
      </p:sp>
      <p:sp>
        <p:nvSpPr>
          <p:cNvPr id="26" name="Editable text: مشاهده ریت‌های Telesales، اکانت و MLM و میانگین نمره آن‌ها."/>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مشاهده ریت‌های Telesales، اکانت و MLM و میانگین نمره آن‌ها.</a:t>
            </a:r>
            <a:endParaRPr lang="fa-IR" sz="1430" dirty="0"/>
          </a:p>
        </p:txBody>
      </p:sp>
      <p:sp>
        <p:nvSpPr>
          <p:cNvPr id="27" name="Editable rect"/>
          <p:cNvSpPr/>
          <p:nvPr/>
        </p:nvSpPr>
        <p:spPr>
          <a:xfrm>
            <a:off x="11686032" y="3255264"/>
            <a:ext cx="32004" cy="740664"/>
          </a:xfrm>
          <a:prstGeom prst="rect">
            <a:avLst/>
          </a:prstGeom>
          <a:solidFill>
            <a:srgbClr val="34D399"/>
          </a:solidFill>
          <a:ln w="12700">
            <a:solidFill>
              <a:srgbClr val="34D399">
                <a:alpha val="0"/>
              </a:srgbClr>
            </a:solidFill>
            <a:prstDash val="solid"/>
          </a:ln>
        </p:spPr>
      </p:sp>
      <p:sp>
        <p:nvSpPr>
          <p:cNvPr id="28" name="Editable text: جزئیات هر تماس"/>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جزئیات هر تماس</a:t>
            </a:r>
            <a:endParaRPr lang="fa-IR" sz="1650" dirty="0"/>
          </a:p>
        </p:txBody>
      </p:sp>
      <p:sp>
        <p:nvSpPr>
          <p:cNvPr id="29" name="Editable text: با انتخاب کارشناس، هر مکالمه یک ردیف مستقل با نام شریک و معیارهای"/>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با انتخاب کارشناس، هر مکالمه یک ردیف مستقل با نام شریک و معیارهای واقعی دارد.</a:t>
            </a:r>
            <a:endParaRPr lang="fa-IR" sz="1430" dirty="0"/>
          </a:p>
        </p:txBody>
      </p:sp>
      <p:sp>
        <p:nvSpPr>
          <p:cNvPr id="30" name="Editable rect"/>
          <p:cNvSpPr/>
          <p:nvPr/>
        </p:nvSpPr>
        <p:spPr>
          <a:xfrm>
            <a:off x="11686032" y="4270248"/>
            <a:ext cx="32004" cy="740664"/>
          </a:xfrm>
          <a:prstGeom prst="rect">
            <a:avLst/>
          </a:prstGeom>
          <a:solidFill>
            <a:srgbClr val="34D399"/>
          </a:solidFill>
          <a:ln w="12700">
            <a:solidFill>
              <a:srgbClr val="34D399">
                <a:alpha val="0"/>
              </a:srgbClr>
            </a:solidFill>
            <a:prstDash val="solid"/>
          </a:ln>
        </p:spPr>
      </p:sp>
      <p:sp>
        <p:nvSpPr>
          <p:cNvPr id="31" name="Editable text: ردلاین قابل بررسی"/>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ردلاین قابل بررسی</a:t>
            </a:r>
            <a:endParaRPr lang="fa-IR" sz="1650" dirty="0"/>
          </a:p>
        </p:txBody>
      </p:sp>
      <p:sp>
        <p:nvSpPr>
          <p:cNvPr id="32" name="Editable text: کلیک روی تعداد ردلاین برای توضیح علت؛ ریز اطلاعات در Excel هم موج"/>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کلیک روی تعداد ردلاین برای توضیح علت؛ ریز اطلاعات در Excel هم موجود است.</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3028"/>
          </a:solidFill>
          <a:ln w="8890">
            <a:solidFill>
              <a:srgbClr val="34D399"/>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4D399"/>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ردگیری نتیجه تا فرم اصلی ارزیابی"/>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ردگیری نتیجه تا فرم اصلی ارزیابی</a:t>
            </a:r>
            <a:endParaRPr lang="fa-IR" sz="1340" dirty="0"/>
          </a:p>
        </p:txBody>
      </p:sp>
      <p:sp>
        <p:nvSpPr>
          <p:cNvPr id="36" name="Editable text: گزارش‌ها ← تماس"/>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گزارش‌ها ← تماس</a:t>
            </a:r>
            <a:endParaRPr lang="fa-IR"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پرونده کارشناس · فهرست"/>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پرونده کارشناس · فهرست</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پرونده کارشناس؛ همه افراد، در یک فهرست"/>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پرونده کارشناس؛ همه افراد، در یک فهرست</a:t>
            </a:r>
            <a:endParaRPr lang="fa-IR" sz="2800" dirty="0"/>
          </a:p>
        </p:txBody>
      </p:sp>
      <p:sp>
        <p:nvSpPr>
          <p:cNvPr id="9" name="Editable text: انتخاب فرد برای بررسی یکپارچه سوابق و عملکرد"/>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انتخاب فرد برای بررسی یکپارچه سوابق و عملکرد</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۱۲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۱۲ / ۳۱</a:t>
            </a:r>
            <a:endParaRPr lang="fa-IR" sz="1000" dirty="0"/>
          </a:p>
        </p:txBody>
      </p:sp>
      <p:sp>
        <p:nvSpPr>
          <p:cNvPr id="14" name="Editable rect"/>
          <p:cNvSpPr/>
          <p:nvPr/>
        </p:nvSpPr>
        <p:spPr>
          <a:xfrm>
            <a:off x="502920" y="6830568"/>
            <a:ext cx="4332486"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portfolio-list.jpg" descr="فهرست پرونده کارشناسان و شاخص‌های هر فرد">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فهرست پرونده کارشناسان و شاخص‌های هر فرد"/>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فهرست پرونده کارشناسان و شاخص‌های هر فرد</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A78BFA"/>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A78BFA"/>
          </a:solidFill>
          <a:ln w="12700">
            <a:solidFill>
              <a:srgbClr val="A78BFA">
                <a:alpha val="0"/>
              </a:srgbClr>
            </a:solidFill>
            <a:prstDash val="solid"/>
          </a:ln>
        </p:spPr>
      </p:sp>
      <p:sp>
        <p:nvSpPr>
          <p:cNvPr id="25" name="Editable text: جامع بودن فهرست"/>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جامع بودن فهرست</a:t>
            </a:r>
            <a:endParaRPr lang="fa-IR" sz="1650" dirty="0"/>
          </a:p>
        </p:txBody>
      </p:sp>
      <p:sp>
        <p:nvSpPr>
          <p:cNvPr id="26" name="Editable text: نمایش کارشناسان ثبت‌شده، از جمله افراد بدون ریت و بایگانی."/>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نمایش کارشناسان ثبت‌شده، از جمله افراد بدون ریت و بایگانی.</a:t>
            </a:r>
            <a:endParaRPr lang="fa-IR" sz="1430" dirty="0"/>
          </a:p>
        </p:txBody>
      </p:sp>
      <p:sp>
        <p:nvSpPr>
          <p:cNvPr id="27" name="Editable rect"/>
          <p:cNvSpPr/>
          <p:nvPr/>
        </p:nvSpPr>
        <p:spPr>
          <a:xfrm>
            <a:off x="11686032" y="3255264"/>
            <a:ext cx="32004" cy="740664"/>
          </a:xfrm>
          <a:prstGeom prst="rect">
            <a:avLst/>
          </a:prstGeom>
          <a:solidFill>
            <a:srgbClr val="A78BFA"/>
          </a:solidFill>
          <a:ln w="12700">
            <a:solidFill>
              <a:srgbClr val="A78BFA">
                <a:alpha val="0"/>
              </a:srgbClr>
            </a:solidFill>
            <a:prstDash val="solid"/>
          </a:ln>
        </p:spPr>
      </p:sp>
      <p:sp>
        <p:nvSpPr>
          <p:cNvPr id="28" name="Editable text: مقایسه اولیه"/>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مقایسه اولیه</a:t>
            </a:r>
            <a:endParaRPr lang="fa-IR" sz="1650" dirty="0"/>
          </a:p>
        </p:txBody>
      </p:sp>
      <p:sp>
        <p:nvSpPr>
          <p:cNvPr id="29" name="Editable text: مرور تعداد ارزیابی، نمره منابع و وضعیت کلی در جدول افراد."/>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مرور تعداد ارزیابی، نمره منابع و وضعیت کلی در جدول افراد.</a:t>
            </a:r>
            <a:endParaRPr lang="fa-IR" sz="1430" dirty="0"/>
          </a:p>
        </p:txBody>
      </p:sp>
      <p:sp>
        <p:nvSpPr>
          <p:cNvPr id="30" name="Editable rect"/>
          <p:cNvSpPr/>
          <p:nvPr/>
        </p:nvSpPr>
        <p:spPr>
          <a:xfrm>
            <a:off x="11686032" y="4270248"/>
            <a:ext cx="32004" cy="740664"/>
          </a:xfrm>
          <a:prstGeom prst="rect">
            <a:avLst/>
          </a:prstGeom>
          <a:solidFill>
            <a:srgbClr val="A78BFA"/>
          </a:solidFill>
          <a:ln w="12700">
            <a:solidFill>
              <a:srgbClr val="A78BFA">
                <a:alpha val="0"/>
              </a:srgbClr>
            </a:solidFill>
            <a:prstDash val="solid"/>
          </a:ln>
        </p:spPr>
      </p:sp>
      <p:sp>
        <p:nvSpPr>
          <p:cNvPr id="31" name="Editable text: ورود به پروفایل"/>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ورود به پروفایل</a:t>
            </a:r>
            <a:endParaRPr lang="fa-IR" sz="1650" dirty="0"/>
          </a:p>
        </p:txBody>
      </p:sp>
      <p:sp>
        <p:nvSpPr>
          <p:cNvPr id="32" name="Editable text: جستجوی نام یا فیلتر تیم و کلیک روی سطر برای باز شدن پاپ‌آپ کامل."/>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جستجوی نام یا فیلتر تیم و کلیک روی سطر برای باز شدن پاپ‌آپ کامل.</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22203A"/>
          </a:solidFill>
          <a:ln w="8890">
            <a:solidFill>
              <a:srgbClr val="A78BFA"/>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A78BFA"/>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تمرکز بر فرد، بدون گم شدن در گزارش‌ها"/>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تمرکز بر فرد، بدون گم شدن در گزارش‌ها</a:t>
            </a:r>
            <a:endParaRPr lang="fa-IR" sz="1340" dirty="0"/>
          </a:p>
        </p:txBody>
      </p:sp>
      <p:sp>
        <p:nvSpPr>
          <p:cNvPr id="36" name="Editable text: پرونده کارشناس"/>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پرونده کارشناس</a:t>
            </a:r>
            <a:endParaRPr lang="fa-IR" sz="9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پرونده کارشناس · پروفایل"/>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پرونده کارشناس · پروفایل</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پروفایل فردی؛ تصویر کامل عملکرد کارشناس"/>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پروفایل فردی؛ تصویر کامل عملکرد کارشناس</a:t>
            </a:r>
            <a:endParaRPr lang="fa-IR" sz="2800" dirty="0"/>
          </a:p>
        </p:txBody>
      </p:sp>
      <p:sp>
        <p:nvSpPr>
          <p:cNvPr id="9" name="Editable text: پاپ‌آپ با بازه مستقل قابل تنظیم و خروجی قابل اشتراک"/>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پاپ‌آپ با بازه مستقل قابل تنظیم و خروجی قابل اشتراک</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۱۳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۱۳ / ۳۱</a:t>
            </a:r>
            <a:endParaRPr lang="fa-IR" sz="1000" dirty="0"/>
          </a:p>
        </p:txBody>
      </p:sp>
      <p:sp>
        <p:nvSpPr>
          <p:cNvPr id="14" name="Editable rect"/>
          <p:cNvSpPr/>
          <p:nvPr/>
        </p:nvSpPr>
        <p:spPr>
          <a:xfrm>
            <a:off x="502920" y="6830568"/>
            <a:ext cx="4693527"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profile-summary.jpg" descr="پروفایل واقعی در پاپ‌آپ؛ خلاصه و نرخ معیارهای تماس">    </p:cNvPr>
          <p:cNvPicPr>
            <a:picLocks noChangeAspect="1"/>
          </p:cNvPicPr>
          <p:nvPr/>
        </p:nvPicPr>
        <p:blipFill>
          <a:blip r:embed="rId3"/>
          <a:stretch>
            <a:fillRect/>
          </a:stretch>
        </p:blipFill>
        <p:spPr>
          <a:xfrm>
            <a:off x="1611531" y="2194560"/>
            <a:ext cx="5582611" cy="3776472"/>
          </a:xfrm>
          <a:prstGeom prst="rect">
            <a:avLst/>
          </a:prstGeom>
        </p:spPr>
      </p:pic>
      <p:sp>
        <p:nvSpPr>
          <p:cNvPr id="22" name="Editable text: پروفایل واقعی در پاپ‌آپ؛ خلاصه و نرخ معیارهای تماس"/>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پروفایل واقعی در پاپ‌آپ؛ خلاصه و نرخ معیارهای تماس</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A78BFA"/>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A78BFA"/>
          </a:solidFill>
          <a:ln w="12700">
            <a:solidFill>
              <a:srgbClr val="A78BFA">
                <a:alpha val="0"/>
              </a:srgbClr>
            </a:solidFill>
            <a:prstDash val="solid"/>
          </a:ln>
        </p:spPr>
      </p:sp>
      <p:sp>
        <p:nvSpPr>
          <p:cNvPr id="25" name="Editable text: خلاصه یکپارچه"/>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خلاصه یکپارچه</a:t>
            </a:r>
            <a:endParaRPr lang="fa-IR" sz="1650" dirty="0"/>
          </a:p>
        </p:txBody>
      </p:sp>
      <p:sp>
        <p:nvSpPr>
          <p:cNvPr id="26" name="Editable text: تعداد ریت، نمره‌های معتبر و جمع‌بندی تیکت، سوشال و تماس."/>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تعداد ریت، نمره‌های معتبر و جمع‌بندی تیکت، سوشال و تماس.</a:t>
            </a:r>
            <a:endParaRPr lang="fa-IR" sz="1430" dirty="0"/>
          </a:p>
        </p:txBody>
      </p:sp>
      <p:sp>
        <p:nvSpPr>
          <p:cNvPr id="27" name="Editable rect"/>
          <p:cNvSpPr/>
          <p:nvPr/>
        </p:nvSpPr>
        <p:spPr>
          <a:xfrm>
            <a:off x="11686032" y="3255264"/>
            <a:ext cx="32004" cy="740664"/>
          </a:xfrm>
          <a:prstGeom prst="rect">
            <a:avLst/>
          </a:prstGeom>
          <a:solidFill>
            <a:srgbClr val="A78BFA"/>
          </a:solidFill>
          <a:ln w="12700">
            <a:solidFill>
              <a:srgbClr val="A78BFA">
                <a:alpha val="0"/>
              </a:srgbClr>
            </a:solidFill>
            <a:prstDash val="solid"/>
          </a:ln>
        </p:spPr>
      </p:sp>
      <p:sp>
        <p:nvSpPr>
          <p:cNvPr id="28" name="Editable text: معیار و ردلاین"/>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معیار و ردلاین</a:t>
            </a:r>
            <a:endParaRPr lang="fa-IR" sz="1650" dirty="0"/>
          </a:p>
        </p:txBody>
      </p:sp>
      <p:sp>
        <p:nvSpPr>
          <p:cNvPr id="29" name="Editable text: نرخ موفقیت معیارهای تماس، علل ردلاین و روند ماهانه نمره‌ها."/>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نرخ موفقیت معیارهای تماس، علل ردلاین و روند ماهانه نمره‌ها.</a:t>
            </a:r>
            <a:endParaRPr lang="fa-IR" sz="1430" dirty="0"/>
          </a:p>
        </p:txBody>
      </p:sp>
      <p:sp>
        <p:nvSpPr>
          <p:cNvPr id="30" name="Editable rect"/>
          <p:cNvSpPr/>
          <p:nvPr/>
        </p:nvSpPr>
        <p:spPr>
          <a:xfrm>
            <a:off x="11686032" y="4270248"/>
            <a:ext cx="32004" cy="740664"/>
          </a:xfrm>
          <a:prstGeom prst="rect">
            <a:avLst/>
          </a:prstGeom>
          <a:solidFill>
            <a:srgbClr val="A78BFA"/>
          </a:solidFill>
          <a:ln w="12700">
            <a:solidFill>
              <a:srgbClr val="A78BFA">
                <a:alpha val="0"/>
              </a:srgbClr>
            </a:solidFill>
            <a:prstDash val="solid"/>
          </a:ln>
        </p:spPr>
      </p:sp>
      <p:sp>
        <p:nvSpPr>
          <p:cNvPr id="31" name="Editable text: خروجی کامل"/>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خروجی کامل</a:t>
            </a:r>
            <a:endParaRPr lang="fa-IR" sz="1650" dirty="0"/>
          </a:p>
        </p:txBody>
      </p:sp>
      <p:sp>
        <p:nvSpPr>
          <p:cNvPr id="32" name="Editable text: دانلود Excel و تصویر PNG کاملِ گزارش، حتی برای جدول‌های اسکرولی."/>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دانلود Excel و تصویر PNG کاملِ گزارش، حتی برای جدول‌های اسکرولی.</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22203A"/>
          </a:solidFill>
          <a:ln w="8890">
            <a:solidFill>
              <a:srgbClr val="A78BFA"/>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A78BFA"/>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پرونده آماده برای جلسه ارزیابی فردی"/>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پرونده آماده برای جلسه ارزیابی فردی</a:t>
            </a:r>
            <a:endParaRPr lang="fa-IR" sz="1340" dirty="0"/>
          </a:p>
        </p:txBody>
      </p:sp>
      <p:sp>
        <p:nvSpPr>
          <p:cNvPr id="36" name="Editable text: پرونده کارشناس ← کلیک روی نام"/>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پرونده کارشناس ← کلیک روی نام</a:t>
            </a:r>
            <a:endParaRPr lang="fa-IR" sz="9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پرونده کارشناس · جزئیات و اقدام"/>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پرونده کارشناس · جزئیات و اقدام</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از مشاهده خطا تا اقدام اصلاحی"/>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از مشاهده خطا تا اقدام اصلاحی</a:t>
            </a:r>
            <a:endParaRPr lang="fa-IR" sz="2800" dirty="0"/>
          </a:p>
        </p:txBody>
      </p:sp>
      <p:sp>
        <p:nvSpPr>
          <p:cNvPr id="9" name="Editable text: سوابق قابل باز شدن و برنامه پیگیری در همان پرونده"/>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سوابق قابل باز شدن و برنامه پیگیری در همان پرونده</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۱۴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۱۴ / ۳۱</a:t>
            </a:r>
            <a:endParaRPr lang="fa-IR" sz="1000" dirty="0"/>
          </a:p>
        </p:txBody>
      </p:sp>
      <p:sp>
        <p:nvSpPr>
          <p:cNvPr id="14" name="Editable rect"/>
          <p:cNvSpPr/>
          <p:nvPr/>
        </p:nvSpPr>
        <p:spPr>
          <a:xfrm>
            <a:off x="502920" y="6830568"/>
            <a:ext cx="5054567"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profile-actions.jpg" descr="سوابق تماس و اقدامات اصلاحی در پایین پروفایل">    </p:cNvPr>
          <p:cNvPicPr>
            <a:picLocks noChangeAspect="1"/>
          </p:cNvPicPr>
          <p:nvPr/>
        </p:nvPicPr>
        <p:blipFill>
          <a:blip r:embed="rId3"/>
          <a:stretch>
            <a:fillRect/>
          </a:stretch>
        </p:blipFill>
        <p:spPr>
          <a:xfrm>
            <a:off x="1611531" y="2194560"/>
            <a:ext cx="5582611" cy="3776472"/>
          </a:xfrm>
          <a:prstGeom prst="rect">
            <a:avLst/>
          </a:prstGeom>
        </p:spPr>
      </p:pic>
      <p:sp>
        <p:nvSpPr>
          <p:cNvPr id="22" name="Editable text: سوابق تماس و اقدامات اصلاحی در پایین پروفایل"/>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سوابق تماس و اقدامات اصلاحی در پایین پروفایل</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4D399"/>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4D399"/>
          </a:solidFill>
          <a:ln w="12700">
            <a:solidFill>
              <a:srgbClr val="34D399">
                <a:alpha val="0"/>
              </a:srgbClr>
            </a:solidFill>
            <a:prstDash val="solid"/>
          </a:ln>
        </p:spPr>
      </p:sp>
      <p:sp>
        <p:nvSpPr>
          <p:cNvPr id="25" name="Editable text: ریز سوابق"/>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ریز سوابق</a:t>
            </a:r>
            <a:endParaRPr lang="fa-IR" sz="1650" dirty="0"/>
          </a:p>
        </p:txBody>
      </p:sp>
      <p:sp>
        <p:nvSpPr>
          <p:cNvPr id="26" name="Editable text: مشاهده تیکت، سوشال و تماس و باز کردن جزئیات معیارها و نظر QC."/>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مشاهده تیکت، سوشال و تماس و باز کردن جزئیات معیارها و نظر QC.</a:t>
            </a:r>
            <a:endParaRPr lang="fa-IR" sz="1430" dirty="0"/>
          </a:p>
        </p:txBody>
      </p:sp>
      <p:sp>
        <p:nvSpPr>
          <p:cNvPr id="27" name="Editable rect"/>
          <p:cNvSpPr/>
          <p:nvPr/>
        </p:nvSpPr>
        <p:spPr>
          <a:xfrm>
            <a:off x="11686032" y="3255264"/>
            <a:ext cx="32004" cy="740664"/>
          </a:xfrm>
          <a:prstGeom prst="rect">
            <a:avLst/>
          </a:prstGeom>
          <a:solidFill>
            <a:srgbClr val="34D399"/>
          </a:solidFill>
          <a:ln w="12700">
            <a:solidFill>
              <a:srgbClr val="34D399">
                <a:alpha val="0"/>
              </a:srgbClr>
            </a:solidFill>
            <a:prstDash val="solid"/>
          </a:ln>
        </p:spPr>
      </p:sp>
      <p:sp>
        <p:nvSpPr>
          <p:cNvPr id="28" name="Editable text: ثبت توافق"/>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ثبت توافق</a:t>
            </a:r>
            <a:endParaRPr lang="fa-IR" sz="1650" dirty="0"/>
          </a:p>
        </p:txBody>
      </p:sp>
      <p:sp>
        <p:nvSpPr>
          <p:cNvPr id="29" name="Editable text: افزودن اقدام اصلاحی و برنامه آموزشی برای کارشناس."/>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افزودن اقدام اصلاحی و برنامه آموزشی برای کارشناس.</a:t>
            </a:r>
            <a:endParaRPr lang="fa-IR" sz="1430" dirty="0"/>
          </a:p>
        </p:txBody>
      </p:sp>
      <p:sp>
        <p:nvSpPr>
          <p:cNvPr id="30" name="Editable rect"/>
          <p:cNvSpPr/>
          <p:nvPr/>
        </p:nvSpPr>
        <p:spPr>
          <a:xfrm>
            <a:off x="11686032" y="4270248"/>
            <a:ext cx="32004" cy="740664"/>
          </a:xfrm>
          <a:prstGeom prst="rect">
            <a:avLst/>
          </a:prstGeom>
          <a:solidFill>
            <a:srgbClr val="34D399"/>
          </a:solidFill>
          <a:ln w="12700">
            <a:solidFill>
              <a:srgbClr val="34D399">
                <a:alpha val="0"/>
              </a:srgbClr>
            </a:solidFill>
            <a:prstDash val="solid"/>
          </a:ln>
        </p:spPr>
      </p:sp>
      <p:sp>
        <p:nvSpPr>
          <p:cNvPr id="31" name="Editable text: پیگیری اجرا"/>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پیگیری اجرا</a:t>
            </a:r>
            <a:endParaRPr lang="fa-IR" sz="1650" dirty="0"/>
          </a:p>
        </p:txBody>
      </p:sp>
      <p:sp>
        <p:nvSpPr>
          <p:cNvPr id="32" name="Editable text: تغییر وضعیت اقدامات ثبت‌شده در سامانه؛ حفظ سوابق واردشده از پنل."/>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تغییر وضعیت اقدامات ثبت‌شده در سامانه؛ حفظ سوابق واردشده از پنل.</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3028"/>
          </a:solidFill>
          <a:ln w="8890">
            <a:solidFill>
              <a:srgbClr val="34D399"/>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4D399"/>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وصل کردن ارزیابی به بهبود عملکرد"/>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وصل کردن ارزیابی به بهبود عملکرد</a:t>
            </a:r>
            <a:endParaRPr lang="fa-IR" sz="1340" dirty="0"/>
          </a:p>
        </p:txBody>
      </p:sp>
      <p:sp>
        <p:nvSpPr>
          <p:cNvPr id="36" name="Editable text: پروفایل ← سوابق و اقدامات"/>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پروفایل ← سوابق و اقدامات</a:t>
            </a:r>
            <a:endParaRPr lang="fa-IR" sz="9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تحلیل ریت تماس"/>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تحلیل ریت تماس</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تحلیل ریت تماس؛ کشف الگوهای کیفیت"/>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تحلیل ریت تماس؛ کشف الگوهای کیفیت</a:t>
            </a:r>
            <a:endParaRPr lang="fa-IR" sz="2800" dirty="0"/>
          </a:p>
        </p:txBody>
      </p:sp>
      <p:sp>
        <p:nvSpPr>
          <p:cNvPr id="9" name="Editable text: شاخص‌ها، روند ماهانه و نرخ موفقیت معیارهای هر تیم"/>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شاخص‌ها، روند ماهانه و نرخ موفقیت معیارهای هر تیم</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۱۵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۱۵ / ۳۱</a:t>
            </a:r>
            <a:endParaRPr lang="fa-IR" sz="1000" dirty="0"/>
          </a:p>
        </p:txBody>
      </p:sp>
      <p:sp>
        <p:nvSpPr>
          <p:cNvPr id="14" name="Editable rect"/>
          <p:cNvSpPr/>
          <p:nvPr/>
        </p:nvSpPr>
        <p:spPr>
          <a:xfrm>
            <a:off x="502920" y="6830568"/>
            <a:ext cx="5415608"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call-analysis.jpg" descr="تحلیل تیم MLM با نمودارهای واقعی نمونه همراه سامانه">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تحلیل تیم MLM با نمودارهای واقعی نمونه همراه سامانه"/>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تحلیل تیم MLM با نمودارهای واقعی نمونه همراه سامانه</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8BDF8"/>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8BDF8"/>
          </a:solidFill>
          <a:ln w="12700">
            <a:solidFill>
              <a:srgbClr val="38BDF8">
                <a:alpha val="0"/>
              </a:srgbClr>
            </a:solidFill>
            <a:prstDash val="solid"/>
          </a:ln>
        </p:spPr>
      </p:sp>
      <p:sp>
        <p:nvSpPr>
          <p:cNvPr id="25" name="Editable text: شاخص‌های تماس"/>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شاخص‌های تماس</a:t>
            </a:r>
            <a:endParaRPr lang="fa-IR" sz="1650" dirty="0"/>
          </a:p>
        </p:txBody>
      </p:sp>
      <p:sp>
        <p:nvSpPr>
          <p:cNvPr id="26" name="Editable text: تعداد ریت، میانگین نمره، ردلاین و شاخص‌های اصلی بازه بررسی."/>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تعداد ریت، میانگین نمره، ردلاین و شاخص‌های اصلی بازه بررسی.</a:t>
            </a:r>
            <a:endParaRPr lang="fa-IR" sz="1430" dirty="0"/>
          </a:p>
        </p:txBody>
      </p:sp>
      <p:sp>
        <p:nvSpPr>
          <p:cNvPr id="27" name="Editable rect"/>
          <p:cNvSpPr/>
          <p:nvPr/>
        </p:nvSpPr>
        <p:spPr>
          <a:xfrm>
            <a:off x="11686032" y="3255264"/>
            <a:ext cx="32004" cy="740664"/>
          </a:xfrm>
          <a:prstGeom prst="rect">
            <a:avLst/>
          </a:prstGeom>
          <a:solidFill>
            <a:srgbClr val="38BDF8"/>
          </a:solidFill>
          <a:ln w="12700">
            <a:solidFill>
              <a:srgbClr val="38BDF8">
                <a:alpha val="0"/>
              </a:srgbClr>
            </a:solidFill>
            <a:prstDash val="solid"/>
          </a:ln>
        </p:spPr>
      </p:sp>
      <p:sp>
        <p:nvSpPr>
          <p:cNvPr id="28" name="Editable text: تحلیل مخصوص تیم"/>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تحلیل مخصوص تیم</a:t>
            </a:r>
            <a:endParaRPr lang="fa-IR" sz="1650" dirty="0"/>
          </a:p>
        </p:txBody>
      </p:sp>
      <p:sp>
        <p:nvSpPr>
          <p:cNvPr id="29" name="Editable text: انتخاب تیم و کارشناس برای نمایش معیارهای همان فرم."/>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انتخاب تیم و کارشناس برای نمایش معیارهای همان فرم.</a:t>
            </a:r>
            <a:endParaRPr lang="fa-IR" sz="1430" dirty="0"/>
          </a:p>
        </p:txBody>
      </p:sp>
      <p:sp>
        <p:nvSpPr>
          <p:cNvPr id="30" name="Editable rect"/>
          <p:cNvSpPr/>
          <p:nvPr/>
        </p:nvSpPr>
        <p:spPr>
          <a:xfrm>
            <a:off x="11686032" y="4270248"/>
            <a:ext cx="32004" cy="740664"/>
          </a:xfrm>
          <a:prstGeom prst="rect">
            <a:avLst/>
          </a:prstGeom>
          <a:solidFill>
            <a:srgbClr val="38BDF8"/>
          </a:solidFill>
          <a:ln w="12700">
            <a:solidFill>
              <a:srgbClr val="38BDF8">
                <a:alpha val="0"/>
              </a:srgbClr>
            </a:solidFill>
            <a:prstDash val="solid"/>
          </a:ln>
        </p:spPr>
      </p:sp>
      <p:sp>
        <p:nvSpPr>
          <p:cNvPr id="31" name="Editable text: روند و خروجی"/>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روند و خروجی</a:t>
            </a:r>
            <a:endParaRPr lang="fa-IR" sz="1650" dirty="0"/>
          </a:p>
        </p:txBody>
      </p:sp>
      <p:sp>
        <p:nvSpPr>
          <p:cNvPr id="32" name="Editable text: نمودار ماهانه، نرخ موفقیت معیارها و خروجی Excel تحلیل."/>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نمودار ماهانه، نرخ موفقیت معیارها و خروجی Excel تحلیل.</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2B3D"/>
          </a:solidFill>
          <a:ln w="8890">
            <a:solidFill>
              <a:srgbClr val="38BDF8"/>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8BDF8"/>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یافتن موضوع‌های پرتکرار برای آموزش"/>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یافتن موضوع‌های پرتکرار برای آموزش</a:t>
            </a:r>
            <a:endParaRPr lang="fa-IR" sz="1340" dirty="0"/>
          </a:p>
        </p:txBody>
      </p:sp>
      <p:sp>
        <p:nvSpPr>
          <p:cNvPr id="36" name="Editable text: تحلیل ریت تماس"/>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تحلیل ریت تماس</a:t>
            </a:r>
            <a:endParaRPr lang="fa-IR" sz="9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تحلیل تماس · عارضه‌یابی"/>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تحلیل تماس · عارضه‌یابی</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ماتریس خطا؛ چه کسی، در کدام معیار؟"/>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ماتریس خطا؛ چه کسی، در کدام معیار؟</a:t>
            </a:r>
            <a:endParaRPr lang="fa-IR" sz="2800" dirty="0"/>
          </a:p>
        </p:txBody>
      </p:sp>
      <p:sp>
        <p:nvSpPr>
          <p:cNvPr id="9" name="Editable text: مرور تمرکز خطاها و رتبه‌بندی برای پیگیری هدفمند"/>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مرور تمرکز خطاها و رتبه‌بندی برای پیگیری هدفمند</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۱۶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۱۶ / ۳۱</a:t>
            </a:r>
            <a:endParaRPr lang="fa-IR" sz="1000" dirty="0"/>
          </a:p>
        </p:txBody>
      </p:sp>
      <p:sp>
        <p:nvSpPr>
          <p:cNvPr id="14" name="Editable rect"/>
          <p:cNvSpPr/>
          <p:nvPr/>
        </p:nvSpPr>
        <p:spPr>
          <a:xfrm>
            <a:off x="502920" y="6830568"/>
            <a:ext cx="5776648"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call-matrix.jpg" descr="ماتریس خطای کارشناسان در معیارهای فرم تماس">    </p:cNvPr>
          <p:cNvPicPr>
            <a:picLocks noChangeAspect="1"/>
          </p:cNvPicPr>
          <p:nvPr/>
        </p:nvPicPr>
        <p:blipFill>
          <a:blip r:embed="rId3"/>
          <a:stretch>
            <a:fillRect/>
          </a:stretch>
        </p:blipFill>
        <p:spPr>
          <a:xfrm>
            <a:off x="1326393" y="2194560"/>
            <a:ext cx="6152886" cy="3776472"/>
          </a:xfrm>
          <a:prstGeom prst="rect">
            <a:avLst/>
          </a:prstGeom>
        </p:spPr>
      </p:pic>
      <p:sp>
        <p:nvSpPr>
          <p:cNvPr id="22" name="Editable text: ماتریس خطای کارشناسان در معیارهای فرم تماس"/>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ماتریس خطای کارشناسان در معیارهای فرم تماس</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FBBF24"/>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FBBF24"/>
          </a:solidFill>
          <a:ln w="12700">
            <a:solidFill>
              <a:srgbClr val="FBBF24">
                <a:alpha val="0"/>
              </a:srgbClr>
            </a:solidFill>
            <a:prstDash val="solid"/>
          </a:ln>
        </p:spPr>
      </p:sp>
      <p:sp>
        <p:nvSpPr>
          <p:cNvPr id="25" name="Editable text: کارشناس × معیار"/>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کارشناس × معیار</a:t>
            </a:r>
            <a:endParaRPr lang="fa-IR" sz="1650" dirty="0"/>
          </a:p>
        </p:txBody>
      </p:sp>
      <p:sp>
        <p:nvSpPr>
          <p:cNvPr id="26" name="Editable text: ماتریس رنگی برای دیدن محل تمرکز عدم رعایت هر المان."/>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ماتریس رنگی برای دیدن محل تمرکز عدم رعایت هر المان.</a:t>
            </a:r>
            <a:endParaRPr lang="fa-IR" sz="1430" dirty="0"/>
          </a:p>
        </p:txBody>
      </p:sp>
      <p:sp>
        <p:nvSpPr>
          <p:cNvPr id="27" name="Editable rect"/>
          <p:cNvSpPr/>
          <p:nvPr/>
        </p:nvSpPr>
        <p:spPr>
          <a:xfrm>
            <a:off x="11686032" y="3255264"/>
            <a:ext cx="32004" cy="740664"/>
          </a:xfrm>
          <a:prstGeom prst="rect">
            <a:avLst/>
          </a:prstGeom>
          <a:solidFill>
            <a:srgbClr val="FBBF24"/>
          </a:solidFill>
          <a:ln w="12700">
            <a:solidFill>
              <a:srgbClr val="FBBF24">
                <a:alpha val="0"/>
              </a:srgbClr>
            </a:solidFill>
            <a:prstDash val="solid"/>
          </a:ln>
        </p:spPr>
      </p:sp>
      <p:sp>
        <p:nvSpPr>
          <p:cNvPr id="28" name="Editable text: رتبه‌بندی و ردلاین"/>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رتبه‌بندی و ردلاین</a:t>
            </a:r>
            <a:endParaRPr lang="fa-IR" sz="1650" dirty="0"/>
          </a:p>
        </p:txBody>
      </p:sp>
      <p:sp>
        <p:nvSpPr>
          <p:cNvPr id="29" name="Editable text: مرور افراد دارای داده و موارد حساس قابل بررسی."/>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مرور افراد دارای داده و موارد حساس قابل بررسی.</a:t>
            </a:r>
            <a:endParaRPr lang="fa-IR" sz="1430" dirty="0"/>
          </a:p>
        </p:txBody>
      </p:sp>
      <p:sp>
        <p:nvSpPr>
          <p:cNvPr id="30" name="Editable rect"/>
          <p:cNvSpPr/>
          <p:nvPr/>
        </p:nvSpPr>
        <p:spPr>
          <a:xfrm>
            <a:off x="11686032" y="4270248"/>
            <a:ext cx="32004" cy="740664"/>
          </a:xfrm>
          <a:prstGeom prst="rect">
            <a:avLst/>
          </a:prstGeom>
          <a:solidFill>
            <a:srgbClr val="FBBF24"/>
          </a:solidFill>
          <a:ln w="12700">
            <a:solidFill>
              <a:srgbClr val="FBBF24">
                <a:alpha val="0"/>
              </a:srgbClr>
            </a:solidFill>
            <a:prstDash val="solid"/>
          </a:ln>
        </p:spPr>
      </p:sp>
      <p:sp>
        <p:nvSpPr>
          <p:cNvPr id="31" name="Editable text: دلیل و نظر QC"/>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دلیل و نظر QC</a:t>
            </a:r>
            <a:endParaRPr lang="fa-IR" sz="1650" dirty="0"/>
          </a:p>
        </p:txBody>
      </p:sp>
      <p:sp>
        <p:nvSpPr>
          <p:cNvPr id="32" name="Editable text: خواندن توضیح‌ها و رفتن به پرونده فرد برای بررسی زمینه ارزیابی."/>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خواندن توضیح‌ها و رفتن به پرونده فرد برای بررسی زمینه ارزیابی.</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342C18"/>
          </a:solidFill>
          <a:ln w="8890">
            <a:solidFill>
              <a:srgbClr val="FBBF24"/>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FBBF24"/>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آموزش هدفمند، به‌جای قضاوت کلی"/>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آموزش هدفمند، به‌جای قضاوت کلی</a:t>
            </a:r>
            <a:endParaRPr lang="fa-IR" sz="1340" dirty="0"/>
          </a:p>
        </p:txBody>
      </p:sp>
      <p:sp>
        <p:nvSpPr>
          <p:cNvPr id="36" name="Editable text: تحلیل ریت تماس ← ماتریس خطا"/>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تحلیل ریت تماس ← ماتریس خطا</a:t>
            </a:r>
            <a:endParaRPr lang="fa-IR" sz="9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مرکز داده · وضعیت"/>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مرکز داده · وضعیت</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مرکز داده؛ مرجع کنترل وضعیت اطلاعات"/>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مرکز داده؛ مرجع کنترل وضعیت اطلاعات</a:t>
            </a:r>
            <a:endParaRPr lang="fa-IR" sz="2800" dirty="0"/>
          </a:p>
        </p:txBody>
      </p:sp>
      <p:sp>
        <p:nvSpPr>
          <p:cNvPr id="9" name="Editable text: حجم ثبت‌ها، تیم‌بندی، منابع و هشدارهای داده در یک صفحه"/>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حجم ثبت‌ها، تیم‌بندی، منابع و هشدارهای داده در یک صفحه</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۱۷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۱۷ / ۳۱</a:t>
            </a:r>
            <a:endParaRPr lang="fa-IR" sz="1000" dirty="0"/>
          </a:p>
        </p:txBody>
      </p:sp>
      <p:sp>
        <p:nvSpPr>
          <p:cNvPr id="14" name="Editable rect"/>
          <p:cNvSpPr/>
          <p:nvPr/>
        </p:nvSpPr>
        <p:spPr>
          <a:xfrm>
            <a:off x="502920" y="6830568"/>
            <a:ext cx="6137689"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data-status.jpg" descr="کارت‌های وضعیت و جدول آمار به تفکیک تیم">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کارت‌های وضعیت و جدول آمار به تفکیک تیم"/>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کارت‌های وضعیت و جدول آمار به تفکیک تیم</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A78BFA"/>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A78BFA"/>
          </a:solidFill>
          <a:ln w="12700">
            <a:solidFill>
              <a:srgbClr val="A78BFA">
                <a:alpha val="0"/>
              </a:srgbClr>
            </a:solidFill>
            <a:prstDash val="solid"/>
          </a:ln>
        </p:spPr>
      </p:sp>
      <p:sp>
        <p:nvSpPr>
          <p:cNvPr id="25" name="Editable text: آمار زنده داده"/>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آمار زنده داده</a:t>
            </a:r>
            <a:endParaRPr lang="fa-IR" sz="1650" dirty="0"/>
          </a:p>
        </p:txBody>
      </p:sp>
      <p:sp>
        <p:nvSpPr>
          <p:cNvPr id="26" name="Editable text: تعداد تیکت، سوشال و ریت تماس و وضعیت آن‌ها در بازه انتخابی."/>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تعداد تیکت، سوشال و ریت تماس و وضعیت آن‌ها در بازه انتخابی.</a:t>
            </a:r>
            <a:endParaRPr lang="fa-IR" sz="1430" dirty="0"/>
          </a:p>
        </p:txBody>
      </p:sp>
      <p:sp>
        <p:nvSpPr>
          <p:cNvPr id="27" name="Editable rect"/>
          <p:cNvSpPr/>
          <p:nvPr/>
        </p:nvSpPr>
        <p:spPr>
          <a:xfrm>
            <a:off x="11686032" y="3255264"/>
            <a:ext cx="32004" cy="740664"/>
          </a:xfrm>
          <a:prstGeom prst="rect">
            <a:avLst/>
          </a:prstGeom>
          <a:solidFill>
            <a:srgbClr val="A78BFA"/>
          </a:solidFill>
          <a:ln w="12700">
            <a:solidFill>
              <a:srgbClr val="A78BFA">
                <a:alpha val="0"/>
              </a:srgbClr>
            </a:solidFill>
            <a:prstDash val="solid"/>
          </a:ln>
        </p:spPr>
      </p:sp>
      <p:sp>
        <p:nvSpPr>
          <p:cNvPr id="28" name="Editable text: تفکیک تیم‌ها"/>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تفکیک تیم‌ها</a:t>
            </a:r>
            <a:endParaRPr lang="fa-IR" sz="1650" dirty="0"/>
          </a:p>
        </p:txBody>
      </p:sp>
      <p:sp>
        <p:nvSpPr>
          <p:cNvPr id="29" name="Editable text: دیدن داده‌های هر تیم و کنترل انتساب کارشناسان."/>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دیدن داده‌های هر تیم و کنترل انتساب کارشناسان.</a:t>
            </a:r>
            <a:endParaRPr lang="fa-IR" sz="1430" dirty="0"/>
          </a:p>
        </p:txBody>
      </p:sp>
      <p:sp>
        <p:nvSpPr>
          <p:cNvPr id="30" name="Editable rect"/>
          <p:cNvSpPr/>
          <p:nvPr/>
        </p:nvSpPr>
        <p:spPr>
          <a:xfrm>
            <a:off x="11686032" y="4270248"/>
            <a:ext cx="32004" cy="740664"/>
          </a:xfrm>
          <a:prstGeom prst="rect">
            <a:avLst/>
          </a:prstGeom>
          <a:solidFill>
            <a:srgbClr val="A78BFA"/>
          </a:solidFill>
          <a:ln w="12700">
            <a:solidFill>
              <a:srgbClr val="A78BFA">
                <a:alpha val="0"/>
              </a:srgbClr>
            </a:solidFill>
            <a:prstDash val="solid"/>
          </a:ln>
        </p:spPr>
      </p:sp>
      <p:sp>
        <p:nvSpPr>
          <p:cNvPr id="31" name="Editable text: هشدارهای مهم"/>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هشدارهای مهم</a:t>
            </a:r>
            <a:endParaRPr lang="fa-IR" sz="1650" dirty="0"/>
          </a:p>
        </p:txBody>
      </p:sp>
      <p:sp>
        <p:nvSpPr>
          <p:cNvPr id="32" name="Editable text: نام ثبت‌نشده، ابهام تطبیق و رکورد فاقد تاریخ معتبر، به‌صورت مشخص."/>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نام ثبت‌نشده، ابهام تطبیق و رکورد فاقد تاریخ معتبر، به‌صورت مشخص.</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22203A"/>
          </a:solidFill>
          <a:ln w="8890">
            <a:solidFill>
              <a:srgbClr val="A78BFA"/>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A78BFA"/>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کنترل کیفیتِ خودِ داده، پیش از گزارش"/>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کنترل کیفیتِ خودِ داده، پیش از گزارش</a:t>
            </a:r>
            <a:endParaRPr lang="fa-IR" sz="1340" dirty="0"/>
          </a:p>
        </p:txBody>
      </p:sp>
      <p:sp>
        <p:nvSpPr>
          <p:cNvPr id="36" name="Editable text: مرکز داده"/>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مرکز داده</a:t>
            </a:r>
            <a:endParaRPr lang="fa-IR" sz="9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مرکز داده · ورود اطلاعات"/>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مرکز داده · ورود اطلاعات</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ورود اکسل؛ افزودن ریت بدون انتساب حدسی"/>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ورود اکسل؛ افزودن ریت بدون انتساب حدسی</a:t>
            </a:r>
            <a:endParaRPr lang="fa-IR" sz="2800" dirty="0"/>
          </a:p>
        </p:txBody>
      </p:sp>
      <p:sp>
        <p:nvSpPr>
          <p:cNvPr id="9" name="Editable text: آپلود چند فایل QC و تعیین روش ورود قبل از تغییر داده"/>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آپلود چند فایل QC و تعیین روش ورود قبل از تغییر داده</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۱۸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۱۸ / ۳۱</a:t>
            </a:r>
            <a:endParaRPr lang="fa-IR" sz="1000" dirty="0"/>
          </a:p>
        </p:txBody>
      </p:sp>
      <p:sp>
        <p:nvSpPr>
          <p:cNvPr id="14" name="Editable rect"/>
          <p:cNvSpPr/>
          <p:nvPr/>
        </p:nvSpPr>
        <p:spPr>
          <a:xfrm>
            <a:off x="502920" y="6830568"/>
            <a:ext cx="6498729"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data-upload.jpg" descr="کارت واقعی آپلود، تیم مقصد اختیاری و فهرست فایل‌ها">    </p:cNvPr>
          <p:cNvPicPr>
            <a:picLocks noChangeAspect="1"/>
          </p:cNvPicPr>
          <p:nvPr/>
        </p:nvPicPr>
        <p:blipFill>
          <a:blip r:embed="rId3"/>
          <a:stretch>
            <a:fillRect/>
          </a:stretch>
        </p:blipFill>
        <p:spPr>
          <a:xfrm>
            <a:off x="621792" y="2394203"/>
            <a:ext cx="7562088" cy="3377186"/>
          </a:xfrm>
          <a:prstGeom prst="rect">
            <a:avLst/>
          </a:prstGeom>
        </p:spPr>
      </p:pic>
      <p:sp>
        <p:nvSpPr>
          <p:cNvPr id="22" name="Editable text: کارت واقعی آپلود، تیم مقصد اختیاری و فهرست فایل‌ها"/>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کارت واقعی آپلود، تیم مقصد اختیاری و فهرست فایل‌ها</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A78BFA"/>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A78BFA"/>
          </a:solidFill>
          <a:ln w="12700">
            <a:solidFill>
              <a:srgbClr val="A78BFA">
                <a:alpha val="0"/>
              </a:srgbClr>
            </a:solidFill>
            <a:prstDash val="solid"/>
          </a:ln>
        </p:spPr>
      </p:sp>
      <p:sp>
        <p:nvSpPr>
          <p:cNvPr id="25" name="Editable text: ورود چند فایل"/>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ورود چند فایل</a:t>
            </a:r>
            <a:endParaRPr lang="fa-IR" sz="1650" dirty="0"/>
          </a:p>
        </p:txBody>
      </p:sp>
      <p:sp>
        <p:nvSpPr>
          <p:cNvPr id="26" name="Editable text: انتخاب یا رها کردن فایل‌های Telesales، اکانت و MLM و تشخیص نوع فر"/>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انتخاب یا رها کردن فایل‌های Telesales، اکانت و MLM و تشخیص نوع فرم.</a:t>
            </a:r>
            <a:endParaRPr lang="fa-IR" sz="1430" dirty="0"/>
          </a:p>
        </p:txBody>
      </p:sp>
      <p:sp>
        <p:nvSpPr>
          <p:cNvPr id="27" name="Editable rect"/>
          <p:cNvSpPr/>
          <p:nvPr/>
        </p:nvSpPr>
        <p:spPr>
          <a:xfrm>
            <a:off x="11686032" y="3255264"/>
            <a:ext cx="32004" cy="740664"/>
          </a:xfrm>
          <a:prstGeom prst="rect">
            <a:avLst/>
          </a:prstGeom>
          <a:solidFill>
            <a:srgbClr val="A78BFA"/>
          </a:solidFill>
          <a:ln w="12700">
            <a:solidFill>
              <a:srgbClr val="A78BFA">
                <a:alpha val="0"/>
              </a:srgbClr>
            </a:solidFill>
            <a:prstDash val="solid"/>
          </a:ln>
        </p:spPr>
      </p:sp>
      <p:sp>
        <p:nvSpPr>
          <p:cNvPr id="28" name="Editable text: تطبیق کارشناسان"/>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تطبیق کارشناسان</a:t>
            </a:r>
            <a:endParaRPr lang="fa-IR" sz="1650" dirty="0"/>
          </a:p>
        </p:txBody>
      </p:sp>
      <p:sp>
        <p:nvSpPr>
          <p:cNvPr id="29" name="Editable text: نام شناخته‌شده از مدیریت خوانده می‌شود؛ نام مبهم بی‌صدا به تیم وص"/>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نام شناخته‌شده از مدیریت خوانده می‌شود؛ نام مبهم بی‌صدا به تیم وصل نمی‌شود.</a:t>
            </a:r>
            <a:endParaRPr lang="fa-IR" sz="1430" dirty="0"/>
          </a:p>
        </p:txBody>
      </p:sp>
      <p:sp>
        <p:nvSpPr>
          <p:cNvPr id="30" name="Editable rect"/>
          <p:cNvSpPr/>
          <p:nvPr/>
        </p:nvSpPr>
        <p:spPr>
          <a:xfrm>
            <a:off x="11686032" y="4270248"/>
            <a:ext cx="32004" cy="740664"/>
          </a:xfrm>
          <a:prstGeom prst="rect">
            <a:avLst/>
          </a:prstGeom>
          <a:solidFill>
            <a:srgbClr val="A78BFA"/>
          </a:solidFill>
          <a:ln w="12700">
            <a:solidFill>
              <a:srgbClr val="A78BFA">
                <a:alpha val="0"/>
              </a:srgbClr>
            </a:solidFill>
            <a:prstDash val="solid"/>
          </a:ln>
        </p:spPr>
      </p:sp>
      <p:sp>
        <p:nvSpPr>
          <p:cNvPr id="31" name="Editable text: کنترل روش ورود"/>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کنترل روش ورود</a:t>
            </a:r>
            <a:endParaRPr lang="fa-IR" sz="1650" dirty="0"/>
          </a:p>
        </p:txBody>
      </p:sp>
      <p:sp>
        <p:nvSpPr>
          <p:cNvPr id="32" name="Editable text: پیش از تغییر داده، افزودن یا جایگزینی و محدوده اثر آن تأیید می‌شو"/>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پیش از تغییر داده، افزودن یا جایگزینی و محدوده اثر آن تأیید می‌شود.</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22203A"/>
          </a:solidFill>
          <a:ln w="8890">
            <a:solidFill>
              <a:srgbClr val="A78BFA"/>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A78BFA"/>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ورودی قابل کنترل، بدون حذف ناخواسته"/>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ورودی قابل کنترل، بدون حذف ناخواسته</a:t>
            </a:r>
            <a:endParaRPr lang="fa-IR" sz="1340" dirty="0"/>
          </a:p>
        </p:txBody>
      </p:sp>
      <p:sp>
        <p:nvSpPr>
          <p:cNvPr id="36" name="Editable text: مرکز داده ← آپلود اکسل"/>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مرکز داده ← آپلود اکسل</a:t>
            </a:r>
            <a:endParaRPr lang="fa-IR" sz="9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مرکز داده · بک‌اپ"/>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مرکز داده · بک‌اپ</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بک‌اپ ماهانه؛ آرشیو قابل انتقال سامانه"/>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بک‌اپ ماهانه؛ آرشیو قابل انتقال سامانه</a:t>
            </a:r>
            <a:endParaRPr lang="fa-IR" sz="2800" dirty="0"/>
          </a:p>
        </p:txBody>
      </p:sp>
      <p:sp>
        <p:nvSpPr>
          <p:cNvPr id="9" name="Editable text: خروجی JSON کامل، با انتخاب ماه یا بازه دلخواه"/>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خروجی JSON کامل، با انتخاب ماه یا بازه دلخواه</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۱۹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۱۹ / ۳۱</a:t>
            </a:r>
            <a:endParaRPr lang="fa-IR" sz="1000" dirty="0"/>
          </a:p>
        </p:txBody>
      </p:sp>
      <p:sp>
        <p:nvSpPr>
          <p:cNvPr id="14" name="Editable rect"/>
          <p:cNvSpPr/>
          <p:nvPr/>
        </p:nvSpPr>
        <p:spPr>
          <a:xfrm>
            <a:off x="502920" y="6830568"/>
            <a:ext cx="6859770"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monthly-backup.jpg" descr="انتخاب ماه و دکمه دانلود فایل بک‌اپ">    </p:cNvPr>
          <p:cNvPicPr>
            <a:picLocks noChangeAspect="1"/>
          </p:cNvPicPr>
          <p:nvPr/>
        </p:nvPicPr>
        <p:blipFill>
          <a:blip r:embed="rId3"/>
          <a:stretch>
            <a:fillRect/>
          </a:stretch>
        </p:blipFill>
        <p:spPr>
          <a:xfrm>
            <a:off x="1083516" y="2194560"/>
            <a:ext cx="6638640" cy="3776472"/>
          </a:xfrm>
          <a:prstGeom prst="rect">
            <a:avLst/>
          </a:prstGeom>
        </p:spPr>
      </p:pic>
      <p:sp>
        <p:nvSpPr>
          <p:cNvPr id="22" name="Editable text: انتخاب ماه و دکمه دانلود فایل بک‌اپ"/>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انتخاب ماه و دکمه دانلود فایل بک‌اپ</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4D399"/>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4D399"/>
          </a:solidFill>
          <a:ln w="12700">
            <a:solidFill>
              <a:srgbClr val="34D399">
                <a:alpha val="0"/>
              </a:srgbClr>
            </a:solidFill>
            <a:prstDash val="solid"/>
          </a:ln>
        </p:spPr>
      </p:sp>
      <p:sp>
        <p:nvSpPr>
          <p:cNvPr id="25" name="Editable text: انتخاب دامنه"/>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انتخاب دامنه</a:t>
            </a:r>
            <a:endParaRPr lang="fa-IR" sz="1650" dirty="0"/>
          </a:p>
        </p:txBody>
      </p:sp>
      <p:sp>
        <p:nvSpPr>
          <p:cNvPr id="26" name="Editable text: بک‌اپ کل داده یا بازه مشخص؛ انتخاب سریع سال و ماه جلالی."/>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بک‌اپ کل داده یا بازه مشخص؛ انتخاب سریع سال و ماه جلالی.</a:t>
            </a:r>
            <a:endParaRPr lang="fa-IR" sz="1430" dirty="0"/>
          </a:p>
        </p:txBody>
      </p:sp>
      <p:sp>
        <p:nvSpPr>
          <p:cNvPr id="27" name="Editable rect"/>
          <p:cNvSpPr/>
          <p:nvPr/>
        </p:nvSpPr>
        <p:spPr>
          <a:xfrm>
            <a:off x="11686032" y="3255264"/>
            <a:ext cx="32004" cy="740664"/>
          </a:xfrm>
          <a:prstGeom prst="rect">
            <a:avLst/>
          </a:prstGeom>
          <a:solidFill>
            <a:srgbClr val="34D399"/>
          </a:solidFill>
          <a:ln w="12700">
            <a:solidFill>
              <a:srgbClr val="34D399">
                <a:alpha val="0"/>
              </a:srgbClr>
            </a:solidFill>
            <a:prstDash val="solid"/>
          </a:ln>
        </p:spPr>
      </p:sp>
      <p:sp>
        <p:nvSpPr>
          <p:cNvPr id="28" name="Editable text: محتوای جامع"/>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محتوای جامع</a:t>
            </a:r>
            <a:endParaRPr lang="fa-IR" sz="1650" dirty="0"/>
          </a:p>
        </p:txBody>
      </p:sp>
      <p:sp>
        <p:nvSpPr>
          <p:cNvPr id="29" name="Editable text: تیکت، سوشال، ریت تماس، کارشناسان و تنظیمات در فایل JSON."/>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تیکت، سوشال، ریت تماس، کارشناسان و تنظیمات در فایل JSON.</a:t>
            </a:r>
            <a:endParaRPr lang="fa-IR" sz="1430" dirty="0"/>
          </a:p>
        </p:txBody>
      </p:sp>
      <p:sp>
        <p:nvSpPr>
          <p:cNvPr id="30" name="Editable rect"/>
          <p:cNvSpPr/>
          <p:nvPr/>
        </p:nvSpPr>
        <p:spPr>
          <a:xfrm>
            <a:off x="11686032" y="4270248"/>
            <a:ext cx="32004" cy="740664"/>
          </a:xfrm>
          <a:prstGeom prst="rect">
            <a:avLst/>
          </a:prstGeom>
          <a:solidFill>
            <a:srgbClr val="34D399"/>
          </a:solidFill>
          <a:ln w="12700">
            <a:solidFill>
              <a:srgbClr val="34D399">
                <a:alpha val="0"/>
              </a:srgbClr>
            </a:solidFill>
            <a:prstDash val="solid"/>
          </a:ln>
        </p:spPr>
      </p:sp>
      <p:sp>
        <p:nvSpPr>
          <p:cNvPr id="31" name="Editable text: فایل مستقل"/>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فایل مستقل</a:t>
            </a:r>
            <a:endParaRPr lang="fa-IR" sz="1650" dirty="0"/>
          </a:p>
        </p:txBody>
      </p:sp>
      <p:sp>
        <p:nvSpPr>
          <p:cNvPr id="32" name="Editable text: آرشیو قابل نگهداری و انتقال، جدا از حافظه مرورگر و فیلتر نمایش."/>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آرشیو قابل نگهداری و انتقال، جدا از حافظه مرورگر و فیلتر نمایش.</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3028"/>
          </a:solidFill>
          <a:ln w="8890">
            <a:solidFill>
              <a:srgbClr val="34D399"/>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4D399"/>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حفظ تاریخچه و امکان بازیابی مستقل"/>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حفظ تاریخچه و امکان بازیابی مستقل</a:t>
            </a:r>
            <a:endParaRPr lang="fa-IR" sz="1340" dirty="0"/>
          </a:p>
        </p:txBody>
      </p:sp>
      <p:sp>
        <p:nvSpPr>
          <p:cNvPr id="36" name="Editable text: مرکز داده ← بک‌اپ کامل سامانه"/>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مرکز داده ← بک‌اپ کامل سامانه</a:t>
            </a:r>
            <a:endParaRPr lang="fa-IR" sz="9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مرکز داده · بازیابی"/>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مرکز داده · بازیابی</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بازیابی؛ انتخاب آگاهانه افزودن یا جایگزینی"/>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بازیابی؛ انتخاب آگاهانه افزودن یا جایگزینی</a:t>
            </a:r>
            <a:endParaRPr lang="fa-IR" sz="2800" dirty="0"/>
          </a:p>
        </p:txBody>
      </p:sp>
      <p:sp>
        <p:nvSpPr>
          <p:cNvPr id="9" name="Editable text: پیش‌نمایش اثر عملیات و تأیید صریح، پیش از هر تغییر"/>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پیش‌نمایش اثر عملیات و تأیید صریح، پیش از هر تغییر</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۰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۲۰ / ۳۱</a:t>
            </a:r>
            <a:endParaRPr lang="fa-IR" sz="1000" dirty="0"/>
          </a:p>
        </p:txBody>
      </p:sp>
      <p:sp>
        <p:nvSpPr>
          <p:cNvPr id="14" name="Editable rect"/>
          <p:cNvSpPr/>
          <p:nvPr/>
        </p:nvSpPr>
        <p:spPr>
          <a:xfrm>
            <a:off x="502920" y="6830568"/>
            <a:ext cx="7220810"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backup-restore.jpg" descr="پنجره جایگزینی؛ دکمه تأیید تا قبول هشدار غیرفعال است">    </p:cNvPr>
          <p:cNvPicPr>
            <a:picLocks noChangeAspect="1"/>
          </p:cNvPicPr>
          <p:nvPr/>
        </p:nvPicPr>
        <p:blipFill>
          <a:blip r:embed="rId3"/>
          <a:stretch>
            <a:fillRect/>
          </a:stretch>
        </p:blipFill>
        <p:spPr>
          <a:xfrm>
            <a:off x="1403873" y="2194560"/>
            <a:ext cx="5997926" cy="3776472"/>
          </a:xfrm>
          <a:prstGeom prst="rect">
            <a:avLst/>
          </a:prstGeom>
        </p:spPr>
      </p:pic>
      <p:sp>
        <p:nvSpPr>
          <p:cNvPr id="22" name="Editable text: پنجره جایگزینی؛ دکمه تأیید تا قبول هشدار غیرفعال است"/>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پنجره جایگزینی؛ دکمه تأیید تا قبول هشدار غیرفعال است</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FBBF24"/>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FBBF24"/>
          </a:solidFill>
          <a:ln w="12700">
            <a:solidFill>
              <a:srgbClr val="FBBF24">
                <a:alpha val="0"/>
              </a:srgbClr>
            </a:solidFill>
            <a:prstDash val="solid"/>
          </a:ln>
        </p:spPr>
      </p:sp>
      <p:sp>
        <p:nvSpPr>
          <p:cNvPr id="25" name="Editable text: افزودن به داده"/>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افزودن به داده</a:t>
            </a:r>
            <a:endParaRPr lang="fa-IR" sz="1650" dirty="0"/>
          </a:p>
        </p:txBody>
      </p:sp>
      <p:sp>
        <p:nvSpPr>
          <p:cNvPr id="26" name="Editable text: حفظ ماه‌های قبلی و تنظیمات فعلی؛ جلوگیری از شمارش دوباره ریت‌های "/>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حفظ ماه‌های قبلی و تنظیمات فعلی؛ جلوگیری از شمارش دوباره ریت‌های تکراری.</a:t>
            </a:r>
            <a:endParaRPr lang="fa-IR" sz="1430" dirty="0"/>
          </a:p>
        </p:txBody>
      </p:sp>
      <p:sp>
        <p:nvSpPr>
          <p:cNvPr id="27" name="Editable rect"/>
          <p:cNvSpPr/>
          <p:nvPr/>
        </p:nvSpPr>
        <p:spPr>
          <a:xfrm>
            <a:off x="11686032" y="3255264"/>
            <a:ext cx="32004" cy="740664"/>
          </a:xfrm>
          <a:prstGeom prst="rect">
            <a:avLst/>
          </a:prstGeom>
          <a:solidFill>
            <a:srgbClr val="FBBF24"/>
          </a:solidFill>
          <a:ln w="12700">
            <a:solidFill>
              <a:srgbClr val="FBBF24">
                <a:alpha val="0"/>
              </a:srgbClr>
            </a:solidFill>
            <a:prstDash val="solid"/>
          </a:ln>
        </p:spPr>
      </p:sp>
      <p:sp>
        <p:nvSpPr>
          <p:cNvPr id="28" name="Editable text: جایگزینی مشخص"/>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جایگزینی مشخص</a:t>
            </a:r>
            <a:endParaRPr lang="fa-IR" sz="1650" dirty="0"/>
          </a:p>
        </p:txBody>
      </p:sp>
      <p:sp>
        <p:nvSpPr>
          <p:cNvPr id="29" name="Editable text: جایگزینی محتوای شرح‌داده‌شده در پنجره، با تأیید خطر جداگانه."/>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جایگزینی محتوای شرح‌داده‌شده در پنجره، با تأیید خطر جداگانه.</a:t>
            </a:r>
            <a:endParaRPr lang="fa-IR" sz="1430" dirty="0"/>
          </a:p>
        </p:txBody>
      </p:sp>
      <p:sp>
        <p:nvSpPr>
          <p:cNvPr id="30" name="Editable rect"/>
          <p:cNvSpPr/>
          <p:nvPr/>
        </p:nvSpPr>
        <p:spPr>
          <a:xfrm>
            <a:off x="11686032" y="4270248"/>
            <a:ext cx="32004" cy="740664"/>
          </a:xfrm>
          <a:prstGeom prst="rect">
            <a:avLst/>
          </a:prstGeom>
          <a:solidFill>
            <a:srgbClr val="FBBF24"/>
          </a:solidFill>
          <a:ln w="12700">
            <a:solidFill>
              <a:srgbClr val="FBBF24">
                <a:alpha val="0"/>
              </a:srgbClr>
            </a:solidFill>
            <a:prstDash val="solid"/>
          </a:ln>
        </p:spPr>
      </p:sp>
      <p:sp>
        <p:nvSpPr>
          <p:cNvPr id="31" name="Editable text: امکان انصراف"/>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امکان انصراف</a:t>
            </a:r>
            <a:endParaRPr lang="fa-IR" sz="1650" dirty="0"/>
          </a:p>
        </p:txBody>
      </p:sp>
      <p:sp>
        <p:nvSpPr>
          <p:cNvPr id="32" name="Editable text: تا پیش از تأیید نهایی، انتخاب فایل به‌تنهایی داده را تغییر نمی‌ده"/>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تا پیش از تأیید نهایی، انتخاب فایل به‌تنهایی داده را تغییر نمی‌دهد.</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342C18"/>
          </a:solidFill>
          <a:ln w="8890">
            <a:solidFill>
              <a:srgbClr val="FBBF24"/>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FBBF24"/>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پیشگیری از حذف یا ادغام ناخواسته"/>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پیشگیری از حذف یا ادغام ناخواسته</a:t>
            </a:r>
            <a:endParaRPr lang="fa-IR" sz="1340" dirty="0"/>
          </a:p>
        </p:txBody>
      </p:sp>
      <p:sp>
        <p:nvSpPr>
          <p:cNvPr id="36" name="Editable text: مرکز داده ← بازیابی / ایمپورت دیتا"/>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مرکز داده ← بازیابی / ایمپورت دیتا</a:t>
            </a:r>
            <a:endParaRPr lang="fa-IR" sz="9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گزارش تماس · آماده‌سازی"/>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گزارش تماس · آماده‌سازی</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گزارش تماس؛ ابزار مستقل آمار عملیاتی"/>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گزارش تماس؛ ابزار مستقل آمار عملیاتی</a:t>
            </a:r>
            <a:endParaRPr lang="fa-IR" sz="2800" dirty="0"/>
          </a:p>
        </p:txBody>
      </p:sp>
      <p:sp>
        <p:nvSpPr>
          <p:cNvPr id="9" name="Editable text: تحلیل خروجی مرکز تماس؛ جدا از نمره‌های کنترل کیفیت"/>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تحلیل خروجی مرکز تماس؛ جدا از نمره‌های کنترل کیفیت</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۱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۲۱ / ۳۱</a:t>
            </a:r>
            <a:endParaRPr lang="fa-IR" sz="1000" dirty="0"/>
          </a:p>
        </p:txBody>
      </p:sp>
      <p:sp>
        <p:nvSpPr>
          <p:cNvPr id="14" name="Editable rect"/>
          <p:cNvSpPr/>
          <p:nvPr/>
        </p:nvSpPr>
        <p:spPr>
          <a:xfrm>
            <a:off x="502920" y="6830568"/>
            <a:ext cx="7581851"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call-report-setup.jpg" descr="ابزار گزارش تماس در قاب سامانه؛ مرحله تعریف کارشناسان">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ابزار گزارش تماس در قاب سامانه؛ مرحله تعریف کارشناسان"/>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ابزار گزارش تماس در قاب سامانه؛ مرحله تعریف کارشناسان</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8BDF8"/>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8BDF8"/>
          </a:solidFill>
          <a:ln w="12700">
            <a:solidFill>
              <a:srgbClr val="38BDF8">
                <a:alpha val="0"/>
              </a:srgbClr>
            </a:solidFill>
            <a:prstDash val="solid"/>
          </a:ln>
        </p:spPr>
      </p:sp>
      <p:sp>
        <p:nvSpPr>
          <p:cNvPr id="25" name="Editable text: فهرست کارشناسان"/>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فهرست کارشناسان</a:t>
            </a:r>
            <a:endParaRPr lang="fa-IR" sz="1650" dirty="0"/>
          </a:p>
        </p:txBody>
      </p:sp>
      <p:sp>
        <p:nvSpPr>
          <p:cNvPr id="26" name="Editable text: تعریف یا ورود داخلی، نام، تیم اصلی و زیرمجموعه در ابزار مستقل."/>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تعریف یا ورود داخلی، نام، تیم اصلی و زیرمجموعه در ابزار مستقل.</a:t>
            </a:r>
            <a:endParaRPr lang="fa-IR" sz="1430" dirty="0"/>
          </a:p>
        </p:txBody>
      </p:sp>
      <p:sp>
        <p:nvSpPr>
          <p:cNvPr id="27" name="Editable rect"/>
          <p:cNvSpPr/>
          <p:nvPr/>
        </p:nvSpPr>
        <p:spPr>
          <a:xfrm>
            <a:off x="11686032" y="3255264"/>
            <a:ext cx="32004" cy="740664"/>
          </a:xfrm>
          <a:prstGeom prst="rect">
            <a:avLst/>
          </a:prstGeom>
          <a:solidFill>
            <a:srgbClr val="38BDF8"/>
          </a:solidFill>
          <a:ln w="12700">
            <a:solidFill>
              <a:srgbClr val="38BDF8">
                <a:alpha val="0"/>
              </a:srgbClr>
            </a:solidFill>
            <a:prstDash val="solid"/>
          </a:ln>
        </p:spPr>
      </p:sp>
      <p:sp>
        <p:nvSpPr>
          <p:cNvPr id="28" name="Editable text: اکسل خام تماس"/>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اکسل خام تماس</a:t>
            </a:r>
            <a:endParaRPr lang="fa-IR" sz="1650" dirty="0"/>
          </a:p>
        </p:txBody>
      </p:sp>
      <p:sp>
        <p:nvSpPr>
          <p:cNvPr id="29" name="Editable text: بارگذاری خروجی مرکز تماس پس از تأیید فهرست کارشناسان."/>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بارگذاری خروجی مرکز تماس پس از تأیید فهرست کارشناسان.</a:t>
            </a:r>
            <a:endParaRPr lang="fa-IR" sz="1430" dirty="0"/>
          </a:p>
        </p:txBody>
      </p:sp>
      <p:sp>
        <p:nvSpPr>
          <p:cNvPr id="30" name="Editable rect"/>
          <p:cNvSpPr/>
          <p:nvPr/>
        </p:nvSpPr>
        <p:spPr>
          <a:xfrm>
            <a:off x="11686032" y="4270248"/>
            <a:ext cx="32004" cy="740664"/>
          </a:xfrm>
          <a:prstGeom prst="rect">
            <a:avLst/>
          </a:prstGeom>
          <a:solidFill>
            <a:srgbClr val="38BDF8"/>
          </a:solidFill>
          <a:ln w="12700">
            <a:solidFill>
              <a:srgbClr val="38BDF8">
                <a:alpha val="0"/>
              </a:srgbClr>
            </a:solidFill>
            <a:prstDash val="solid"/>
          </a:ln>
        </p:spPr>
      </p:sp>
      <p:sp>
        <p:nvSpPr>
          <p:cNvPr id="31" name="Editable text: نمای تعبیه‌شده"/>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نمای تعبیه‌شده</a:t>
            </a:r>
            <a:endParaRPr lang="fa-IR" sz="1650" dirty="0"/>
          </a:p>
        </p:txBody>
      </p:sp>
      <p:sp>
        <p:nvSpPr>
          <p:cNvPr id="32" name="Editable text: استفاده در صفحه سامانه یا باز کردن ابزار در تب جدید."/>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استفاده در صفحه سامانه یا باز کردن ابزار در تب جدید.</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2B3D"/>
          </a:solidFill>
          <a:ln w="8890">
            <a:solidFill>
              <a:srgbClr val="38BDF8"/>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8BDF8"/>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شناخت حجم تماس، نه نمره کیفیت مکالمه"/>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شناخت حجم تماس، نه نمره کیفیت مکالمه</a:t>
            </a:r>
            <a:endParaRPr lang="fa-IR" sz="1340" dirty="0"/>
          </a:p>
        </p:txBody>
      </p:sp>
      <p:sp>
        <p:nvSpPr>
          <p:cNvPr id="36" name="Editable text: گزارش تماس"/>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گزارش تماس</a:t>
            </a:r>
            <a:endParaRPr lang="fa-IR" sz="9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گزارش تماس · نتایج"/>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گزارش تماس · نتایج</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آمار تماس؛ پاسخ‌گویی، مدت و حجم فعالیت"/>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آمار تماس؛ پاسخ‌گویی، مدت و حجم فعالیت</a:t>
            </a:r>
            <a:endParaRPr lang="fa-IR" sz="2800" dirty="0"/>
          </a:p>
        </p:txBody>
      </p:sp>
      <p:sp>
        <p:nvSpPr>
          <p:cNvPr id="9" name="Editable text: گزارش عملیاتی در سطح کارشناس، تیم و زیرمجموعه"/>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گزارش عملیاتی در سطح کارشناس، تیم و زیرمجموعه</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۲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۲۲ / ۳۱</a:t>
            </a:r>
            <a:endParaRPr lang="fa-IR" sz="1000" dirty="0"/>
          </a:p>
        </p:txBody>
      </p:sp>
      <p:sp>
        <p:nvSpPr>
          <p:cNvPr id="14" name="Editable rect"/>
          <p:cNvSpPr/>
          <p:nvPr/>
        </p:nvSpPr>
        <p:spPr>
          <a:xfrm>
            <a:off x="502920" y="6830568"/>
            <a:ext cx="7942891"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call-report-results.jpg" descr="نتایج واقعی ابزار از اکسل آموزشی مستقل مرکز تماس">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نتایج واقعی ابزار از اکسل آموزشی مستقل مرکز تماس"/>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نتایج واقعی ابزار از اکسل آموزشی مستقل مرکز تماس</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4D399"/>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4D399"/>
          </a:solidFill>
          <a:ln w="12700">
            <a:solidFill>
              <a:srgbClr val="34D399">
                <a:alpha val="0"/>
              </a:srgbClr>
            </a:solidFill>
            <a:prstDash val="solid"/>
          </a:ln>
        </p:spPr>
      </p:sp>
      <p:sp>
        <p:nvSpPr>
          <p:cNvPr id="25" name="Editable text: شاخص‌های عملیاتی"/>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شاخص‌های عملیاتی</a:t>
            </a:r>
            <a:endParaRPr lang="fa-IR" sz="1650" dirty="0"/>
          </a:p>
        </p:txBody>
      </p:sp>
      <p:sp>
        <p:nvSpPr>
          <p:cNvPr id="26" name="Editable text: کل تماس، تماس موفق، درصد پاسخ‌گویی و زمان تماس و مکالمه."/>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کل تماس، تماس موفق، درصد پاسخ‌گویی و زمان تماس و مکالمه.</a:t>
            </a:r>
            <a:endParaRPr lang="fa-IR" sz="1430" dirty="0"/>
          </a:p>
        </p:txBody>
      </p:sp>
      <p:sp>
        <p:nvSpPr>
          <p:cNvPr id="27" name="Editable rect"/>
          <p:cNvSpPr/>
          <p:nvPr/>
        </p:nvSpPr>
        <p:spPr>
          <a:xfrm>
            <a:off x="11686032" y="3255264"/>
            <a:ext cx="32004" cy="740664"/>
          </a:xfrm>
          <a:prstGeom prst="rect">
            <a:avLst/>
          </a:prstGeom>
          <a:solidFill>
            <a:srgbClr val="34D399"/>
          </a:solidFill>
          <a:ln w="12700">
            <a:solidFill>
              <a:srgbClr val="34D399">
                <a:alpha val="0"/>
              </a:srgbClr>
            </a:solidFill>
            <a:prstDash val="solid"/>
          </a:ln>
        </p:spPr>
      </p:sp>
      <p:sp>
        <p:nvSpPr>
          <p:cNvPr id="28" name="Editable text: تحلیل مدت تماس"/>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تحلیل مدت تماس</a:t>
            </a:r>
            <a:endParaRPr lang="fa-IR" sz="1650" dirty="0"/>
          </a:p>
        </p:txBody>
      </p:sp>
      <p:sp>
        <p:nvSpPr>
          <p:cNvPr id="29" name="Editable text: بررسی توزیع مدت و تماس‌های بالای آستانه انتخابی."/>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بررسی توزیع مدت و تماس‌های بالای آستانه انتخابی.</a:t>
            </a:r>
            <a:endParaRPr lang="fa-IR" sz="1430" dirty="0"/>
          </a:p>
        </p:txBody>
      </p:sp>
      <p:sp>
        <p:nvSpPr>
          <p:cNvPr id="30" name="Editable rect"/>
          <p:cNvSpPr/>
          <p:nvPr/>
        </p:nvSpPr>
        <p:spPr>
          <a:xfrm>
            <a:off x="11686032" y="4270248"/>
            <a:ext cx="32004" cy="740664"/>
          </a:xfrm>
          <a:prstGeom prst="rect">
            <a:avLst/>
          </a:prstGeom>
          <a:solidFill>
            <a:srgbClr val="34D399"/>
          </a:solidFill>
          <a:ln w="12700">
            <a:solidFill>
              <a:srgbClr val="34D399">
                <a:alpha val="0"/>
              </a:srgbClr>
            </a:solidFill>
            <a:prstDash val="solid"/>
          </a:ln>
        </p:spPr>
      </p:sp>
      <p:sp>
        <p:nvSpPr>
          <p:cNvPr id="31" name="Editable text: گزارش قابل ارائه"/>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گزارش قابل ارائه</a:t>
            </a:r>
            <a:endParaRPr lang="fa-IR" sz="1650" dirty="0"/>
          </a:p>
        </p:txBody>
      </p:sp>
      <p:sp>
        <p:nvSpPr>
          <p:cNvPr id="32" name="Editable text: فیلتر تیم و زیرمجموعه و امکانات خروجی و ارائه ابزار."/>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فیلتر تیم و زیرمجموعه و امکانات خروجی و ارائه ابزار.</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3028"/>
          </a:solidFill>
          <a:ln w="8890">
            <a:solidFill>
              <a:srgbClr val="34D399"/>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4D399"/>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تفکیک حجم فعالیت از کیفیت ارزیابی"/>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تفکیک حجم فعالیت از کیفیت ارزیابی</a:t>
            </a:r>
            <a:endParaRPr lang="fa-IR" sz="1340" dirty="0"/>
          </a:p>
        </p:txBody>
      </p:sp>
      <p:sp>
        <p:nvSpPr>
          <p:cNvPr id="36" name="Editable text: گزارش تماس ← پس از آپلود"/>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گزارش تماس ← پس از آپلود</a:t>
            </a:r>
            <a:endParaRPr lang="fa-IR" sz="9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مدیریت کارشناسان"/>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مدیریت کارشناسان</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مدیریت کارشناسان؛ مرجع هویت و تیم‌بندی"/>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مدیریت کارشناسان؛ مرجع هویت و تیم‌بندی</a:t>
            </a:r>
            <a:endParaRPr lang="fa-IR" sz="2800" dirty="0"/>
          </a:p>
        </p:txBody>
      </p:sp>
      <p:sp>
        <p:nvSpPr>
          <p:cNvPr id="9" name="Editable text: نام، تیم، داخلی و وضعیت فعال یا بایگانی در یک محل"/>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نام، تیم، داخلی و وضعیت فعال یا بایگانی در یک محل</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۳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۲۳ / ۳۱</a:t>
            </a:r>
            <a:endParaRPr lang="fa-IR" sz="1000" dirty="0"/>
          </a:p>
        </p:txBody>
      </p:sp>
      <p:sp>
        <p:nvSpPr>
          <p:cNvPr id="14" name="Editable rect"/>
          <p:cNvSpPr/>
          <p:nvPr/>
        </p:nvSpPr>
        <p:spPr>
          <a:xfrm>
            <a:off x="502920" y="6830568"/>
            <a:ext cx="8303932"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agents.jpg" descr="فهرست تیم‌ها، عملیات کارشناسان و قالب نمونه Excel">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فهرست تیم‌ها، عملیات کارشناسان و قالب نمونه Excel"/>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فهرست تیم‌ها، عملیات کارشناسان و قالب نمونه Excel</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8BDF8"/>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8BDF8"/>
          </a:solidFill>
          <a:ln w="12700">
            <a:solidFill>
              <a:srgbClr val="38BDF8">
                <a:alpha val="0"/>
              </a:srgbClr>
            </a:solidFill>
            <a:prstDash val="solid"/>
          </a:ln>
        </p:spPr>
      </p:sp>
      <p:sp>
        <p:nvSpPr>
          <p:cNvPr id="25" name="Editable text: فهرست سازمان"/>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فهرست سازمان</a:t>
            </a:r>
            <a:endParaRPr lang="fa-IR" sz="1650" dirty="0"/>
          </a:p>
        </p:txBody>
      </p:sp>
      <p:sp>
        <p:nvSpPr>
          <p:cNvPr id="26" name="Editable text: افزودن کارشناس و تیم، جستجو و مرور وضعیت افراد."/>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افزودن کارشناس و تیم، جستجو و مرور وضعیت افراد.</a:t>
            </a:r>
            <a:endParaRPr lang="fa-IR" sz="1430" dirty="0"/>
          </a:p>
        </p:txBody>
      </p:sp>
      <p:sp>
        <p:nvSpPr>
          <p:cNvPr id="27" name="Editable rect"/>
          <p:cNvSpPr/>
          <p:nvPr/>
        </p:nvSpPr>
        <p:spPr>
          <a:xfrm>
            <a:off x="11686032" y="3255264"/>
            <a:ext cx="32004" cy="740664"/>
          </a:xfrm>
          <a:prstGeom prst="rect">
            <a:avLst/>
          </a:prstGeom>
          <a:solidFill>
            <a:srgbClr val="38BDF8"/>
          </a:solidFill>
          <a:ln w="12700">
            <a:solidFill>
              <a:srgbClr val="38BDF8">
                <a:alpha val="0"/>
              </a:srgbClr>
            </a:solidFill>
            <a:prstDash val="solid"/>
          </a:ln>
        </p:spPr>
      </p:sp>
      <p:sp>
        <p:nvSpPr>
          <p:cNvPr id="28" name="Editable text: ورود استاندارد"/>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ورود استاندارد</a:t>
            </a:r>
            <a:endParaRPr lang="fa-IR" sz="1650" dirty="0"/>
          </a:p>
        </p:txBody>
      </p:sp>
      <p:sp>
        <p:nvSpPr>
          <p:cNvPr id="29" name="Editable text: دانلود اکسل نمونه و ورود گروهی کارشناسان با ساختار مشخص."/>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دانلود اکسل نمونه و ورود گروهی کارشناسان با ساختار مشخص.</a:t>
            </a:r>
            <a:endParaRPr lang="fa-IR" sz="1430" dirty="0"/>
          </a:p>
        </p:txBody>
      </p:sp>
      <p:sp>
        <p:nvSpPr>
          <p:cNvPr id="30" name="Editable rect"/>
          <p:cNvSpPr/>
          <p:nvPr/>
        </p:nvSpPr>
        <p:spPr>
          <a:xfrm>
            <a:off x="11686032" y="4270248"/>
            <a:ext cx="32004" cy="740664"/>
          </a:xfrm>
          <a:prstGeom prst="rect">
            <a:avLst/>
          </a:prstGeom>
          <a:solidFill>
            <a:srgbClr val="38BDF8"/>
          </a:solidFill>
          <a:ln w="12700">
            <a:solidFill>
              <a:srgbClr val="38BDF8">
                <a:alpha val="0"/>
              </a:srgbClr>
            </a:solidFill>
            <a:prstDash val="solid"/>
          </a:ln>
        </p:spPr>
      </p:sp>
      <p:sp>
        <p:nvSpPr>
          <p:cNvPr id="31" name="Editable text: چرخه وضعیت"/>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چرخه وضعیت</a:t>
            </a:r>
            <a:endParaRPr lang="fa-IR" sz="1650" dirty="0"/>
          </a:p>
        </p:txBody>
      </p:sp>
      <p:sp>
        <p:nvSpPr>
          <p:cNvPr id="32" name="Editable text: بایگانی و بازیابی فرد؛ حذف همه فقط با تأیید صریح."/>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بایگانی و بازیابی فرد؛ حذف همه فقط با تأیید صریح.</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2B3D"/>
          </a:solidFill>
          <a:ln w="8890">
            <a:solidFill>
              <a:srgbClr val="38BDF8"/>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8BDF8"/>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یک مرجع برای گزارش و تطبیق اطلاعات"/>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یک مرجع برای گزارش و تطبیق اطلاعات</a:t>
            </a:r>
            <a:endParaRPr lang="fa-IR" sz="1340" dirty="0"/>
          </a:p>
        </p:txBody>
      </p:sp>
      <p:sp>
        <p:nvSpPr>
          <p:cNvPr id="36" name="Editable text: مدیریت کارشناسان"/>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مدیریت کارشناسان</a:t>
            </a:r>
            <a:endParaRPr lang="fa-IR" sz="9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مدیریت کارشناسان · ویرایش"/>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مدیریت کارشناسان · ویرایش</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ویرایش فرد؛ اطلاعات درست، سوابق محفوظ"/>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ویرایش فرد؛ اطلاعات درست، سوابق محفوظ</a:t>
            </a:r>
            <a:endParaRPr lang="fa-IR" sz="2800" dirty="0"/>
          </a:p>
        </p:txBody>
      </p:sp>
      <p:sp>
        <p:nvSpPr>
          <p:cNvPr id="9" name="Editable text: اصلاح نام، تیم، شماره داخلی و زیرمجموعه"/>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اصلاح نام، تیم، شماره داخلی و زیرمجموعه</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۴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۲۴ / ۳۱</a:t>
            </a:r>
            <a:endParaRPr lang="fa-IR" sz="1000" dirty="0"/>
          </a:p>
        </p:txBody>
      </p:sp>
      <p:sp>
        <p:nvSpPr>
          <p:cNvPr id="14" name="Editable rect"/>
          <p:cNvSpPr/>
          <p:nvPr/>
        </p:nvSpPr>
        <p:spPr>
          <a:xfrm>
            <a:off x="502920" y="6830568"/>
            <a:ext cx="8664972"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agent-edit.jpg" descr="فرم واقعی ویرایش اطلاعات کارشناس">    </p:cNvPr>
          <p:cNvPicPr>
            <a:picLocks noChangeAspect="1"/>
          </p:cNvPicPr>
          <p:nvPr/>
        </p:nvPicPr>
        <p:blipFill>
          <a:blip r:embed="rId3"/>
          <a:stretch>
            <a:fillRect/>
          </a:stretch>
        </p:blipFill>
        <p:spPr>
          <a:xfrm>
            <a:off x="1570482" y="2194560"/>
            <a:ext cx="5664708" cy="3776472"/>
          </a:xfrm>
          <a:prstGeom prst="rect">
            <a:avLst/>
          </a:prstGeom>
        </p:spPr>
      </p:pic>
      <p:sp>
        <p:nvSpPr>
          <p:cNvPr id="22" name="Editable text: فرم واقعی ویرایش اطلاعات کارشناس"/>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فرم واقعی ویرایش اطلاعات کارشناس</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8BDF8"/>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8BDF8"/>
          </a:solidFill>
          <a:ln w="12700">
            <a:solidFill>
              <a:srgbClr val="38BDF8">
                <a:alpha val="0"/>
              </a:srgbClr>
            </a:solidFill>
            <a:prstDash val="solid"/>
          </a:ln>
        </p:spPr>
      </p:sp>
      <p:sp>
        <p:nvSpPr>
          <p:cNvPr id="25" name="Editable text: ویرایش کامل"/>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ویرایش کامل</a:t>
            </a:r>
            <a:endParaRPr lang="fa-IR" sz="1650" dirty="0"/>
          </a:p>
        </p:txBody>
      </p:sp>
      <p:sp>
        <p:nvSpPr>
          <p:cNvPr id="26" name="Editable text: نام، تیم، داخلی و زیرمجموعه فرد در یک فرم."/>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نام، تیم، داخلی و زیرمجموعه فرد در یک فرم.</a:t>
            </a:r>
            <a:endParaRPr lang="fa-IR" sz="1430" dirty="0"/>
          </a:p>
        </p:txBody>
      </p:sp>
      <p:sp>
        <p:nvSpPr>
          <p:cNvPr id="27" name="Editable rect"/>
          <p:cNvSpPr/>
          <p:nvPr/>
        </p:nvSpPr>
        <p:spPr>
          <a:xfrm>
            <a:off x="11686032" y="3255264"/>
            <a:ext cx="32004" cy="740664"/>
          </a:xfrm>
          <a:prstGeom prst="rect">
            <a:avLst/>
          </a:prstGeom>
          <a:solidFill>
            <a:srgbClr val="38BDF8"/>
          </a:solidFill>
          <a:ln w="12700">
            <a:solidFill>
              <a:srgbClr val="38BDF8">
                <a:alpha val="0"/>
              </a:srgbClr>
            </a:solidFill>
            <a:prstDash val="solid"/>
          </a:ln>
        </p:spPr>
      </p:sp>
      <p:sp>
        <p:nvSpPr>
          <p:cNvPr id="28" name="Editable text: کنترل اعتبار"/>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کنترل اعتبار</a:t>
            </a:r>
            <a:endParaRPr lang="fa-IR" sz="1650" dirty="0"/>
          </a:p>
        </p:txBody>
      </p:sp>
      <p:sp>
        <p:nvSpPr>
          <p:cNvPr id="29" name="Editable text: پذیرش ارقام فارسی و کنترل داخلی نامعتبر یا تکراری."/>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پذیرش ارقام فارسی و کنترل داخلی نامعتبر یا تکراری.</a:t>
            </a:r>
            <a:endParaRPr lang="fa-IR" sz="1430" dirty="0"/>
          </a:p>
        </p:txBody>
      </p:sp>
      <p:sp>
        <p:nvSpPr>
          <p:cNvPr id="30" name="Editable rect"/>
          <p:cNvSpPr/>
          <p:nvPr/>
        </p:nvSpPr>
        <p:spPr>
          <a:xfrm>
            <a:off x="11686032" y="4270248"/>
            <a:ext cx="32004" cy="740664"/>
          </a:xfrm>
          <a:prstGeom prst="rect">
            <a:avLst/>
          </a:prstGeom>
          <a:solidFill>
            <a:srgbClr val="38BDF8"/>
          </a:solidFill>
          <a:ln w="12700">
            <a:solidFill>
              <a:srgbClr val="38BDF8">
                <a:alpha val="0"/>
              </a:srgbClr>
            </a:solidFill>
            <a:prstDash val="solid"/>
          </a:ln>
        </p:spPr>
      </p:sp>
      <p:sp>
        <p:nvSpPr>
          <p:cNvPr id="31" name="Editable text: حفظ ارتباط سوابق"/>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حفظ ارتباط سوابق</a:t>
            </a:r>
            <a:endParaRPr lang="fa-IR" sz="1650" dirty="0"/>
          </a:p>
        </p:txBody>
      </p:sp>
      <p:sp>
        <p:nvSpPr>
          <p:cNvPr id="32" name="Editable text: تغییر نامِ تأییدشده، سابقه و نام قبلی را برای تطبیق نگه می‌دارد."/>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تغییر نامِ تأییدشده، سابقه و نام قبلی را برای تطبیق نگه می‌دارد.</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2B3D"/>
          </a:solidFill>
          <a:ln w="8890">
            <a:solidFill>
              <a:srgbClr val="38BDF8"/>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8BDF8"/>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اصلاح هویت، بدون گم کردن تاریخچه"/>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اصلاح هویت، بدون گم کردن تاریخچه</a:t>
            </a:r>
            <a:endParaRPr lang="fa-IR" sz="1340" dirty="0"/>
          </a:p>
        </p:txBody>
      </p:sp>
      <p:sp>
        <p:nvSpPr>
          <p:cNvPr id="36" name="Editable text: مدیریت کارشناسان ← ویرایش"/>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مدیریت کارشناسان ← ویرایش</a:t>
            </a:r>
            <a:endParaRPr lang="fa-IR" sz="9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مدیریت کارشناسان · ارزیابان"/>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مدیریت کارشناسان · ارزیابان</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کارشناسان QC؛ فهرست ارزیابان سامانه"/>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کارشناسان QC؛ فهرست ارزیابان سامانه</a:t>
            </a:r>
            <a:endParaRPr lang="fa-IR" sz="2800" dirty="0"/>
          </a:p>
        </p:txBody>
      </p:sp>
      <p:sp>
        <p:nvSpPr>
          <p:cNvPr id="9" name="Editable text: تفکیک فرد ارزیابی‌شونده از مسئول کنترل کیفیت"/>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تفکیک فرد ارزیابی‌شونده از مسئول کنترل کیفیت</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۵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۲۵ / ۳۱</a:t>
            </a:r>
            <a:endParaRPr lang="fa-IR" sz="1000" dirty="0"/>
          </a:p>
        </p:txBody>
      </p:sp>
      <p:sp>
        <p:nvSpPr>
          <p:cNvPr id="14" name="Editable rect"/>
          <p:cNvSpPr/>
          <p:nvPr/>
        </p:nvSpPr>
        <p:spPr>
          <a:xfrm>
            <a:off x="502920" y="6830568"/>
            <a:ext cx="9026013"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qc-agents.jpg" descr="کارت کارشناسان کنترل کیفیت در صفحه مدیریت">    </p:cNvPr>
          <p:cNvPicPr>
            <a:picLocks noChangeAspect="1"/>
          </p:cNvPicPr>
          <p:nvPr/>
        </p:nvPicPr>
        <p:blipFill>
          <a:blip r:embed="rId3"/>
          <a:stretch>
            <a:fillRect/>
          </a:stretch>
        </p:blipFill>
        <p:spPr>
          <a:xfrm>
            <a:off x="621792" y="3474083"/>
            <a:ext cx="7562088" cy="1217426"/>
          </a:xfrm>
          <a:prstGeom prst="rect">
            <a:avLst/>
          </a:prstGeom>
        </p:spPr>
      </p:pic>
      <p:sp>
        <p:nvSpPr>
          <p:cNvPr id="22" name="Editable text: کارت کارشناسان کنترل کیفیت در صفحه مدیریت"/>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کارت کارشناسان کنترل کیفیت در صفحه مدیریت</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A78BFA"/>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A78BFA"/>
          </a:solidFill>
          <a:ln w="12700">
            <a:solidFill>
              <a:srgbClr val="A78BFA">
                <a:alpha val="0"/>
              </a:srgbClr>
            </a:solidFill>
            <a:prstDash val="solid"/>
          </a:ln>
        </p:spPr>
      </p:sp>
      <p:sp>
        <p:nvSpPr>
          <p:cNvPr id="25" name="Editable text: فهرست ارزیابان"/>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فهرست ارزیابان</a:t>
            </a:r>
            <a:endParaRPr lang="fa-IR" sz="1650" dirty="0"/>
          </a:p>
        </p:txBody>
      </p:sp>
      <p:sp>
        <p:nvSpPr>
          <p:cNvPr id="26" name="Editable text: تعریف و نگهداری نام کارشناسان کنترل کیفیت در همان صفحه مدیریت."/>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تعریف و نگهداری نام کارشناسان کنترل کیفیت در همان صفحه مدیریت.</a:t>
            </a:r>
            <a:endParaRPr lang="fa-IR" sz="1430" dirty="0"/>
          </a:p>
        </p:txBody>
      </p:sp>
      <p:sp>
        <p:nvSpPr>
          <p:cNvPr id="27" name="Editable rect"/>
          <p:cNvSpPr/>
          <p:nvPr/>
        </p:nvSpPr>
        <p:spPr>
          <a:xfrm>
            <a:off x="11686032" y="3255264"/>
            <a:ext cx="32004" cy="740664"/>
          </a:xfrm>
          <a:prstGeom prst="rect">
            <a:avLst/>
          </a:prstGeom>
          <a:solidFill>
            <a:srgbClr val="A78BFA"/>
          </a:solidFill>
          <a:ln w="12700">
            <a:solidFill>
              <a:srgbClr val="A78BFA">
                <a:alpha val="0"/>
              </a:srgbClr>
            </a:solidFill>
            <a:prstDash val="solid"/>
          </a:ln>
        </p:spPr>
      </p:sp>
      <p:sp>
        <p:nvSpPr>
          <p:cNvPr id="28" name="Editable text: اتصال به فرم‌ها"/>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اتصال به فرم‌ها</a:t>
            </a:r>
            <a:endParaRPr lang="fa-IR" sz="1650" dirty="0"/>
          </a:p>
        </p:txBody>
      </p:sp>
      <p:sp>
        <p:nvSpPr>
          <p:cNvPr id="29" name="Editable text: نام‌های این فهرست در ثبت ارزیابی تیکت و سوشال قابل انتخاب‌اند."/>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نام‌های این فهرست در ثبت ارزیابی تیکت و سوشال قابل انتخاب‌اند.</a:t>
            </a:r>
            <a:endParaRPr lang="fa-IR" sz="1430" dirty="0"/>
          </a:p>
        </p:txBody>
      </p:sp>
      <p:sp>
        <p:nvSpPr>
          <p:cNvPr id="30" name="Editable rect"/>
          <p:cNvSpPr/>
          <p:nvPr/>
        </p:nvSpPr>
        <p:spPr>
          <a:xfrm>
            <a:off x="11686032" y="4270248"/>
            <a:ext cx="32004" cy="740664"/>
          </a:xfrm>
          <a:prstGeom prst="rect">
            <a:avLst/>
          </a:prstGeom>
          <a:solidFill>
            <a:srgbClr val="A78BFA"/>
          </a:solidFill>
          <a:ln w="12700">
            <a:solidFill>
              <a:srgbClr val="A78BFA">
                <a:alpha val="0"/>
              </a:srgbClr>
            </a:solidFill>
            <a:prstDash val="solid"/>
          </a:ln>
        </p:spPr>
      </p:sp>
      <p:sp>
        <p:nvSpPr>
          <p:cNvPr id="31" name="Editable text: حفظ مرجع ثبت"/>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حفظ مرجع ثبت</a:t>
            </a:r>
            <a:endParaRPr lang="fa-IR" sz="1650" dirty="0"/>
          </a:p>
        </p:txBody>
      </p:sp>
      <p:sp>
        <p:nvSpPr>
          <p:cNvPr id="32" name="Editable text: هر ارزیابی، کارشناس بررسی‌شده و نام ارزیاب QC را جدا نگه می‌دارد."/>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هر ارزیابی، کارشناس بررسی‌شده و نام ارزیاب QC را جدا نگه می‌دارد.</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22203A"/>
          </a:solidFill>
          <a:ln w="8890">
            <a:solidFill>
              <a:srgbClr val="A78BFA"/>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A78BFA"/>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مشخص بودن مسئول ثبت هر ارزیابی"/>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مشخص بودن مسئول ثبت هر ارزیابی</a:t>
            </a:r>
            <a:endParaRPr lang="fa-IR" sz="1340" dirty="0"/>
          </a:p>
        </p:txBody>
      </p:sp>
      <p:sp>
        <p:nvSpPr>
          <p:cNvPr id="36" name="Editable text: مدیریت کارشناسان ← کارشناسان کنترل کیفیت"/>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مدیریت کارشناسان ← کارشناسان کنترل کیفیت</a:t>
            </a:r>
            <a:endParaRPr lang="fa-IR" sz="9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تغییر المان‌ها"/>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تغییر المان‌ها</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تغییر المان‌ها؛ معیارهای تماس قابل تنظیم"/>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تغییر المان‌ها؛ معیارهای تماس قابل تنظیم</a:t>
            </a:r>
            <a:endParaRPr lang="fa-IR" sz="2800" dirty="0"/>
          </a:p>
        </p:txBody>
      </p:sp>
      <p:sp>
        <p:nvSpPr>
          <p:cNvPr id="9" name="Editable text: نام نمایشی و ستون Excel برای فرم و تیم، بدون بازنمره‌دهی سوابق"/>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نام نمایشی و ستون Excel برای فرم و تیم، بدون بازنمره‌دهی سوابق</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۶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۲۶ / ۳۱</a:t>
            </a:r>
            <a:endParaRPr lang="fa-IR" sz="1000" dirty="0"/>
          </a:p>
        </p:txBody>
      </p:sp>
      <p:sp>
        <p:nvSpPr>
          <p:cNvPr id="14" name="Editable rect"/>
          <p:cNvSpPr/>
          <p:nvPr/>
        </p:nvSpPr>
        <p:spPr>
          <a:xfrm>
            <a:off x="502920" y="6830568"/>
            <a:ext cx="9387053"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criteria.jpg" descr="معیارهای تماس تیم MLM و ستون‌های متناظر Excel">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معیارهای تماس تیم MLM و ستون‌های متناظر Excel"/>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معیارهای تماس تیم MLM و ستون‌های متناظر Excel</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A78BFA"/>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A78BFA"/>
          </a:solidFill>
          <a:ln w="12700">
            <a:solidFill>
              <a:srgbClr val="A78BFA">
                <a:alpha val="0"/>
              </a:srgbClr>
            </a:solidFill>
            <a:prstDash val="solid"/>
          </a:ln>
        </p:spPr>
      </p:sp>
      <p:sp>
        <p:nvSpPr>
          <p:cNvPr id="25" name="Editable text: تنظیم فرم و تیم"/>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تنظیم فرم و تیم</a:t>
            </a:r>
            <a:endParaRPr lang="fa-IR" sz="1650" dirty="0"/>
          </a:p>
        </p:txBody>
      </p:sp>
      <p:sp>
        <p:nvSpPr>
          <p:cNvPr id="26" name="Editable text: تعریف پیش‌فرض هر فرم یا تنظیم اختصاصی یک تیم."/>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تعریف پیش‌فرض هر فرم یا تنظیم اختصاصی یک تیم.</a:t>
            </a:r>
            <a:endParaRPr lang="fa-IR" sz="1430" dirty="0"/>
          </a:p>
        </p:txBody>
      </p:sp>
      <p:sp>
        <p:nvSpPr>
          <p:cNvPr id="27" name="Editable rect"/>
          <p:cNvSpPr/>
          <p:nvPr/>
        </p:nvSpPr>
        <p:spPr>
          <a:xfrm>
            <a:off x="11686032" y="3255264"/>
            <a:ext cx="32004" cy="740664"/>
          </a:xfrm>
          <a:prstGeom prst="rect">
            <a:avLst/>
          </a:prstGeom>
          <a:solidFill>
            <a:srgbClr val="A78BFA"/>
          </a:solidFill>
          <a:ln w="12700">
            <a:solidFill>
              <a:srgbClr val="A78BFA">
                <a:alpha val="0"/>
              </a:srgbClr>
            </a:solidFill>
            <a:prstDash val="solid"/>
          </a:ln>
        </p:spPr>
      </p:sp>
      <p:sp>
        <p:nvSpPr>
          <p:cNvPr id="28" name="Editable text: مدیریت معیار"/>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مدیریت معیار</a:t>
            </a:r>
            <a:endParaRPr lang="fa-IR" sz="1650" dirty="0"/>
          </a:p>
        </p:txBody>
      </p:sp>
      <p:sp>
        <p:nvSpPr>
          <p:cNvPr id="29" name="Editable text: ویرایش نام و ستون، افزودن، حذف از فرم فعال یا فعال‌سازی دوباره."/>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ویرایش نام و ستون، افزودن، حذف از فرم فعال یا فعال‌سازی دوباره.</a:t>
            </a:r>
            <a:endParaRPr lang="fa-IR" sz="1430" dirty="0"/>
          </a:p>
        </p:txBody>
      </p:sp>
      <p:sp>
        <p:nvSpPr>
          <p:cNvPr id="30" name="Editable rect"/>
          <p:cNvSpPr/>
          <p:nvPr/>
        </p:nvSpPr>
        <p:spPr>
          <a:xfrm>
            <a:off x="11686032" y="4270248"/>
            <a:ext cx="32004" cy="740664"/>
          </a:xfrm>
          <a:prstGeom prst="rect">
            <a:avLst/>
          </a:prstGeom>
          <a:solidFill>
            <a:srgbClr val="A78BFA"/>
          </a:solidFill>
          <a:ln w="12700">
            <a:solidFill>
              <a:srgbClr val="A78BFA">
                <a:alpha val="0"/>
              </a:srgbClr>
            </a:solidFill>
            <a:prstDash val="solid"/>
          </a:ln>
        </p:spPr>
      </p:sp>
      <p:sp>
        <p:nvSpPr>
          <p:cNvPr id="31" name="Editable text: سازگاری با گذشته"/>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سازگاری با گذشته</a:t>
            </a:r>
            <a:endParaRPr lang="fa-IR" sz="1650" dirty="0"/>
          </a:p>
        </p:txBody>
      </p:sp>
      <p:sp>
        <p:nvSpPr>
          <p:cNvPr id="32" name="Editable text: شناسه ثابت و نام‌های قبلی ستون حفظ می‌شوند؛ نمره اصلی تغییر نمی‌ک"/>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شناسه ثابت و نام‌های قبلی ستون حفظ می‌شوند؛ نمره اصلی تغییر نمی‌کند.</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22203A"/>
          </a:solidFill>
          <a:ln w="8890">
            <a:solidFill>
              <a:srgbClr val="A78BFA"/>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A78BFA"/>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تطبیق فرم با نیاز تیم، با حفظ تاریخچه"/>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تطبیق فرم با نیاز تیم، با حفظ تاریخچه</a:t>
            </a:r>
            <a:endParaRPr lang="fa-IR" sz="1340" dirty="0"/>
          </a:p>
        </p:txBody>
      </p:sp>
      <p:sp>
        <p:nvSpPr>
          <p:cNvPr id="36" name="Editable text: تغییر المان‌ها"/>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تغییر المان‌ها</a:t>
            </a:r>
            <a:endParaRPr lang="fa-IR" sz="9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مدیریت پایه"/>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مدیریت پایه</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مدیریت پایه؛ تنظیم رفتار و نمایش سامانه"/>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مدیریت پایه؛ تنظیم رفتار و نمایش سامانه</a:t>
            </a:r>
            <a:endParaRPr lang="fa-IR" sz="2800" dirty="0"/>
          </a:p>
        </p:txBody>
      </p:sp>
      <p:sp>
        <p:nvSpPr>
          <p:cNvPr id="9" name="Editable text: ظاهر نمره‌ها، SLA، ساعات کاری و وزن‌های فرم‌ها"/>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ظاهر نمره‌ها، SLA، ساعات کاری و وزن‌های فرم‌ها</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۷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۲۷ / ۳۱</a:t>
            </a:r>
            <a:endParaRPr lang="fa-IR" sz="1000" dirty="0"/>
          </a:p>
        </p:txBody>
      </p:sp>
      <p:sp>
        <p:nvSpPr>
          <p:cNvPr id="14" name="Editable rect"/>
          <p:cNvSpPr/>
          <p:nvPr/>
        </p:nvSpPr>
        <p:spPr>
          <a:xfrm>
            <a:off x="502920" y="6830568"/>
            <a:ext cx="9748094"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02920" y="1755648"/>
            <a:ext cx="7799832" cy="4590288"/>
          </a:xfrm>
          <a:prstGeom prst="roundRect">
            <a:avLst>
              <a:gd name="adj" fmla="val 6000"/>
            </a:avLst>
          </a:prstGeom>
          <a:solidFill>
            <a:srgbClr val="0D1322"/>
          </a:solidFill>
          <a:ln w="8890">
            <a:solidFill>
              <a:srgbClr val="22304F"/>
            </a:solidFill>
            <a:prstDash val="solid"/>
          </a:ln>
        </p:spPr>
      </p:sp>
      <p:sp>
        <p:nvSpPr>
          <p:cNvPr id="16" name="Editable text: نمای واقعی سامانه"/>
          <p:cNvSpPr/>
          <p:nvPr/>
        </p:nvSpPr>
        <p:spPr>
          <a:xfrm>
            <a:off x="667512" y="1874520"/>
            <a:ext cx="7452360" cy="182880"/>
          </a:xfrm>
          <a:prstGeom prst="rect">
            <a:avLst/>
          </a:prstGeom>
          <a:noFill/>
          <a:ln/>
        </p:spPr>
        <p:txBody>
          <a:bodyPr wrap="square" lIns="0" tIns="0" rIns="0" bIns="0" rtlCol="0" anchor="t"/>
          <a:lstStyle/>
          <a:p>
            <a:pPr rtl="1" algn="r" indent="0" marL="0">
              <a:lnSpc>
                <a:spcPct val="113000"/>
              </a:lnSpc>
              <a:buNone/>
            </a:pPr>
            <a:r>
              <a:rPr lang="fa-IR" altLang="en-US" sz="1020" dirty="0">
                <a:solidFill>
                  <a:srgbClr val="8EA0BD"/>
                </a:solidFill>
                <a:latin typeface="Vazirmatn" pitchFamily="34" charset="0"/>
                <a:ea typeface="Vazirmatn" pitchFamily="34" charset="-122"/>
                <a:cs typeface="Vazirmatn" pitchFamily="34" charset="-120"/>
              </a:rPr>
              <a:t>نمای واقعی سامانه</a:t>
            </a:r>
            <a:endParaRPr lang="fa-IR" sz="1020" dirty="0"/>
          </a:p>
        </p:txBody>
      </p:sp>
      <p:sp>
        <p:nvSpPr>
          <p:cNvPr id="17" name="Editable ellipse"/>
          <p:cNvSpPr/>
          <p:nvPr/>
        </p:nvSpPr>
        <p:spPr>
          <a:xfrm>
            <a:off x="685800" y="1911096"/>
            <a:ext cx="50292" cy="50292"/>
          </a:xfrm>
          <a:prstGeom prst="ellipse">
            <a:avLst/>
          </a:prstGeom>
          <a:solidFill>
            <a:srgbClr val="38BDF8"/>
          </a:solidFill>
          <a:ln w="12700">
            <a:solidFill>
              <a:srgbClr val="38BDF8">
                <a:alpha val="0"/>
              </a:srgbClr>
            </a:solidFill>
            <a:prstDash val="solid"/>
          </a:ln>
        </p:spPr>
      </p:sp>
      <p:sp>
        <p:nvSpPr>
          <p:cNvPr id="18" name="Editable ellipse"/>
          <p:cNvSpPr/>
          <p:nvPr/>
        </p:nvSpPr>
        <p:spPr>
          <a:xfrm>
            <a:off x="804672" y="1911096"/>
            <a:ext cx="50292" cy="50292"/>
          </a:xfrm>
          <a:prstGeom prst="ellipse">
            <a:avLst/>
          </a:prstGeom>
          <a:solidFill>
            <a:srgbClr val="A78BFA"/>
          </a:solidFill>
          <a:ln w="12700">
            <a:solidFill>
              <a:srgbClr val="A78BFA">
                <a:alpha val="0"/>
              </a:srgbClr>
            </a:solidFill>
            <a:prstDash val="solid"/>
          </a:ln>
        </p:spPr>
      </p:sp>
      <p:sp>
        <p:nvSpPr>
          <p:cNvPr id="19" name="Editable ellipse"/>
          <p:cNvSpPr/>
          <p:nvPr/>
        </p:nvSpPr>
        <p:spPr>
          <a:xfrm>
            <a:off x="923544" y="1911096"/>
            <a:ext cx="50292" cy="50292"/>
          </a:xfrm>
          <a:prstGeom prst="ellipse">
            <a:avLst/>
          </a:prstGeom>
          <a:solidFill>
            <a:srgbClr val="34D399"/>
          </a:solidFill>
          <a:ln w="12700">
            <a:solidFill>
              <a:srgbClr val="34D399">
                <a:alpha val="0"/>
              </a:srgbClr>
            </a:solidFill>
            <a:prstDash val="solid"/>
          </a:ln>
        </p:spPr>
      </p:sp>
      <p:sp>
        <p:nvSpPr>
          <p:cNvPr id="20" name="Editable line"/>
          <p:cNvSpPr/>
          <p:nvPr/>
        </p:nvSpPr>
        <p:spPr>
          <a:xfrm>
            <a:off x="612648" y="2112264"/>
            <a:ext cx="7580376" cy="0"/>
          </a:xfrm>
          <a:prstGeom prst="line">
            <a:avLst/>
          </a:prstGeom>
          <a:solidFill>
            <a:srgbClr val="090D16"/>
          </a:solidFill>
          <a:ln w="7620">
            <a:solidFill>
              <a:srgbClr val="22304F"/>
            </a:solidFill>
            <a:prstDash val="solid"/>
          </a:ln>
        </p:spPr>
      </p:sp>
      <p:pic>
        <p:nvPicPr>
          <p:cNvPr id="21" name="Screenshot / image: settings.jpg" descr="کارت‌های تنظیمات نمایش، SLA و وزن فرمول‌ها">    </p:cNvPr>
          <p:cNvPicPr>
            <a:picLocks noChangeAspect="1"/>
          </p:cNvPicPr>
          <p:nvPr/>
        </p:nvPicPr>
        <p:blipFill>
          <a:blip r:embed="rId3"/>
          <a:stretch>
            <a:fillRect/>
          </a:stretch>
        </p:blipFill>
        <p:spPr>
          <a:xfrm>
            <a:off x="1030265" y="2194560"/>
            <a:ext cx="6745143" cy="3776472"/>
          </a:xfrm>
          <a:prstGeom prst="rect">
            <a:avLst/>
          </a:prstGeom>
        </p:spPr>
      </p:pic>
      <p:sp>
        <p:nvSpPr>
          <p:cNvPr id="22" name="Editable text: کارت‌های تنظیمات نمایش، SLA و وزن فرمول‌ها"/>
          <p:cNvSpPr/>
          <p:nvPr/>
        </p:nvSpPr>
        <p:spPr>
          <a:xfrm>
            <a:off x="676656" y="6080760"/>
            <a:ext cx="7452360" cy="173736"/>
          </a:xfrm>
          <a:prstGeom prst="rect">
            <a:avLst/>
          </a:prstGeom>
          <a:noFill/>
          <a:ln/>
        </p:spPr>
        <p:txBody>
          <a:bodyPr wrap="square" lIns="0" tIns="0" rIns="0" bIns="0" rtlCol="0" anchor="ctr"/>
          <a:lstStyle/>
          <a:p>
            <a:pPr rtl="1" algn="ctr" indent="0" marL="0">
              <a:lnSpc>
                <a:spcPct val="113000"/>
              </a:lnSpc>
              <a:buNone/>
            </a:pPr>
            <a:r>
              <a:rPr lang="fa-IR" altLang="en-US" sz="940" dirty="0">
                <a:solidFill>
                  <a:srgbClr val="8EA0BD"/>
                </a:solidFill>
                <a:latin typeface="Vazirmatn" pitchFamily="34" charset="0"/>
                <a:ea typeface="Vazirmatn" pitchFamily="34" charset="-122"/>
                <a:cs typeface="Vazirmatn" pitchFamily="34" charset="-120"/>
              </a:rPr>
              <a:t>کارت‌های تنظیمات نمایش، SLA و وزن فرمول‌ها</a:t>
            </a:r>
            <a:endParaRPr lang="fa-IR" sz="940" dirty="0"/>
          </a:p>
        </p:txBody>
      </p:sp>
      <p:sp>
        <p:nvSpPr>
          <p:cNvPr id="23" name="Editable text: این بخش چه می‌کند؟"/>
          <p:cNvSpPr/>
          <p:nvPr/>
        </p:nvSpPr>
        <p:spPr>
          <a:xfrm>
            <a:off x="8641080" y="1819656"/>
            <a:ext cx="2971800" cy="228600"/>
          </a:xfrm>
          <a:prstGeom prst="rect">
            <a:avLst/>
          </a:prstGeom>
          <a:noFill/>
          <a:ln/>
        </p:spPr>
        <p:txBody>
          <a:bodyPr wrap="square" lIns="0" tIns="0" rIns="0" bIns="0" rtlCol="0" anchor="t"/>
          <a:lstStyle/>
          <a:p>
            <a:pPr rtl="1" algn="r" indent="0" marL="0">
              <a:lnSpc>
                <a:spcPct val="113000"/>
              </a:lnSpc>
              <a:buNone/>
            </a:pPr>
            <a:r>
              <a:rPr lang="fa-IR" altLang="en-US" sz="1200" b="1" dirty="0">
                <a:solidFill>
                  <a:srgbClr val="38BDF8"/>
                </a:solidFill>
                <a:latin typeface="Vazirmatn" pitchFamily="34" charset="0"/>
                <a:ea typeface="Vazirmatn" pitchFamily="34" charset="-122"/>
                <a:cs typeface="Vazirmatn" pitchFamily="34" charset="-120"/>
              </a:rPr>
              <a:t>این بخش چه می‌کند؟</a:t>
            </a:r>
            <a:endParaRPr lang="fa-IR" sz="1200" dirty="0"/>
          </a:p>
        </p:txBody>
      </p:sp>
      <p:sp>
        <p:nvSpPr>
          <p:cNvPr id="24" name="Editable rect"/>
          <p:cNvSpPr/>
          <p:nvPr/>
        </p:nvSpPr>
        <p:spPr>
          <a:xfrm>
            <a:off x="11686032" y="2240280"/>
            <a:ext cx="32004" cy="740664"/>
          </a:xfrm>
          <a:prstGeom prst="rect">
            <a:avLst/>
          </a:prstGeom>
          <a:solidFill>
            <a:srgbClr val="38BDF8"/>
          </a:solidFill>
          <a:ln w="12700">
            <a:solidFill>
              <a:srgbClr val="38BDF8">
                <a:alpha val="0"/>
              </a:srgbClr>
            </a:solidFill>
            <a:prstDash val="solid"/>
          </a:ln>
        </p:spPr>
      </p:sp>
      <p:sp>
        <p:nvSpPr>
          <p:cNvPr id="25" name="Editable text: نمایش و نمره‌بندی"/>
          <p:cNvSpPr/>
          <p:nvPr/>
        </p:nvSpPr>
        <p:spPr>
          <a:xfrm>
            <a:off x="8622792" y="2221992"/>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نمایش و نمره‌بندی</a:t>
            </a:r>
            <a:endParaRPr lang="fa-IR" sz="1650" dirty="0"/>
          </a:p>
        </p:txBody>
      </p:sp>
      <p:sp>
        <p:nvSpPr>
          <p:cNvPr id="26" name="Editable text: نام سامانه، بازه پیش‌فرض داشبورد و آستانه‌های رنگ نمره."/>
          <p:cNvSpPr/>
          <p:nvPr/>
        </p:nvSpPr>
        <p:spPr>
          <a:xfrm>
            <a:off x="8622792" y="2569464"/>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نام سامانه، بازه پیش‌فرض داشبورد و آستانه‌های رنگ نمره.</a:t>
            </a:r>
            <a:endParaRPr lang="fa-IR" sz="1430" dirty="0"/>
          </a:p>
        </p:txBody>
      </p:sp>
      <p:sp>
        <p:nvSpPr>
          <p:cNvPr id="27" name="Editable rect"/>
          <p:cNvSpPr/>
          <p:nvPr/>
        </p:nvSpPr>
        <p:spPr>
          <a:xfrm>
            <a:off x="11686032" y="3255264"/>
            <a:ext cx="32004" cy="740664"/>
          </a:xfrm>
          <a:prstGeom prst="rect">
            <a:avLst/>
          </a:prstGeom>
          <a:solidFill>
            <a:srgbClr val="38BDF8"/>
          </a:solidFill>
          <a:ln w="12700">
            <a:solidFill>
              <a:srgbClr val="38BDF8">
                <a:alpha val="0"/>
              </a:srgbClr>
            </a:solidFill>
            <a:prstDash val="solid"/>
          </a:ln>
        </p:spPr>
      </p:sp>
      <p:sp>
        <p:nvSpPr>
          <p:cNvPr id="28" name="Editable text: SLA و ساعت کاری"/>
          <p:cNvSpPr/>
          <p:nvPr/>
        </p:nvSpPr>
        <p:spPr>
          <a:xfrm>
            <a:off x="8622792" y="3236976"/>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SLA و ساعت کاری</a:t>
            </a:r>
            <a:endParaRPr lang="fa-IR" sz="1650" dirty="0"/>
          </a:p>
        </p:txBody>
      </p:sp>
      <p:sp>
        <p:nvSpPr>
          <p:cNvPr id="29" name="Editable text: زمان مجاز پاسخ، شروع و پایان کار و روزهای تعطیل."/>
          <p:cNvSpPr/>
          <p:nvPr/>
        </p:nvSpPr>
        <p:spPr>
          <a:xfrm>
            <a:off x="8622792" y="3584448"/>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زمان مجاز پاسخ، شروع و پایان کار و روزهای تعطیل.</a:t>
            </a:r>
            <a:endParaRPr lang="fa-IR" sz="1430" dirty="0"/>
          </a:p>
        </p:txBody>
      </p:sp>
      <p:sp>
        <p:nvSpPr>
          <p:cNvPr id="30" name="Editable rect"/>
          <p:cNvSpPr/>
          <p:nvPr/>
        </p:nvSpPr>
        <p:spPr>
          <a:xfrm>
            <a:off x="11686032" y="4270248"/>
            <a:ext cx="32004" cy="740664"/>
          </a:xfrm>
          <a:prstGeom prst="rect">
            <a:avLst/>
          </a:prstGeom>
          <a:solidFill>
            <a:srgbClr val="38BDF8"/>
          </a:solidFill>
          <a:ln w="12700">
            <a:solidFill>
              <a:srgbClr val="38BDF8">
                <a:alpha val="0"/>
              </a:srgbClr>
            </a:solidFill>
            <a:prstDash val="solid"/>
          </a:ln>
        </p:spPr>
      </p:sp>
      <p:sp>
        <p:nvSpPr>
          <p:cNvPr id="31" name="Editable text: وزن ارزیابی‌ها"/>
          <p:cNvSpPr/>
          <p:nvPr/>
        </p:nvSpPr>
        <p:spPr>
          <a:xfrm>
            <a:off x="8622792" y="4251960"/>
            <a:ext cx="2907792"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وزن ارزیابی‌ها</a:t>
            </a:r>
            <a:endParaRPr lang="fa-IR" sz="1650" dirty="0"/>
          </a:p>
        </p:txBody>
      </p:sp>
      <p:sp>
        <p:nvSpPr>
          <p:cNvPr id="32" name="Editable text: تنظیم وزن معیارهای تیکت و سوشال و ذخیره همه تنظیمات."/>
          <p:cNvSpPr/>
          <p:nvPr/>
        </p:nvSpPr>
        <p:spPr>
          <a:xfrm>
            <a:off x="8622792" y="4599432"/>
            <a:ext cx="2907792" cy="667512"/>
          </a:xfrm>
          <a:prstGeom prst="rect">
            <a:avLst/>
          </a:prstGeom>
          <a:noFill/>
          <a:ln/>
        </p:spPr>
        <p:txBody>
          <a:bodyPr wrap="square" lIns="0" tIns="0" rIns="0" bIns="0" rtlCol="0" anchor="t"/>
          <a:lstStyle/>
          <a:p>
            <a:pPr rtl="1" algn="r" indent="0" marL="0">
              <a:lnSpc>
                <a:spcPct val="117000"/>
              </a:lnSpc>
              <a:buNone/>
            </a:pPr>
            <a:r>
              <a:rPr lang="fa-IR" altLang="en-US" sz="1430" dirty="0">
                <a:solidFill>
                  <a:srgbClr val="CBD5E1"/>
                </a:solidFill>
                <a:latin typeface="Vazirmatn" pitchFamily="34" charset="0"/>
                <a:ea typeface="Vazirmatn" pitchFamily="34" charset="-122"/>
                <a:cs typeface="Vazirmatn" pitchFamily="34" charset="-120"/>
              </a:rPr>
              <a:t>تنظیم وزن معیارهای تیکت و سوشال و ذخیره همه تنظیمات.</a:t>
            </a:r>
            <a:endParaRPr lang="fa-IR" sz="1430" dirty="0"/>
          </a:p>
        </p:txBody>
      </p:sp>
      <p:sp>
        <p:nvSpPr>
          <p:cNvPr id="33" name="Editable roundRect"/>
          <p:cNvSpPr/>
          <p:nvPr/>
        </p:nvSpPr>
        <p:spPr>
          <a:xfrm>
            <a:off x="8577072" y="5404104"/>
            <a:ext cx="3163824" cy="795528"/>
          </a:xfrm>
          <a:prstGeom prst="roundRect">
            <a:avLst>
              <a:gd name="adj" fmla="val 6000"/>
            </a:avLst>
          </a:prstGeom>
          <a:solidFill>
            <a:srgbClr val="102B3D"/>
          </a:solidFill>
          <a:ln w="8890">
            <a:solidFill>
              <a:srgbClr val="38BDF8"/>
            </a:solidFill>
            <a:prstDash val="solid"/>
          </a:ln>
        </p:spPr>
      </p:sp>
      <p:sp>
        <p:nvSpPr>
          <p:cNvPr id="34" name="Editable text: کاربرد اصلی"/>
          <p:cNvSpPr/>
          <p:nvPr/>
        </p:nvSpPr>
        <p:spPr>
          <a:xfrm>
            <a:off x="8732520" y="5504688"/>
            <a:ext cx="2834640" cy="188468"/>
          </a:xfrm>
          <a:prstGeom prst="rect">
            <a:avLst/>
          </a:prstGeom>
          <a:noFill/>
          <a:ln/>
        </p:spPr>
        <p:txBody>
          <a:bodyPr wrap="square" lIns="0" tIns="0" rIns="0" bIns="0" rtlCol="0" anchor="t"/>
          <a:lstStyle/>
          <a:p>
            <a:pPr rtl="1" algn="r" indent="0" marL="0">
              <a:lnSpc>
                <a:spcPct val="113000"/>
              </a:lnSpc>
              <a:buNone/>
            </a:pPr>
            <a:r>
              <a:rPr lang="fa-IR" altLang="en-US" sz="1060" b="1" dirty="0">
                <a:solidFill>
                  <a:srgbClr val="38BDF8"/>
                </a:solidFill>
                <a:latin typeface="Vazirmatn" pitchFamily="34" charset="0"/>
                <a:ea typeface="Vazirmatn" pitchFamily="34" charset="-122"/>
                <a:cs typeface="Vazirmatn" pitchFamily="34" charset="-120"/>
              </a:rPr>
              <a:t>کاربرد اصلی</a:t>
            </a:r>
            <a:endParaRPr lang="fa-IR" sz="1060" dirty="0"/>
          </a:p>
        </p:txBody>
      </p:sp>
      <p:sp>
        <p:nvSpPr>
          <p:cNvPr id="35" name="Editable text: هماهنگ کردن سامانه با قواعد سازمان"/>
          <p:cNvSpPr/>
          <p:nvPr/>
        </p:nvSpPr>
        <p:spPr>
          <a:xfrm>
            <a:off x="8732520" y="5724144"/>
            <a:ext cx="2834640" cy="429768"/>
          </a:xfrm>
          <a:prstGeom prst="rect">
            <a:avLst/>
          </a:prstGeom>
          <a:noFill/>
          <a:ln/>
        </p:spPr>
        <p:txBody>
          <a:bodyPr wrap="square" lIns="0" tIns="0" rIns="0" bIns="0" rtlCol="0" anchor="t"/>
          <a:lstStyle/>
          <a:p>
            <a:pPr rtl="1" algn="r" indent="0" marL="0">
              <a:lnSpc>
                <a:spcPct val="105000"/>
              </a:lnSpc>
              <a:buNone/>
            </a:pPr>
            <a:r>
              <a:rPr lang="fa-IR" altLang="en-US" sz="1340" b="1" dirty="0">
                <a:solidFill>
                  <a:srgbClr val="F1F5F9"/>
                </a:solidFill>
                <a:latin typeface="Vazirmatn" pitchFamily="34" charset="0"/>
                <a:ea typeface="Vazirmatn" pitchFamily="34" charset="-122"/>
                <a:cs typeface="Vazirmatn" pitchFamily="34" charset="-120"/>
              </a:rPr>
              <a:t>هماهنگ کردن سامانه با قواعد سازمان</a:t>
            </a:r>
            <a:endParaRPr lang="fa-IR" sz="1340" dirty="0"/>
          </a:p>
        </p:txBody>
      </p:sp>
      <p:sp>
        <p:nvSpPr>
          <p:cNvPr id="36" name="Editable text: مدیریت پایه"/>
          <p:cNvSpPr/>
          <p:nvPr/>
        </p:nvSpPr>
        <p:spPr>
          <a:xfrm>
            <a:off x="8613648" y="6236208"/>
            <a:ext cx="3108960" cy="192024"/>
          </a:xfrm>
          <a:prstGeom prst="rect">
            <a:avLst/>
          </a:prstGeom>
          <a:noFill/>
          <a:ln/>
        </p:spPr>
        <p:txBody>
          <a:bodyPr wrap="square" lIns="0" tIns="0" rIns="0" bIns="0" rtlCol="0" anchor="t"/>
          <a:lstStyle/>
          <a:p>
            <a:pPr rtl="1" algn="r" indent="0" marL="0">
              <a:lnSpc>
                <a:spcPct val="113000"/>
              </a:lnSpc>
              <a:buNone/>
            </a:pPr>
            <a:r>
              <a:rPr lang="fa-IR" altLang="en-US" sz="920" dirty="0">
                <a:solidFill>
                  <a:srgbClr val="8EA0BD"/>
                </a:solidFill>
                <a:latin typeface="Vazirmatn" pitchFamily="34" charset="0"/>
                <a:ea typeface="Vazirmatn" pitchFamily="34" charset="-122"/>
                <a:cs typeface="Vazirmatn" pitchFamily="34" charset="-120"/>
              </a:rPr>
              <a:t>مدیریت پایه</a:t>
            </a:r>
            <a:endParaRPr lang="fa-IR" sz="9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تجربه کاربری"/>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تجربه کاربری</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یک سامانه؛ دو حالت روشن و تاریک"/>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یک سامانه؛ دو حالت روشن و تاریک</a:t>
            </a:r>
            <a:endParaRPr lang="fa-IR" sz="2800" dirty="0"/>
          </a:p>
        </p:txBody>
      </p:sp>
      <p:sp>
        <p:nvSpPr>
          <p:cNvPr id="9" name="Editable text: تم انتخابی در نمودارها و ابزار مستقل هم هماهنگ می‌شود."/>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تم انتخابی در نمودارها و ابزار مستقل هم هماهنگ می‌شود.</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۸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۲۸ / ۳۱</a:t>
            </a:r>
            <a:endParaRPr lang="fa-IR" sz="1000" dirty="0"/>
          </a:p>
        </p:txBody>
      </p:sp>
      <p:sp>
        <p:nvSpPr>
          <p:cNvPr id="14" name="Editable rect"/>
          <p:cNvSpPr/>
          <p:nvPr/>
        </p:nvSpPr>
        <p:spPr>
          <a:xfrm>
            <a:off x="502920" y="6830568"/>
            <a:ext cx="10109134"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6291072" y="1828800"/>
            <a:ext cx="5404104" cy="3493008"/>
          </a:xfrm>
          <a:prstGeom prst="roundRect">
            <a:avLst>
              <a:gd name="adj" fmla="val 6000"/>
            </a:avLst>
          </a:prstGeom>
          <a:solidFill>
            <a:srgbClr val="0D1322"/>
          </a:solidFill>
          <a:ln w="8890">
            <a:solidFill>
              <a:srgbClr val="22304F"/>
            </a:solidFill>
            <a:prstDash val="solid"/>
          </a:ln>
        </p:spPr>
      </p:sp>
      <p:sp>
        <p:nvSpPr>
          <p:cNvPr id="16" name="Editable text: حالت تاریک"/>
          <p:cNvSpPr/>
          <p:nvPr/>
        </p:nvSpPr>
        <p:spPr>
          <a:xfrm>
            <a:off x="6455664" y="1965960"/>
            <a:ext cx="5056632" cy="266700"/>
          </a:xfrm>
          <a:prstGeom prst="rect">
            <a:avLst/>
          </a:prstGeom>
          <a:noFill/>
          <a:ln/>
        </p:spPr>
        <p:txBody>
          <a:bodyPr wrap="square" lIns="0" tIns="0" rIns="0" bIns="0" rtlCol="0" anchor="t"/>
          <a:lstStyle/>
          <a:p>
            <a:pPr rtl="1" algn="r" indent="0" marL="0">
              <a:lnSpc>
                <a:spcPct val="113000"/>
              </a:lnSpc>
              <a:buNone/>
            </a:pPr>
            <a:r>
              <a:rPr lang="fa-IR" altLang="en-US" sz="1500" b="1" dirty="0">
                <a:solidFill>
                  <a:srgbClr val="38BDF8"/>
                </a:solidFill>
                <a:latin typeface="Vazirmatn" pitchFamily="34" charset="0"/>
                <a:ea typeface="Vazirmatn" pitchFamily="34" charset="-122"/>
                <a:cs typeface="Vazirmatn" pitchFamily="34" charset="-120"/>
              </a:rPr>
              <a:t>حالت تاریک</a:t>
            </a:r>
            <a:endParaRPr lang="fa-IR" sz="1500" dirty="0"/>
          </a:p>
        </p:txBody>
      </p:sp>
      <p:pic>
        <p:nvPicPr>
          <p:cNvPr id="17" name="Screenshot / image: dashboard-full.jpg" descr="حالت تاریک">    </p:cNvPr>
          <p:cNvPicPr>
            <a:picLocks noChangeAspect="1"/>
          </p:cNvPicPr>
          <p:nvPr/>
        </p:nvPicPr>
        <p:blipFill>
          <a:blip r:embed="rId3"/>
          <a:stretch>
            <a:fillRect/>
          </a:stretch>
        </p:blipFill>
        <p:spPr>
          <a:xfrm>
            <a:off x="6544122" y="2377440"/>
            <a:ext cx="4898003" cy="2816352"/>
          </a:xfrm>
          <a:prstGeom prst="rect">
            <a:avLst/>
          </a:prstGeom>
        </p:spPr>
      </p:pic>
      <p:sp>
        <p:nvSpPr>
          <p:cNvPr id="18" name="Editable roundRect"/>
          <p:cNvSpPr/>
          <p:nvPr/>
        </p:nvSpPr>
        <p:spPr>
          <a:xfrm>
            <a:off x="502920" y="1828800"/>
            <a:ext cx="5404104" cy="3493008"/>
          </a:xfrm>
          <a:prstGeom prst="roundRect">
            <a:avLst>
              <a:gd name="adj" fmla="val 6000"/>
            </a:avLst>
          </a:prstGeom>
          <a:solidFill>
            <a:srgbClr val="0D1322"/>
          </a:solidFill>
          <a:ln w="8890">
            <a:solidFill>
              <a:srgbClr val="22304F"/>
            </a:solidFill>
            <a:prstDash val="solid"/>
          </a:ln>
        </p:spPr>
      </p:sp>
      <p:sp>
        <p:nvSpPr>
          <p:cNvPr id="19" name="Editable text: حالت روشن"/>
          <p:cNvSpPr/>
          <p:nvPr/>
        </p:nvSpPr>
        <p:spPr>
          <a:xfrm>
            <a:off x="667512" y="1965960"/>
            <a:ext cx="5056632" cy="266700"/>
          </a:xfrm>
          <a:prstGeom prst="rect">
            <a:avLst/>
          </a:prstGeom>
          <a:noFill/>
          <a:ln/>
        </p:spPr>
        <p:txBody>
          <a:bodyPr wrap="square" lIns="0" tIns="0" rIns="0" bIns="0" rtlCol="0" anchor="t"/>
          <a:lstStyle/>
          <a:p>
            <a:pPr rtl="1" algn="r" indent="0" marL="0">
              <a:lnSpc>
                <a:spcPct val="113000"/>
              </a:lnSpc>
              <a:buNone/>
            </a:pPr>
            <a:r>
              <a:rPr lang="fa-IR" altLang="en-US" sz="1500" b="1" dirty="0">
                <a:solidFill>
                  <a:srgbClr val="A78BFA"/>
                </a:solidFill>
                <a:latin typeface="Vazirmatn" pitchFamily="34" charset="0"/>
                <a:ea typeface="Vazirmatn" pitchFamily="34" charset="-122"/>
                <a:cs typeface="Vazirmatn" pitchFamily="34" charset="-120"/>
              </a:rPr>
              <a:t>حالت روشن</a:t>
            </a:r>
            <a:endParaRPr lang="fa-IR" sz="1500" dirty="0"/>
          </a:p>
        </p:txBody>
      </p:sp>
      <p:pic>
        <p:nvPicPr>
          <p:cNvPr id="20" name="Screenshot / image: dashboard-light.jpg" descr="حالت روشن">    </p:cNvPr>
          <p:cNvPicPr>
            <a:picLocks noChangeAspect="1"/>
          </p:cNvPicPr>
          <p:nvPr/>
        </p:nvPicPr>
        <p:blipFill>
          <a:blip r:embed="rId4"/>
          <a:stretch>
            <a:fillRect/>
          </a:stretch>
        </p:blipFill>
        <p:spPr>
          <a:xfrm>
            <a:off x="755970" y="2377440"/>
            <a:ext cx="4898003" cy="2816352"/>
          </a:xfrm>
          <a:prstGeom prst="rect">
            <a:avLst/>
          </a:prstGeom>
        </p:spPr>
      </p:pic>
      <p:sp>
        <p:nvSpPr>
          <p:cNvPr id="21" name="Editable roundRect"/>
          <p:cNvSpPr/>
          <p:nvPr/>
        </p:nvSpPr>
        <p:spPr>
          <a:xfrm>
            <a:off x="502920" y="5577840"/>
            <a:ext cx="11192256" cy="713232"/>
          </a:xfrm>
          <a:prstGeom prst="roundRect">
            <a:avLst>
              <a:gd name="adj" fmla="val 6000"/>
            </a:avLst>
          </a:prstGeom>
          <a:solidFill>
            <a:srgbClr val="111A2E"/>
          </a:solidFill>
          <a:ln w="8890">
            <a:solidFill>
              <a:srgbClr val="22304F"/>
            </a:solidFill>
            <a:prstDash val="solid"/>
          </a:ln>
        </p:spPr>
      </p:sp>
      <p:sp>
        <p:nvSpPr>
          <p:cNvPr id="22" name="Editable text: فقط نمایش تغییر می‌کند؛ داده و نمره ثابت می‌ماند."/>
          <p:cNvSpPr/>
          <p:nvPr/>
        </p:nvSpPr>
        <p:spPr>
          <a:xfrm>
            <a:off x="768096" y="5733288"/>
            <a:ext cx="10652760" cy="320040"/>
          </a:xfrm>
          <a:prstGeom prst="rect">
            <a:avLst/>
          </a:prstGeom>
          <a:noFill/>
          <a:ln/>
        </p:spPr>
        <p:txBody>
          <a:bodyPr wrap="square" lIns="0" tIns="0" rIns="0" bIns="0" rtlCol="0" anchor="t"/>
          <a:lstStyle/>
          <a:p>
            <a:pPr rtl="1" algn="ctr" indent="0" marL="0">
              <a:lnSpc>
                <a:spcPct val="113000"/>
              </a:lnSpc>
              <a:buNone/>
            </a:pPr>
            <a:r>
              <a:rPr lang="fa-IR" altLang="en-US" sz="1800" b="1" dirty="0">
                <a:solidFill>
                  <a:srgbClr val="F1F5F9"/>
                </a:solidFill>
                <a:latin typeface="Vazirmatn" pitchFamily="34" charset="0"/>
                <a:ea typeface="Vazirmatn" pitchFamily="34" charset="-122"/>
                <a:cs typeface="Vazirmatn" pitchFamily="34" charset="-120"/>
              </a:rPr>
              <a:t>فقط نمایش تغییر می‌کند؛ داده و نمره ثابت می‌ماند.</a:t>
            </a:r>
            <a:endParaRPr lang="fa-IR" sz="1800" dirty="0"/>
          </a:p>
        </p:txBody>
      </p:sp>
      <p:sp>
        <p:nvSpPr>
          <p:cNvPr id="23" name="Editable text: انتخاب تم در مرورگر حفظ می‌شود."/>
          <p:cNvSpPr/>
          <p:nvPr/>
        </p:nvSpPr>
        <p:spPr>
          <a:xfrm>
            <a:off x="768096" y="6080760"/>
            <a:ext cx="10652760" cy="206248"/>
          </a:xfrm>
          <a:prstGeom prst="rect">
            <a:avLst/>
          </a:prstGeom>
          <a:noFill/>
          <a:ln/>
        </p:spPr>
        <p:txBody>
          <a:bodyPr wrap="square" lIns="0" tIns="0" rIns="0" bIns="0" rtlCol="0" anchor="t"/>
          <a:lstStyle/>
          <a:p>
            <a:pPr rtl="1" algn="ctr" indent="0" marL="0">
              <a:lnSpc>
                <a:spcPct val="113000"/>
              </a:lnSpc>
              <a:buNone/>
            </a:pPr>
            <a:r>
              <a:rPr lang="fa-IR" altLang="en-US" sz="1160" dirty="0">
                <a:solidFill>
                  <a:srgbClr val="8EA0BD"/>
                </a:solidFill>
                <a:latin typeface="Vazirmatn" pitchFamily="34" charset="0"/>
                <a:ea typeface="Vazirmatn" pitchFamily="34" charset="-122"/>
                <a:cs typeface="Vazirmatn" pitchFamily="34" charset="-120"/>
              </a:rPr>
              <a:t>انتخاب تم در مرورگر حفظ می‌شود.</a:t>
            </a:r>
            <a:endParaRPr lang="fa-IR" sz="11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ذخیره و بازگشایی"/>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ذخیره و بازگشایی</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تأیید اطلاعات؛ ادامه از همان وضعیت"/>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تأیید اطلاعات؛ ادامه از همان وضعیت</a:t>
            </a:r>
            <a:endParaRPr lang="fa-IR" sz="2800" dirty="0"/>
          </a:p>
        </p:txBody>
      </p:sp>
      <p:sp>
        <p:nvSpPr>
          <p:cNvPr id="9" name="Editable text: تمام اطلاعات ثبت‌شده ذخیره می‌شود؛ نه فقط داده‌ای که اکنون فیلتر "/>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تمام اطلاعات ثبت‌شده ذخیره می‌شود؛ نه فقط داده‌ای که اکنون فیلتر شده است.</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۲۹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۲۹ / ۳۱</a:t>
            </a:r>
            <a:endParaRPr lang="fa-IR" sz="1000" dirty="0"/>
          </a:p>
        </p:txBody>
      </p:sp>
      <p:sp>
        <p:nvSpPr>
          <p:cNvPr id="14" name="Editable rect"/>
          <p:cNvSpPr/>
          <p:nvPr/>
        </p:nvSpPr>
        <p:spPr>
          <a:xfrm>
            <a:off x="502920" y="6830568"/>
            <a:ext cx="10470175"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521208" y="1792224"/>
            <a:ext cx="11155680" cy="2962656"/>
          </a:xfrm>
          <a:prstGeom prst="roundRect">
            <a:avLst>
              <a:gd name="adj" fmla="val 6000"/>
            </a:avLst>
          </a:prstGeom>
          <a:solidFill>
            <a:srgbClr val="0D1322"/>
          </a:solidFill>
          <a:ln w="8890">
            <a:solidFill>
              <a:srgbClr val="22304F"/>
            </a:solidFill>
            <a:prstDash val="solid"/>
          </a:ln>
        </p:spPr>
      </p:sp>
      <p:pic>
        <p:nvPicPr>
          <p:cNvPr id="16" name="Screenshot / image: confirmed-session.jpg" descr="منبع نسخه مرورگر و زمان آخرین تأیید واقعی">    </p:cNvPr>
          <p:cNvPicPr>
            <a:picLocks noChangeAspect="1"/>
          </p:cNvPicPr>
          <p:nvPr/>
        </p:nvPicPr>
        <p:blipFill>
          <a:blip r:embed="rId3"/>
          <a:stretch>
            <a:fillRect/>
          </a:stretch>
        </p:blipFill>
        <p:spPr>
          <a:xfrm>
            <a:off x="968167" y="1938528"/>
            <a:ext cx="10261763" cy="2688336"/>
          </a:xfrm>
          <a:prstGeom prst="rect">
            <a:avLst/>
          </a:prstGeom>
        </p:spPr>
      </p:pic>
      <p:sp>
        <p:nvSpPr>
          <p:cNvPr id="17" name="Editable roundRect"/>
          <p:cNvSpPr/>
          <p:nvPr/>
        </p:nvSpPr>
        <p:spPr>
          <a:xfrm>
            <a:off x="8302752" y="4965192"/>
            <a:ext cx="3374136" cy="1060704"/>
          </a:xfrm>
          <a:prstGeom prst="roundRect">
            <a:avLst>
              <a:gd name="adj" fmla="val 6000"/>
            </a:avLst>
          </a:prstGeom>
          <a:solidFill>
            <a:srgbClr val="111A2E"/>
          </a:solidFill>
          <a:ln w="8890">
            <a:solidFill>
              <a:srgbClr val="22304F"/>
            </a:solidFill>
            <a:prstDash val="solid"/>
          </a:ln>
        </p:spPr>
      </p:sp>
      <p:sp>
        <p:nvSpPr>
          <p:cNvPr id="18" name="Editable ellipse"/>
          <p:cNvSpPr/>
          <p:nvPr/>
        </p:nvSpPr>
        <p:spPr>
          <a:xfrm>
            <a:off x="11055096" y="5157216"/>
            <a:ext cx="384048" cy="384048"/>
          </a:xfrm>
          <a:prstGeom prst="ellipse">
            <a:avLst/>
          </a:prstGeom>
          <a:solidFill>
            <a:srgbClr val="103028"/>
          </a:solidFill>
          <a:ln w="12700">
            <a:solidFill>
              <a:srgbClr val="103028">
                <a:alpha val="0"/>
              </a:srgbClr>
            </a:solidFill>
            <a:prstDash val="solid"/>
          </a:ln>
        </p:spPr>
      </p:sp>
      <p:sp>
        <p:nvSpPr>
          <p:cNvPr id="19" name="Editable text: ۱"/>
          <p:cNvSpPr/>
          <p:nvPr/>
        </p:nvSpPr>
        <p:spPr>
          <a:xfrm>
            <a:off x="11073384" y="5212080"/>
            <a:ext cx="347472" cy="248920"/>
          </a:xfrm>
          <a:prstGeom prst="rect">
            <a:avLst/>
          </a:prstGeom>
          <a:noFill/>
          <a:ln/>
        </p:spPr>
        <p:txBody>
          <a:bodyPr wrap="square" lIns="0" tIns="0" rIns="0" bIns="0" rtlCol="0" anchor="t"/>
          <a:lstStyle/>
          <a:p>
            <a:pPr rtl="1" algn="ctr" indent="0" marL="0">
              <a:lnSpc>
                <a:spcPct val="113000"/>
              </a:lnSpc>
              <a:buNone/>
            </a:pPr>
            <a:r>
              <a:rPr lang="fa-IR" altLang="en-US" sz="1400" b="1" dirty="0">
                <a:solidFill>
                  <a:srgbClr val="34D399"/>
                </a:solidFill>
                <a:latin typeface="Vazirmatn" pitchFamily="34" charset="0"/>
                <a:ea typeface="Vazirmatn" pitchFamily="34" charset="-122"/>
                <a:cs typeface="Vazirmatn" pitchFamily="34" charset="-120"/>
              </a:rPr>
              <a:t>۱</a:t>
            </a:r>
            <a:endParaRPr lang="fa-IR" sz="1400" dirty="0"/>
          </a:p>
        </p:txBody>
      </p:sp>
      <p:sp>
        <p:nvSpPr>
          <p:cNvPr id="20" name="Editable text: داده را ثبت کنید"/>
          <p:cNvSpPr/>
          <p:nvPr/>
        </p:nvSpPr>
        <p:spPr>
          <a:xfrm>
            <a:off x="8467344" y="5166360"/>
            <a:ext cx="2432304"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داده را ثبت کنید</a:t>
            </a:r>
            <a:endParaRPr lang="fa-IR" sz="1650" dirty="0"/>
          </a:p>
        </p:txBody>
      </p:sp>
      <p:sp>
        <p:nvSpPr>
          <p:cNvPr id="21" name="Editable text: متنِ ذخیره‌نشده فرم، رکورد نیست."/>
          <p:cNvSpPr/>
          <p:nvPr/>
        </p:nvSpPr>
        <p:spPr>
          <a:xfrm>
            <a:off x="8467344" y="5541264"/>
            <a:ext cx="2962656" cy="301752"/>
          </a:xfrm>
          <a:prstGeom prst="rect">
            <a:avLst/>
          </a:prstGeom>
          <a:noFill/>
          <a:ln/>
        </p:spPr>
        <p:txBody>
          <a:bodyPr wrap="square" lIns="0" tIns="0" rIns="0" bIns="0" rtlCol="0" anchor="t"/>
          <a:lstStyle/>
          <a:p>
            <a:pPr rtl="1" algn="r" indent="0" marL="0">
              <a:lnSpc>
                <a:spcPct val="113000"/>
              </a:lnSpc>
              <a:buNone/>
            </a:pPr>
            <a:r>
              <a:rPr lang="fa-IR" altLang="en-US" sz="1230" dirty="0">
                <a:solidFill>
                  <a:srgbClr val="CBD5E1"/>
                </a:solidFill>
                <a:latin typeface="Vazirmatn" pitchFamily="34" charset="0"/>
                <a:ea typeface="Vazirmatn" pitchFamily="34" charset="-122"/>
                <a:cs typeface="Vazirmatn" pitchFamily="34" charset="-120"/>
              </a:rPr>
              <a:t>متنِ ذخیره‌نشده فرم، رکورد نیست.</a:t>
            </a:r>
            <a:endParaRPr lang="fa-IR" sz="1230" dirty="0"/>
          </a:p>
        </p:txBody>
      </p:sp>
      <p:sp>
        <p:nvSpPr>
          <p:cNvPr id="22" name="Editable roundRect"/>
          <p:cNvSpPr/>
          <p:nvPr/>
        </p:nvSpPr>
        <p:spPr>
          <a:xfrm>
            <a:off x="4407408" y="4965192"/>
            <a:ext cx="3374136" cy="1060704"/>
          </a:xfrm>
          <a:prstGeom prst="roundRect">
            <a:avLst>
              <a:gd name="adj" fmla="val 6000"/>
            </a:avLst>
          </a:prstGeom>
          <a:solidFill>
            <a:srgbClr val="111A2E"/>
          </a:solidFill>
          <a:ln w="8890">
            <a:solidFill>
              <a:srgbClr val="22304F"/>
            </a:solidFill>
            <a:prstDash val="solid"/>
          </a:ln>
        </p:spPr>
      </p:sp>
      <p:sp>
        <p:nvSpPr>
          <p:cNvPr id="23" name="Editable ellipse"/>
          <p:cNvSpPr/>
          <p:nvPr/>
        </p:nvSpPr>
        <p:spPr>
          <a:xfrm>
            <a:off x="7159752" y="5157216"/>
            <a:ext cx="384048" cy="384048"/>
          </a:xfrm>
          <a:prstGeom prst="ellipse">
            <a:avLst/>
          </a:prstGeom>
          <a:solidFill>
            <a:srgbClr val="103028"/>
          </a:solidFill>
          <a:ln w="12700">
            <a:solidFill>
              <a:srgbClr val="103028">
                <a:alpha val="0"/>
              </a:srgbClr>
            </a:solidFill>
            <a:prstDash val="solid"/>
          </a:ln>
        </p:spPr>
      </p:sp>
      <p:sp>
        <p:nvSpPr>
          <p:cNvPr id="24" name="Editable text: ۲"/>
          <p:cNvSpPr/>
          <p:nvPr/>
        </p:nvSpPr>
        <p:spPr>
          <a:xfrm>
            <a:off x="7178040" y="5212080"/>
            <a:ext cx="347472" cy="248920"/>
          </a:xfrm>
          <a:prstGeom prst="rect">
            <a:avLst/>
          </a:prstGeom>
          <a:noFill/>
          <a:ln/>
        </p:spPr>
        <p:txBody>
          <a:bodyPr wrap="square" lIns="0" tIns="0" rIns="0" bIns="0" rtlCol="0" anchor="t"/>
          <a:lstStyle/>
          <a:p>
            <a:pPr rtl="1" algn="ctr" indent="0" marL="0">
              <a:lnSpc>
                <a:spcPct val="113000"/>
              </a:lnSpc>
              <a:buNone/>
            </a:pPr>
            <a:r>
              <a:rPr lang="fa-IR" altLang="en-US" sz="1400" b="1" dirty="0">
                <a:solidFill>
                  <a:srgbClr val="34D399"/>
                </a:solidFill>
                <a:latin typeface="Vazirmatn" pitchFamily="34" charset="0"/>
                <a:ea typeface="Vazirmatn" pitchFamily="34" charset="-122"/>
                <a:cs typeface="Vazirmatn" pitchFamily="34" charset="-120"/>
              </a:rPr>
              <a:t>۲</a:t>
            </a:r>
            <a:endParaRPr lang="fa-IR" sz="1400" dirty="0"/>
          </a:p>
        </p:txBody>
      </p:sp>
      <p:sp>
        <p:nvSpPr>
          <p:cNvPr id="25" name="Editable text: تأیید اطلاعات"/>
          <p:cNvSpPr/>
          <p:nvPr/>
        </p:nvSpPr>
        <p:spPr>
          <a:xfrm>
            <a:off x="4572000" y="5166360"/>
            <a:ext cx="2432304"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تأیید اطلاعات</a:t>
            </a:r>
            <a:endParaRPr lang="fa-IR" sz="1650" dirty="0"/>
          </a:p>
        </p:txBody>
      </p:sp>
      <p:sp>
        <p:nvSpPr>
          <p:cNvPr id="26" name="Editable text: منتظر پیام موفقیت و زمان تأیید بمانید."/>
          <p:cNvSpPr/>
          <p:nvPr/>
        </p:nvSpPr>
        <p:spPr>
          <a:xfrm>
            <a:off x="4572000" y="5541264"/>
            <a:ext cx="2962656" cy="301752"/>
          </a:xfrm>
          <a:prstGeom prst="rect">
            <a:avLst/>
          </a:prstGeom>
          <a:noFill/>
          <a:ln/>
        </p:spPr>
        <p:txBody>
          <a:bodyPr wrap="square" lIns="0" tIns="0" rIns="0" bIns="0" rtlCol="0" anchor="t"/>
          <a:lstStyle/>
          <a:p>
            <a:pPr rtl="1" algn="r" indent="0" marL="0">
              <a:lnSpc>
                <a:spcPct val="113000"/>
              </a:lnSpc>
              <a:buNone/>
            </a:pPr>
            <a:r>
              <a:rPr lang="fa-IR" altLang="en-US" sz="1230" dirty="0">
                <a:solidFill>
                  <a:srgbClr val="CBD5E1"/>
                </a:solidFill>
                <a:latin typeface="Vazirmatn" pitchFamily="34" charset="0"/>
                <a:ea typeface="Vazirmatn" pitchFamily="34" charset="-122"/>
                <a:cs typeface="Vazirmatn" pitchFamily="34" charset="-120"/>
              </a:rPr>
              <a:t>منتظر پیام موفقیت و زمان تأیید بمانید.</a:t>
            </a:r>
            <a:endParaRPr lang="fa-IR" sz="1230" dirty="0"/>
          </a:p>
        </p:txBody>
      </p:sp>
      <p:sp>
        <p:nvSpPr>
          <p:cNvPr id="27" name="Editable roundRect"/>
          <p:cNvSpPr/>
          <p:nvPr/>
        </p:nvSpPr>
        <p:spPr>
          <a:xfrm>
            <a:off x="512064" y="4965192"/>
            <a:ext cx="3374136" cy="1060704"/>
          </a:xfrm>
          <a:prstGeom prst="roundRect">
            <a:avLst>
              <a:gd name="adj" fmla="val 6000"/>
            </a:avLst>
          </a:prstGeom>
          <a:solidFill>
            <a:srgbClr val="111A2E"/>
          </a:solidFill>
          <a:ln w="8890">
            <a:solidFill>
              <a:srgbClr val="22304F"/>
            </a:solidFill>
            <a:prstDash val="solid"/>
          </a:ln>
        </p:spPr>
      </p:sp>
      <p:sp>
        <p:nvSpPr>
          <p:cNvPr id="28" name="Editable ellipse"/>
          <p:cNvSpPr/>
          <p:nvPr/>
        </p:nvSpPr>
        <p:spPr>
          <a:xfrm>
            <a:off x="3264408" y="5157216"/>
            <a:ext cx="384048" cy="384048"/>
          </a:xfrm>
          <a:prstGeom prst="ellipse">
            <a:avLst/>
          </a:prstGeom>
          <a:solidFill>
            <a:srgbClr val="103028"/>
          </a:solidFill>
          <a:ln w="12700">
            <a:solidFill>
              <a:srgbClr val="103028">
                <a:alpha val="0"/>
              </a:srgbClr>
            </a:solidFill>
            <a:prstDash val="solid"/>
          </a:ln>
        </p:spPr>
      </p:sp>
      <p:sp>
        <p:nvSpPr>
          <p:cNvPr id="29" name="Editable text: ۳"/>
          <p:cNvSpPr/>
          <p:nvPr/>
        </p:nvSpPr>
        <p:spPr>
          <a:xfrm>
            <a:off x="3282696" y="5212080"/>
            <a:ext cx="347472" cy="248920"/>
          </a:xfrm>
          <a:prstGeom prst="rect">
            <a:avLst/>
          </a:prstGeom>
          <a:noFill/>
          <a:ln/>
        </p:spPr>
        <p:txBody>
          <a:bodyPr wrap="square" lIns="0" tIns="0" rIns="0" bIns="0" rtlCol="0" anchor="t"/>
          <a:lstStyle/>
          <a:p>
            <a:pPr rtl="1" algn="ctr" indent="0" marL="0">
              <a:lnSpc>
                <a:spcPct val="113000"/>
              </a:lnSpc>
              <a:buNone/>
            </a:pPr>
            <a:r>
              <a:rPr lang="fa-IR" altLang="en-US" sz="1400" b="1" dirty="0">
                <a:solidFill>
                  <a:srgbClr val="34D399"/>
                </a:solidFill>
                <a:latin typeface="Vazirmatn" pitchFamily="34" charset="0"/>
                <a:ea typeface="Vazirmatn" pitchFamily="34" charset="-122"/>
                <a:cs typeface="Vazirmatn" pitchFamily="34" charset="-120"/>
              </a:rPr>
              <a:t>۳</a:t>
            </a:r>
            <a:endParaRPr lang="fa-IR" sz="1400" dirty="0"/>
          </a:p>
        </p:txBody>
      </p:sp>
      <p:sp>
        <p:nvSpPr>
          <p:cNvPr id="30" name="Editable text: دوباره باز کنید"/>
          <p:cNvSpPr/>
          <p:nvPr/>
        </p:nvSpPr>
        <p:spPr>
          <a:xfrm>
            <a:off x="676656" y="5166360"/>
            <a:ext cx="2432304" cy="293370"/>
          </a:xfrm>
          <a:prstGeom prst="rect">
            <a:avLst/>
          </a:prstGeom>
          <a:noFill/>
          <a:ln/>
        </p:spPr>
        <p:txBody>
          <a:bodyPr wrap="square" lIns="0" tIns="0" rIns="0" bIns="0" rtlCol="0" anchor="t"/>
          <a:lstStyle/>
          <a:p>
            <a:pPr rtl="1" algn="r" indent="0" marL="0">
              <a:lnSpc>
                <a:spcPct val="113000"/>
              </a:lnSpc>
              <a:buNone/>
            </a:pPr>
            <a:r>
              <a:rPr lang="fa-IR" altLang="en-US" sz="1650" b="1" dirty="0">
                <a:solidFill>
                  <a:srgbClr val="F1F5F9"/>
                </a:solidFill>
                <a:latin typeface="Vazirmatn" pitchFamily="34" charset="0"/>
                <a:ea typeface="Vazirmatn" pitchFamily="34" charset="-122"/>
                <a:cs typeface="Vazirmatn" pitchFamily="34" charset="-120"/>
              </a:rPr>
              <a:t>دوباره باز کنید</a:t>
            </a:r>
            <a:endParaRPr lang="fa-IR" sz="1650" dirty="0"/>
          </a:p>
        </p:txBody>
      </p:sp>
      <p:sp>
        <p:nvSpPr>
          <p:cNvPr id="31" name="Editable text: در همان مرورگر و همان آدرس ادامه دهید."/>
          <p:cNvSpPr/>
          <p:nvPr/>
        </p:nvSpPr>
        <p:spPr>
          <a:xfrm>
            <a:off x="676656" y="5541264"/>
            <a:ext cx="2962656" cy="301752"/>
          </a:xfrm>
          <a:prstGeom prst="rect">
            <a:avLst/>
          </a:prstGeom>
          <a:noFill/>
          <a:ln/>
        </p:spPr>
        <p:txBody>
          <a:bodyPr wrap="square" lIns="0" tIns="0" rIns="0" bIns="0" rtlCol="0" anchor="t"/>
          <a:lstStyle/>
          <a:p>
            <a:pPr rtl="1" algn="r" indent="0" marL="0">
              <a:lnSpc>
                <a:spcPct val="113000"/>
              </a:lnSpc>
              <a:buNone/>
            </a:pPr>
            <a:r>
              <a:rPr lang="fa-IR" altLang="en-US" sz="1230" dirty="0">
                <a:solidFill>
                  <a:srgbClr val="CBD5E1"/>
                </a:solidFill>
                <a:latin typeface="Vazirmatn" pitchFamily="34" charset="0"/>
                <a:ea typeface="Vazirmatn" pitchFamily="34" charset="-122"/>
                <a:cs typeface="Vazirmatn" pitchFamily="34" charset="-120"/>
              </a:rPr>
              <a:t>در همان مرورگر و همان آدرس ادامه دهید.</a:t>
            </a:r>
            <a:endParaRPr lang="fa-IR" sz="1230" dirty="0"/>
          </a:p>
        </p:txBody>
      </p:sp>
      <p:sp>
        <p:nvSpPr>
          <p:cNvPr id="32" name="Editable text: تأیید مرورگر جای بک‌اپ دانلودی را نمی‌گیرد؛ پاک‌کردن داده سایت مم"/>
          <p:cNvSpPr/>
          <p:nvPr/>
        </p:nvSpPr>
        <p:spPr>
          <a:xfrm>
            <a:off x="576072" y="6236208"/>
            <a:ext cx="11027664" cy="220472"/>
          </a:xfrm>
          <a:prstGeom prst="rect">
            <a:avLst/>
          </a:prstGeom>
          <a:noFill/>
          <a:ln/>
        </p:spPr>
        <p:txBody>
          <a:bodyPr wrap="square" lIns="0" tIns="0" rIns="0" bIns="0" rtlCol="0" anchor="t"/>
          <a:lstStyle/>
          <a:p>
            <a:pPr rtl="1" algn="ctr" indent="0" marL="0">
              <a:lnSpc>
                <a:spcPct val="113000"/>
              </a:lnSpc>
              <a:buNone/>
            </a:pPr>
            <a:r>
              <a:rPr lang="fa-IR" altLang="en-US" sz="1240" dirty="0">
                <a:solidFill>
                  <a:srgbClr val="FBBF24"/>
                </a:solidFill>
                <a:latin typeface="Vazirmatn" pitchFamily="34" charset="0"/>
                <a:ea typeface="Vazirmatn" pitchFamily="34" charset="-122"/>
                <a:cs typeface="Vazirmatn" pitchFamily="34" charset="-120"/>
              </a:rPr>
              <a:t>تأیید مرورگر جای بک‌اپ دانلودی را نمی‌گیرد؛ پاک‌کردن داده سایت ممکن است نسخه محلی را حذف کند.</a:t>
            </a:r>
            <a:endParaRPr lang="fa-IR" sz="124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اصول خواندن گزارش"/>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اصول خواندن گزارش</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نمره قابل اعتماد؛ تفاوت صفر، خالی و نامرتبط"/>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نمره قابل اعتماد؛ تفاوت صفر، خالی و نامرتبط</a:t>
            </a:r>
            <a:endParaRPr lang="fa-IR" sz="2800" dirty="0"/>
          </a:p>
        </p:txBody>
      </p:sp>
      <p:sp>
        <p:nvSpPr>
          <p:cNvPr id="9" name="Editable text: معیارها از مقادیر واقعی فرم خوانده می‌شوند؛ نبود داده، شکست محسوب"/>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معیارها از مقادیر واقعی فرم خوانده می‌شوند؛ نبود داده، شکست محسوب نمی‌شود.</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۳۰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۳۰ / ۳۱</a:t>
            </a:r>
            <a:endParaRPr lang="fa-IR" sz="1000" dirty="0"/>
          </a:p>
        </p:txBody>
      </p:sp>
      <p:sp>
        <p:nvSpPr>
          <p:cNvPr id="14" name="Editable rect"/>
          <p:cNvSpPr/>
          <p:nvPr/>
        </p:nvSpPr>
        <p:spPr>
          <a:xfrm>
            <a:off x="502920" y="6830568"/>
            <a:ext cx="10831215"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8887968" y="1828800"/>
            <a:ext cx="2606040" cy="1773936"/>
          </a:xfrm>
          <a:prstGeom prst="roundRect">
            <a:avLst>
              <a:gd name="adj" fmla="val 6000"/>
            </a:avLst>
          </a:prstGeom>
          <a:solidFill>
            <a:srgbClr val="111A2E"/>
          </a:solidFill>
          <a:ln w="8890">
            <a:solidFill>
              <a:srgbClr val="22304F"/>
            </a:solidFill>
            <a:prstDash val="solid"/>
          </a:ln>
        </p:spPr>
      </p:sp>
      <p:sp>
        <p:nvSpPr>
          <p:cNvPr id="16" name="Editable text: ۱"/>
          <p:cNvSpPr/>
          <p:nvPr/>
        </p:nvSpPr>
        <p:spPr>
          <a:xfrm>
            <a:off x="9070848" y="1929384"/>
            <a:ext cx="2240280" cy="711200"/>
          </a:xfrm>
          <a:prstGeom prst="rect">
            <a:avLst/>
          </a:prstGeom>
          <a:noFill/>
          <a:ln/>
        </p:spPr>
        <p:txBody>
          <a:bodyPr wrap="square" lIns="0" tIns="0" rIns="0" bIns="0" rtlCol="0" anchor="t"/>
          <a:lstStyle/>
          <a:p>
            <a:pPr rtl="1" algn="ctr" indent="0" marL="0">
              <a:lnSpc>
                <a:spcPct val="113000"/>
              </a:lnSpc>
              <a:buNone/>
            </a:pPr>
            <a:r>
              <a:rPr lang="fa-IR" altLang="en-US" sz="4000" b="1" dirty="0">
                <a:solidFill>
                  <a:srgbClr val="34D399"/>
                </a:solidFill>
                <a:latin typeface="Vazirmatn" pitchFamily="34" charset="0"/>
                <a:ea typeface="Vazirmatn" pitchFamily="34" charset="-122"/>
                <a:cs typeface="Vazirmatn" pitchFamily="34" charset="-120"/>
              </a:rPr>
              <a:t>۱</a:t>
            </a:r>
            <a:endParaRPr lang="fa-IR" sz="4000" dirty="0"/>
          </a:p>
        </p:txBody>
      </p:sp>
      <p:sp>
        <p:nvSpPr>
          <p:cNvPr id="17" name="Editable text: رعایت شده"/>
          <p:cNvSpPr/>
          <p:nvPr/>
        </p:nvSpPr>
        <p:spPr>
          <a:xfrm>
            <a:off x="8997696" y="2743200"/>
            <a:ext cx="2386584" cy="288036"/>
          </a:xfrm>
          <a:prstGeom prst="rect">
            <a:avLst/>
          </a:prstGeom>
          <a:noFill/>
          <a:ln/>
        </p:spPr>
        <p:txBody>
          <a:bodyPr wrap="square" lIns="0" tIns="0" rIns="0" bIns="0" rtlCol="0" anchor="t"/>
          <a:lstStyle/>
          <a:p>
            <a:pPr rtl="1" algn="ctr" indent="0" marL="0">
              <a:lnSpc>
                <a:spcPct val="113000"/>
              </a:lnSpc>
              <a:buNone/>
            </a:pPr>
            <a:r>
              <a:rPr lang="fa-IR" altLang="en-US" sz="1620" b="1" dirty="0">
                <a:solidFill>
                  <a:srgbClr val="F1F5F9"/>
                </a:solidFill>
                <a:latin typeface="Vazirmatn" pitchFamily="34" charset="0"/>
                <a:ea typeface="Vazirmatn" pitchFamily="34" charset="-122"/>
                <a:cs typeface="Vazirmatn" pitchFamily="34" charset="-120"/>
              </a:rPr>
              <a:t>رعایت شده</a:t>
            </a:r>
            <a:endParaRPr lang="fa-IR" sz="1620" dirty="0"/>
          </a:p>
        </p:txBody>
      </p:sp>
      <p:sp>
        <p:nvSpPr>
          <p:cNvPr id="18" name="Editable text: در محاسبه نرخ لحاظ می‌شود."/>
          <p:cNvSpPr/>
          <p:nvPr/>
        </p:nvSpPr>
        <p:spPr>
          <a:xfrm>
            <a:off x="9025128" y="3172968"/>
            <a:ext cx="2331720" cy="274320"/>
          </a:xfrm>
          <a:prstGeom prst="rect">
            <a:avLst/>
          </a:prstGeom>
          <a:noFill/>
          <a:ln/>
        </p:spPr>
        <p:txBody>
          <a:bodyPr wrap="square" lIns="0" tIns="0" rIns="0" bIns="0" rtlCol="0" anchor="t"/>
          <a:lstStyle/>
          <a:p>
            <a:pPr rtl="1" algn="ctr" indent="0" marL="0">
              <a:lnSpc>
                <a:spcPct val="113000"/>
              </a:lnSpc>
              <a:buNone/>
            </a:pPr>
            <a:r>
              <a:rPr lang="fa-IR" altLang="en-US" sz="1120" dirty="0">
                <a:solidFill>
                  <a:srgbClr val="8EA0BD"/>
                </a:solidFill>
                <a:latin typeface="Vazirmatn" pitchFamily="34" charset="0"/>
                <a:ea typeface="Vazirmatn" pitchFamily="34" charset="-122"/>
                <a:cs typeface="Vazirmatn" pitchFamily="34" charset="-120"/>
              </a:rPr>
              <a:t>در محاسبه نرخ لحاظ می‌شود.</a:t>
            </a:r>
            <a:endParaRPr lang="fa-IR" sz="1120" dirty="0"/>
          </a:p>
        </p:txBody>
      </p:sp>
      <p:sp>
        <p:nvSpPr>
          <p:cNvPr id="19" name="Editable roundRect"/>
          <p:cNvSpPr/>
          <p:nvPr/>
        </p:nvSpPr>
        <p:spPr>
          <a:xfrm>
            <a:off x="6080760" y="1828800"/>
            <a:ext cx="2606040" cy="1773936"/>
          </a:xfrm>
          <a:prstGeom prst="roundRect">
            <a:avLst>
              <a:gd name="adj" fmla="val 6000"/>
            </a:avLst>
          </a:prstGeom>
          <a:solidFill>
            <a:srgbClr val="111A2E"/>
          </a:solidFill>
          <a:ln w="8890">
            <a:solidFill>
              <a:srgbClr val="22304F"/>
            </a:solidFill>
            <a:prstDash val="solid"/>
          </a:ln>
        </p:spPr>
      </p:sp>
      <p:sp>
        <p:nvSpPr>
          <p:cNvPr id="20" name="Editable text: ۰"/>
          <p:cNvSpPr/>
          <p:nvPr/>
        </p:nvSpPr>
        <p:spPr>
          <a:xfrm>
            <a:off x="6263640" y="1929384"/>
            <a:ext cx="2240280" cy="711200"/>
          </a:xfrm>
          <a:prstGeom prst="rect">
            <a:avLst/>
          </a:prstGeom>
          <a:noFill/>
          <a:ln/>
        </p:spPr>
        <p:txBody>
          <a:bodyPr wrap="square" lIns="0" tIns="0" rIns="0" bIns="0" rtlCol="0" anchor="t"/>
          <a:lstStyle/>
          <a:p>
            <a:pPr rtl="1" algn="ctr" indent="0" marL="0">
              <a:lnSpc>
                <a:spcPct val="113000"/>
              </a:lnSpc>
              <a:buNone/>
            </a:pPr>
            <a:r>
              <a:rPr lang="fa-IR" altLang="en-US" sz="4000" b="1" dirty="0">
                <a:solidFill>
                  <a:srgbClr val="F87171"/>
                </a:solidFill>
                <a:latin typeface="Vazirmatn" pitchFamily="34" charset="0"/>
                <a:ea typeface="Vazirmatn" pitchFamily="34" charset="-122"/>
                <a:cs typeface="Vazirmatn" pitchFamily="34" charset="-120"/>
              </a:rPr>
              <a:t>۰</a:t>
            </a:r>
            <a:endParaRPr lang="fa-IR" sz="4000" dirty="0"/>
          </a:p>
        </p:txBody>
      </p:sp>
      <p:sp>
        <p:nvSpPr>
          <p:cNvPr id="21" name="Editable text: عدم رعایت"/>
          <p:cNvSpPr/>
          <p:nvPr/>
        </p:nvSpPr>
        <p:spPr>
          <a:xfrm>
            <a:off x="6190488" y="2743200"/>
            <a:ext cx="2386584" cy="288036"/>
          </a:xfrm>
          <a:prstGeom prst="rect">
            <a:avLst/>
          </a:prstGeom>
          <a:noFill/>
          <a:ln/>
        </p:spPr>
        <p:txBody>
          <a:bodyPr wrap="square" lIns="0" tIns="0" rIns="0" bIns="0" rtlCol="0" anchor="t"/>
          <a:lstStyle/>
          <a:p>
            <a:pPr rtl="1" algn="ctr" indent="0" marL="0">
              <a:lnSpc>
                <a:spcPct val="113000"/>
              </a:lnSpc>
              <a:buNone/>
            </a:pPr>
            <a:r>
              <a:rPr lang="fa-IR" altLang="en-US" sz="1620" b="1" dirty="0">
                <a:solidFill>
                  <a:srgbClr val="F1F5F9"/>
                </a:solidFill>
                <a:latin typeface="Vazirmatn" pitchFamily="34" charset="0"/>
                <a:ea typeface="Vazirmatn" pitchFamily="34" charset="-122"/>
                <a:cs typeface="Vazirmatn" pitchFamily="34" charset="-120"/>
              </a:rPr>
              <a:t>عدم رعایت</a:t>
            </a:r>
            <a:endParaRPr lang="fa-IR" sz="1620" dirty="0"/>
          </a:p>
        </p:txBody>
      </p:sp>
      <p:sp>
        <p:nvSpPr>
          <p:cNvPr id="22" name="Editable text: صفر واقعی با نبود داده فرق دارد."/>
          <p:cNvSpPr/>
          <p:nvPr/>
        </p:nvSpPr>
        <p:spPr>
          <a:xfrm>
            <a:off x="6217920" y="3172968"/>
            <a:ext cx="2331720" cy="274320"/>
          </a:xfrm>
          <a:prstGeom prst="rect">
            <a:avLst/>
          </a:prstGeom>
          <a:noFill/>
          <a:ln/>
        </p:spPr>
        <p:txBody>
          <a:bodyPr wrap="square" lIns="0" tIns="0" rIns="0" bIns="0" rtlCol="0" anchor="t"/>
          <a:lstStyle/>
          <a:p>
            <a:pPr rtl="1" algn="ctr" indent="0" marL="0">
              <a:lnSpc>
                <a:spcPct val="113000"/>
              </a:lnSpc>
              <a:buNone/>
            </a:pPr>
            <a:r>
              <a:rPr lang="fa-IR" altLang="en-US" sz="1120" dirty="0">
                <a:solidFill>
                  <a:srgbClr val="8EA0BD"/>
                </a:solidFill>
                <a:latin typeface="Vazirmatn" pitchFamily="34" charset="0"/>
                <a:ea typeface="Vazirmatn" pitchFamily="34" charset="-122"/>
                <a:cs typeface="Vazirmatn" pitchFamily="34" charset="-120"/>
              </a:rPr>
              <a:t>صفر واقعی با نبود داده فرق دارد.</a:t>
            </a:r>
            <a:endParaRPr lang="fa-IR" sz="1120" dirty="0"/>
          </a:p>
        </p:txBody>
      </p:sp>
      <p:sp>
        <p:nvSpPr>
          <p:cNvPr id="23" name="Editable roundRect"/>
          <p:cNvSpPr/>
          <p:nvPr/>
        </p:nvSpPr>
        <p:spPr>
          <a:xfrm>
            <a:off x="3273552" y="1828800"/>
            <a:ext cx="2606040" cy="1773936"/>
          </a:xfrm>
          <a:prstGeom prst="roundRect">
            <a:avLst>
              <a:gd name="adj" fmla="val 6000"/>
            </a:avLst>
          </a:prstGeom>
          <a:solidFill>
            <a:srgbClr val="111A2E"/>
          </a:solidFill>
          <a:ln w="8890">
            <a:solidFill>
              <a:srgbClr val="22304F"/>
            </a:solidFill>
            <a:prstDash val="solid"/>
          </a:ln>
        </p:spPr>
      </p:sp>
      <p:sp>
        <p:nvSpPr>
          <p:cNvPr id="24" name="Editable text: -"/>
          <p:cNvSpPr/>
          <p:nvPr/>
        </p:nvSpPr>
        <p:spPr>
          <a:xfrm>
            <a:off x="3456432" y="1929384"/>
            <a:ext cx="2240280" cy="711200"/>
          </a:xfrm>
          <a:prstGeom prst="rect">
            <a:avLst/>
          </a:prstGeom>
          <a:noFill/>
          <a:ln/>
        </p:spPr>
        <p:txBody>
          <a:bodyPr wrap="square" lIns="0" tIns="0" rIns="0" bIns="0" rtlCol="0" anchor="t"/>
          <a:lstStyle/>
          <a:p>
            <a:pPr algn="ctr" indent="0" marL="0">
              <a:lnSpc>
                <a:spcPct val="113000"/>
              </a:lnSpc>
              <a:buNone/>
            </a:pPr>
            <a:r>
              <a:rPr lang="fa-IR" altLang="en-US" sz="4000" b="1" dirty="0">
                <a:solidFill>
                  <a:srgbClr val="FBBF24"/>
                </a:solidFill>
                <a:latin typeface="Vazirmatn" pitchFamily="34" charset="0"/>
                <a:ea typeface="Vazirmatn" pitchFamily="34" charset="-122"/>
                <a:cs typeface="Vazirmatn" pitchFamily="34" charset="-120"/>
              </a:rPr>
              <a:t>-</a:t>
            </a:r>
            <a:endParaRPr lang="fa-IR" sz="4000" dirty="0"/>
          </a:p>
        </p:txBody>
      </p:sp>
      <p:sp>
        <p:nvSpPr>
          <p:cNvPr id="25" name="Editable text: موضوعیت نداشته"/>
          <p:cNvSpPr/>
          <p:nvPr/>
        </p:nvSpPr>
        <p:spPr>
          <a:xfrm>
            <a:off x="3383280" y="2743200"/>
            <a:ext cx="2386584" cy="288036"/>
          </a:xfrm>
          <a:prstGeom prst="rect">
            <a:avLst/>
          </a:prstGeom>
          <a:noFill/>
          <a:ln/>
        </p:spPr>
        <p:txBody>
          <a:bodyPr wrap="square" lIns="0" tIns="0" rIns="0" bIns="0" rtlCol="0" anchor="t"/>
          <a:lstStyle/>
          <a:p>
            <a:pPr rtl="1" algn="ctr" indent="0" marL="0">
              <a:lnSpc>
                <a:spcPct val="113000"/>
              </a:lnSpc>
              <a:buNone/>
            </a:pPr>
            <a:r>
              <a:rPr lang="fa-IR" altLang="en-US" sz="1620" b="1" dirty="0">
                <a:solidFill>
                  <a:srgbClr val="F1F5F9"/>
                </a:solidFill>
                <a:latin typeface="Vazirmatn" pitchFamily="34" charset="0"/>
                <a:ea typeface="Vazirmatn" pitchFamily="34" charset="-122"/>
                <a:cs typeface="Vazirmatn" pitchFamily="34" charset="-120"/>
              </a:rPr>
              <a:t>موضوعیت نداشته</a:t>
            </a:r>
            <a:endParaRPr lang="fa-IR" sz="1620" dirty="0"/>
          </a:p>
        </p:txBody>
      </p:sp>
      <p:sp>
        <p:nvSpPr>
          <p:cNvPr id="26" name="Editable text: از مخرج نرخ کنار گذاشته می‌شود."/>
          <p:cNvSpPr/>
          <p:nvPr/>
        </p:nvSpPr>
        <p:spPr>
          <a:xfrm>
            <a:off x="3410712" y="3172968"/>
            <a:ext cx="2331720" cy="274320"/>
          </a:xfrm>
          <a:prstGeom prst="rect">
            <a:avLst/>
          </a:prstGeom>
          <a:noFill/>
          <a:ln/>
        </p:spPr>
        <p:txBody>
          <a:bodyPr wrap="square" lIns="0" tIns="0" rIns="0" bIns="0" rtlCol="0" anchor="t"/>
          <a:lstStyle/>
          <a:p>
            <a:pPr rtl="1" algn="ctr" indent="0" marL="0">
              <a:lnSpc>
                <a:spcPct val="113000"/>
              </a:lnSpc>
              <a:buNone/>
            </a:pPr>
            <a:r>
              <a:rPr lang="fa-IR" altLang="en-US" sz="1120" dirty="0">
                <a:solidFill>
                  <a:srgbClr val="8EA0BD"/>
                </a:solidFill>
                <a:latin typeface="Vazirmatn" pitchFamily="34" charset="0"/>
                <a:ea typeface="Vazirmatn" pitchFamily="34" charset="-122"/>
                <a:cs typeface="Vazirmatn" pitchFamily="34" charset="-120"/>
              </a:rPr>
              <a:t>از مخرج نرخ کنار گذاشته می‌شود.</a:t>
            </a:r>
            <a:endParaRPr lang="fa-IR" sz="1120" dirty="0"/>
          </a:p>
        </p:txBody>
      </p:sp>
      <p:sp>
        <p:nvSpPr>
          <p:cNvPr id="27" name="Editable roundRect"/>
          <p:cNvSpPr/>
          <p:nvPr/>
        </p:nvSpPr>
        <p:spPr>
          <a:xfrm>
            <a:off x="466344" y="1828800"/>
            <a:ext cx="2606040" cy="1773936"/>
          </a:xfrm>
          <a:prstGeom prst="roundRect">
            <a:avLst>
              <a:gd name="adj" fmla="val 6000"/>
            </a:avLst>
          </a:prstGeom>
          <a:solidFill>
            <a:srgbClr val="111A2E"/>
          </a:solidFill>
          <a:ln w="8890">
            <a:solidFill>
              <a:srgbClr val="22304F"/>
            </a:solidFill>
            <a:prstDash val="solid"/>
          </a:ln>
        </p:spPr>
      </p:sp>
      <p:sp>
        <p:nvSpPr>
          <p:cNvPr id="28" name="Editable text: —"/>
          <p:cNvSpPr/>
          <p:nvPr/>
        </p:nvSpPr>
        <p:spPr>
          <a:xfrm>
            <a:off x="649224" y="1929384"/>
            <a:ext cx="2240280" cy="711200"/>
          </a:xfrm>
          <a:prstGeom prst="rect">
            <a:avLst/>
          </a:prstGeom>
          <a:noFill/>
          <a:ln/>
        </p:spPr>
        <p:txBody>
          <a:bodyPr wrap="square" lIns="0" tIns="0" rIns="0" bIns="0" rtlCol="0" anchor="t"/>
          <a:lstStyle/>
          <a:p>
            <a:pPr rtl="1" algn="ctr" indent="0" marL="0">
              <a:lnSpc>
                <a:spcPct val="113000"/>
              </a:lnSpc>
              <a:buNone/>
            </a:pPr>
            <a:r>
              <a:rPr lang="fa-IR" altLang="en-US" sz="4000" b="1" dirty="0">
                <a:solidFill>
                  <a:srgbClr val="8EA0BD"/>
                </a:solidFill>
                <a:latin typeface="Vazirmatn" pitchFamily="34" charset="0"/>
                <a:ea typeface="Vazirmatn" pitchFamily="34" charset="-122"/>
                <a:cs typeface="Vazirmatn" pitchFamily="34" charset="-120"/>
              </a:rPr>
              <a:t>—</a:t>
            </a:r>
            <a:endParaRPr lang="fa-IR" sz="4000" dirty="0"/>
          </a:p>
        </p:txBody>
      </p:sp>
      <p:sp>
        <p:nvSpPr>
          <p:cNvPr id="29" name="Editable text: ثبت‌نشده"/>
          <p:cNvSpPr/>
          <p:nvPr/>
        </p:nvSpPr>
        <p:spPr>
          <a:xfrm>
            <a:off x="576072" y="2743200"/>
            <a:ext cx="2386584" cy="288036"/>
          </a:xfrm>
          <a:prstGeom prst="rect">
            <a:avLst/>
          </a:prstGeom>
          <a:noFill/>
          <a:ln/>
        </p:spPr>
        <p:txBody>
          <a:bodyPr wrap="square" lIns="0" tIns="0" rIns="0" bIns="0" rtlCol="0" anchor="t"/>
          <a:lstStyle/>
          <a:p>
            <a:pPr rtl="1" algn="ctr" indent="0" marL="0">
              <a:lnSpc>
                <a:spcPct val="113000"/>
              </a:lnSpc>
              <a:buNone/>
            </a:pPr>
            <a:r>
              <a:rPr lang="fa-IR" altLang="en-US" sz="1620" b="1" dirty="0">
                <a:solidFill>
                  <a:srgbClr val="F1F5F9"/>
                </a:solidFill>
                <a:latin typeface="Vazirmatn" pitchFamily="34" charset="0"/>
                <a:ea typeface="Vazirmatn" pitchFamily="34" charset="-122"/>
                <a:cs typeface="Vazirmatn" pitchFamily="34" charset="-120"/>
              </a:rPr>
              <a:t>ثبت‌نشده</a:t>
            </a:r>
            <a:endParaRPr lang="fa-IR" sz="1620" dirty="0"/>
          </a:p>
        </p:txBody>
      </p:sp>
      <p:sp>
        <p:nvSpPr>
          <p:cNvPr id="30" name="Editable text: نه صفر است و نه نامرتبط."/>
          <p:cNvSpPr/>
          <p:nvPr/>
        </p:nvSpPr>
        <p:spPr>
          <a:xfrm>
            <a:off x="603504" y="3172968"/>
            <a:ext cx="2331720" cy="274320"/>
          </a:xfrm>
          <a:prstGeom prst="rect">
            <a:avLst/>
          </a:prstGeom>
          <a:noFill/>
          <a:ln/>
        </p:spPr>
        <p:txBody>
          <a:bodyPr wrap="square" lIns="0" tIns="0" rIns="0" bIns="0" rtlCol="0" anchor="t"/>
          <a:lstStyle/>
          <a:p>
            <a:pPr rtl="1" algn="ctr" indent="0" marL="0">
              <a:lnSpc>
                <a:spcPct val="113000"/>
              </a:lnSpc>
              <a:buNone/>
            </a:pPr>
            <a:r>
              <a:rPr lang="fa-IR" altLang="en-US" sz="1120" dirty="0">
                <a:solidFill>
                  <a:srgbClr val="8EA0BD"/>
                </a:solidFill>
                <a:latin typeface="Vazirmatn" pitchFamily="34" charset="0"/>
                <a:ea typeface="Vazirmatn" pitchFamily="34" charset="-122"/>
                <a:cs typeface="Vazirmatn" pitchFamily="34" charset="-120"/>
              </a:rPr>
              <a:t>نه صفر است و نه نامرتبط.</a:t>
            </a:r>
            <a:endParaRPr lang="fa-IR" sz="1120" dirty="0"/>
          </a:p>
        </p:txBody>
      </p:sp>
      <p:sp>
        <p:nvSpPr>
          <p:cNvPr id="31" name="Editable roundRect"/>
          <p:cNvSpPr/>
          <p:nvPr/>
        </p:nvSpPr>
        <p:spPr>
          <a:xfrm>
            <a:off x="6263640" y="3877056"/>
            <a:ext cx="5239512" cy="1536192"/>
          </a:xfrm>
          <a:prstGeom prst="roundRect">
            <a:avLst>
              <a:gd name="adj" fmla="val 6000"/>
            </a:avLst>
          </a:prstGeom>
          <a:solidFill>
            <a:srgbClr val="102B3D"/>
          </a:solidFill>
          <a:ln w="8890">
            <a:solidFill>
              <a:srgbClr val="38BDF8"/>
            </a:solidFill>
            <a:prstDash val="solid"/>
          </a:ln>
        </p:spPr>
      </p:sp>
      <p:sp>
        <p:nvSpPr>
          <p:cNvPr id="32" name="Editable text: نرخ رعایت معیار"/>
          <p:cNvSpPr/>
          <p:nvPr/>
        </p:nvSpPr>
        <p:spPr>
          <a:xfrm>
            <a:off x="6510528" y="4096512"/>
            <a:ext cx="4736592" cy="355600"/>
          </a:xfrm>
          <a:prstGeom prst="rect">
            <a:avLst/>
          </a:prstGeom>
          <a:noFill/>
          <a:ln/>
        </p:spPr>
        <p:txBody>
          <a:bodyPr wrap="square" lIns="0" tIns="0" rIns="0" bIns="0" rtlCol="0" anchor="t"/>
          <a:lstStyle/>
          <a:p>
            <a:pPr rtl="1" algn="r" indent="0" marL="0">
              <a:lnSpc>
                <a:spcPct val="113000"/>
              </a:lnSpc>
              <a:buNone/>
            </a:pPr>
            <a:r>
              <a:rPr lang="fa-IR" altLang="en-US" sz="2000" b="1" dirty="0">
                <a:solidFill>
                  <a:srgbClr val="38BDF8"/>
                </a:solidFill>
                <a:latin typeface="Vazirmatn" pitchFamily="34" charset="0"/>
                <a:ea typeface="Vazirmatn" pitchFamily="34" charset="-122"/>
                <a:cs typeface="Vazirmatn" pitchFamily="34" charset="-120"/>
              </a:rPr>
              <a:t>نرخ رعایت معیار</a:t>
            </a:r>
            <a:endParaRPr lang="fa-IR" sz="2000" dirty="0"/>
          </a:p>
        </p:txBody>
      </p:sp>
      <p:sp>
        <p:nvSpPr>
          <p:cNvPr id="33" name="Editable text: رعایت ÷ (رعایت + عدم رعایت)"/>
          <p:cNvSpPr/>
          <p:nvPr/>
        </p:nvSpPr>
        <p:spPr>
          <a:xfrm>
            <a:off x="6510528" y="4599432"/>
            <a:ext cx="4736592" cy="311150"/>
          </a:xfrm>
          <a:prstGeom prst="rect">
            <a:avLst/>
          </a:prstGeom>
          <a:noFill/>
          <a:ln/>
        </p:spPr>
        <p:txBody>
          <a:bodyPr wrap="square" lIns="0" tIns="0" rIns="0" bIns="0" rtlCol="0" anchor="t"/>
          <a:lstStyle/>
          <a:p>
            <a:pPr rtl="1" algn="r" indent="0" marL="0">
              <a:lnSpc>
                <a:spcPct val="113000"/>
              </a:lnSpc>
              <a:buNone/>
            </a:pPr>
            <a:r>
              <a:rPr lang="fa-IR" altLang="en-US" sz="1750" b="1" dirty="0">
                <a:solidFill>
                  <a:srgbClr val="F1F5F9"/>
                </a:solidFill>
                <a:latin typeface="Vazirmatn" pitchFamily="34" charset="0"/>
                <a:ea typeface="Vazirmatn" pitchFamily="34" charset="-122"/>
                <a:cs typeface="Vazirmatn" pitchFamily="34" charset="-120"/>
              </a:rPr>
              <a:t>رعایت ÷ (رعایت + عدم رعایت)</a:t>
            </a:r>
            <a:endParaRPr lang="fa-IR" sz="1750" dirty="0"/>
          </a:p>
        </p:txBody>
      </p:sp>
      <p:sp>
        <p:nvSpPr>
          <p:cNvPr id="34" name="Editable text: نامرتبط و ثبت‌نشده در این مخرج نیستند."/>
          <p:cNvSpPr/>
          <p:nvPr/>
        </p:nvSpPr>
        <p:spPr>
          <a:xfrm>
            <a:off x="6510528" y="5065776"/>
            <a:ext cx="4736592" cy="220472"/>
          </a:xfrm>
          <a:prstGeom prst="rect">
            <a:avLst/>
          </a:prstGeom>
          <a:noFill/>
          <a:ln/>
        </p:spPr>
        <p:txBody>
          <a:bodyPr wrap="square" lIns="0" tIns="0" rIns="0" bIns="0" rtlCol="0" anchor="t"/>
          <a:lstStyle/>
          <a:p>
            <a:pPr rtl="1" algn="r" indent="0" marL="0">
              <a:lnSpc>
                <a:spcPct val="113000"/>
              </a:lnSpc>
              <a:buNone/>
            </a:pPr>
            <a:r>
              <a:rPr lang="fa-IR" altLang="en-US" sz="1240" dirty="0">
                <a:solidFill>
                  <a:srgbClr val="CBD5E1"/>
                </a:solidFill>
                <a:latin typeface="Vazirmatn" pitchFamily="34" charset="0"/>
                <a:ea typeface="Vazirmatn" pitchFamily="34" charset="-122"/>
                <a:cs typeface="Vazirmatn" pitchFamily="34" charset="-120"/>
              </a:rPr>
              <a:t>نامرتبط و ثبت‌نشده در این مخرج نیستند.</a:t>
            </a:r>
            <a:endParaRPr lang="fa-IR" sz="1240" dirty="0"/>
          </a:p>
        </p:txBody>
      </p:sp>
      <p:sp>
        <p:nvSpPr>
          <p:cNvPr id="35" name="Editable roundRect"/>
          <p:cNvSpPr/>
          <p:nvPr/>
        </p:nvSpPr>
        <p:spPr>
          <a:xfrm>
            <a:off x="512064" y="3877056"/>
            <a:ext cx="5477256" cy="1536192"/>
          </a:xfrm>
          <a:prstGeom prst="roundRect">
            <a:avLst>
              <a:gd name="adj" fmla="val 6000"/>
            </a:avLst>
          </a:prstGeom>
          <a:solidFill>
            <a:srgbClr val="22203A"/>
          </a:solidFill>
          <a:ln w="8890">
            <a:solidFill>
              <a:srgbClr val="A78BFA"/>
            </a:solidFill>
            <a:prstDash val="solid"/>
          </a:ln>
        </p:spPr>
      </p:sp>
      <p:sp>
        <p:nvSpPr>
          <p:cNvPr id="36" name="Editable text: صفر واقعی ≠ نمره خالی"/>
          <p:cNvSpPr/>
          <p:nvPr/>
        </p:nvSpPr>
        <p:spPr>
          <a:xfrm>
            <a:off x="749808" y="4096512"/>
            <a:ext cx="5001768" cy="355600"/>
          </a:xfrm>
          <a:prstGeom prst="rect">
            <a:avLst/>
          </a:prstGeom>
          <a:noFill/>
          <a:ln/>
        </p:spPr>
        <p:txBody>
          <a:bodyPr wrap="square" lIns="0" tIns="0" rIns="0" bIns="0" rtlCol="0" anchor="t"/>
          <a:lstStyle/>
          <a:p>
            <a:pPr rtl="1" algn="r" indent="0" marL="0">
              <a:lnSpc>
                <a:spcPct val="113000"/>
              </a:lnSpc>
              <a:buNone/>
            </a:pPr>
            <a:r>
              <a:rPr lang="fa-IR" altLang="en-US" sz="2000" b="1" dirty="0">
                <a:solidFill>
                  <a:srgbClr val="A78BFA"/>
                </a:solidFill>
                <a:latin typeface="Vazirmatn" pitchFamily="34" charset="0"/>
                <a:ea typeface="Vazirmatn" pitchFamily="34" charset="-122"/>
                <a:cs typeface="Vazirmatn" pitchFamily="34" charset="-120"/>
              </a:rPr>
              <a:t>صفر واقعی ≠ نمره خالی</a:t>
            </a:r>
            <a:endParaRPr lang="fa-IR" sz="2000" dirty="0"/>
          </a:p>
        </p:txBody>
      </p:sp>
      <p:sp>
        <p:nvSpPr>
          <p:cNvPr id="37" name="Editable text: صفر در میانگین هست؛ نمره خالی نیست."/>
          <p:cNvSpPr/>
          <p:nvPr/>
        </p:nvSpPr>
        <p:spPr>
          <a:xfrm>
            <a:off x="749808" y="4590288"/>
            <a:ext cx="5001768" cy="347472"/>
          </a:xfrm>
          <a:prstGeom prst="rect">
            <a:avLst/>
          </a:prstGeom>
          <a:noFill/>
          <a:ln/>
        </p:spPr>
        <p:txBody>
          <a:bodyPr wrap="square" lIns="0" tIns="0" rIns="0" bIns="0" rtlCol="0" anchor="t"/>
          <a:lstStyle/>
          <a:p>
            <a:pPr rtl="1" algn="r" indent="0" marL="0">
              <a:lnSpc>
                <a:spcPct val="113000"/>
              </a:lnSpc>
              <a:buNone/>
            </a:pPr>
            <a:r>
              <a:rPr lang="fa-IR" altLang="en-US" sz="1710" b="1" dirty="0">
                <a:solidFill>
                  <a:srgbClr val="F1F5F9"/>
                </a:solidFill>
                <a:latin typeface="Vazirmatn" pitchFamily="34" charset="0"/>
                <a:ea typeface="Vazirmatn" pitchFamily="34" charset="-122"/>
                <a:cs typeface="Vazirmatn" pitchFamily="34" charset="-120"/>
              </a:rPr>
              <a:t>صفر در میانگین هست؛ نمره خالی نیست.</a:t>
            </a:r>
            <a:endParaRPr lang="fa-IR" sz="1710" dirty="0"/>
          </a:p>
        </p:txBody>
      </p:sp>
      <p:sp>
        <p:nvSpPr>
          <p:cNvPr id="38" name="Editable text: نمره کلی تماس از مقدار اصلی فایل می‌آید."/>
          <p:cNvSpPr/>
          <p:nvPr/>
        </p:nvSpPr>
        <p:spPr>
          <a:xfrm>
            <a:off x="749808" y="5065776"/>
            <a:ext cx="5001768" cy="220472"/>
          </a:xfrm>
          <a:prstGeom prst="rect">
            <a:avLst/>
          </a:prstGeom>
          <a:noFill/>
          <a:ln/>
        </p:spPr>
        <p:txBody>
          <a:bodyPr wrap="square" lIns="0" tIns="0" rIns="0" bIns="0" rtlCol="0" anchor="t"/>
          <a:lstStyle/>
          <a:p>
            <a:pPr rtl="1" algn="r" indent="0" marL="0">
              <a:lnSpc>
                <a:spcPct val="113000"/>
              </a:lnSpc>
              <a:buNone/>
            </a:pPr>
            <a:r>
              <a:rPr lang="fa-IR" altLang="en-US" sz="1240" dirty="0">
                <a:solidFill>
                  <a:srgbClr val="CBD5E1"/>
                </a:solidFill>
                <a:latin typeface="Vazirmatn" pitchFamily="34" charset="0"/>
                <a:ea typeface="Vazirmatn" pitchFamily="34" charset="-122"/>
                <a:cs typeface="Vazirmatn" pitchFamily="34" charset="-120"/>
              </a:rPr>
              <a:t>نمره کلی تماس از مقدار اصلی فایل می‌آید.</a:t>
            </a:r>
            <a:endParaRPr lang="fa-IR" sz="1240" dirty="0"/>
          </a:p>
        </p:txBody>
      </p:sp>
      <p:sp>
        <p:nvSpPr>
          <p:cNvPr id="39" name="Editable text: قبل از تصمیم درباره فرد، تعداد نمونه و جزئیات ارزیابی را هم ببینی"/>
          <p:cNvSpPr/>
          <p:nvPr/>
        </p:nvSpPr>
        <p:spPr>
          <a:xfrm>
            <a:off x="548640" y="5870448"/>
            <a:ext cx="11073384" cy="320040"/>
          </a:xfrm>
          <a:prstGeom prst="rect">
            <a:avLst/>
          </a:prstGeom>
          <a:noFill/>
          <a:ln/>
        </p:spPr>
        <p:txBody>
          <a:bodyPr wrap="square" lIns="0" tIns="0" rIns="0" bIns="0" rtlCol="0" anchor="t"/>
          <a:lstStyle/>
          <a:p>
            <a:pPr rtl="1" algn="ctr" indent="0" marL="0">
              <a:lnSpc>
                <a:spcPct val="113000"/>
              </a:lnSpc>
              <a:buNone/>
            </a:pPr>
            <a:r>
              <a:rPr lang="fa-IR" altLang="en-US" sz="1740" dirty="0">
                <a:solidFill>
                  <a:srgbClr val="CBD5E1"/>
                </a:solidFill>
                <a:latin typeface="Vazirmatn" pitchFamily="34" charset="0"/>
                <a:ea typeface="Vazirmatn" pitchFamily="34" charset="-122"/>
                <a:cs typeface="Vazirmatn" pitchFamily="34" charset="-120"/>
              </a:rPr>
              <a:t>قبل از تصمیم درباره فرد، تعداد نمونه و جزئیات ارزیابی را هم ببینید.</a:t>
            </a:r>
            <a:endParaRPr lang="fa-IR" sz="174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90D16"/>
        </a:solidFill>
      </p:bgPr>
    </p:bg>
    <p:spTree>
      <p:nvGrpSpPr>
        <p:cNvPr id="1" name=""/>
        <p:cNvGrpSpPr/>
        <p:nvPr/>
      </p:nvGrpSpPr>
      <p:grpSpPr>
        <a:xfrm>
          <a:off x="0" y="0"/>
          <a:ext cx="0" cy="0"/>
          <a:chOff x="0" y="0"/>
          <a:chExt cx="0" cy="0"/>
        </a:xfrm>
      </p:grpSpPr>
      <p:sp>
        <p:nvSpPr>
          <p:cNvPr id="2" name="Editable roundRect"/>
          <p:cNvSpPr/>
          <p:nvPr/>
        </p:nvSpPr>
        <p:spPr>
          <a:xfrm>
            <a:off x="475488" y="228600"/>
            <a:ext cx="1435608" cy="274320"/>
          </a:xfrm>
          <a:prstGeom prst="roundRect">
            <a:avLst>
              <a:gd name="adj" fmla="val 6000"/>
            </a:avLst>
          </a:prstGeom>
          <a:solidFill>
            <a:srgbClr val="102B3D"/>
          </a:solidFill>
          <a:ln w="12700">
            <a:solidFill>
              <a:srgbClr val="102B3D">
                <a:alpha val="0"/>
              </a:srgbClr>
            </a:solidFill>
            <a:prstDash val="solid"/>
          </a:ln>
        </p:spPr>
      </p:sp>
      <p:sp>
        <p:nvSpPr>
          <p:cNvPr id="3" name="Editable text: معرفی سامانه"/>
          <p:cNvSpPr/>
          <p:nvPr/>
        </p:nvSpPr>
        <p:spPr>
          <a:xfrm>
            <a:off x="603504" y="265176"/>
            <a:ext cx="1179576" cy="184912"/>
          </a:xfrm>
          <a:prstGeom prst="rect">
            <a:avLst/>
          </a:prstGeom>
          <a:noFill/>
          <a:ln/>
        </p:spPr>
        <p:txBody>
          <a:bodyPr wrap="square" lIns="0" tIns="0" rIns="0" bIns="0" rtlCol="0" anchor="ctr"/>
          <a:lstStyle/>
          <a:p>
            <a:pPr rtl="1" algn="ctr" indent="0" marL="0">
              <a:lnSpc>
                <a:spcPct val="113000"/>
              </a:lnSpc>
              <a:buNone/>
            </a:pPr>
            <a:r>
              <a:rPr lang="fa-IR" altLang="en-US" sz="1040" b="1" dirty="0">
                <a:solidFill>
                  <a:srgbClr val="38BDF8"/>
                </a:solidFill>
                <a:latin typeface="Vazirmatn" pitchFamily="34" charset="0"/>
                <a:ea typeface="Vazirmatn" pitchFamily="34" charset="-122"/>
                <a:cs typeface="Vazirmatn" pitchFamily="34" charset="-120"/>
              </a:rPr>
              <a:t>معرفی سامانه</a:t>
            </a:r>
            <a:endParaRPr lang="fa-IR" sz="1040" dirty="0"/>
          </a:p>
        </p:txBody>
      </p:sp>
      <p:sp>
        <p:nvSpPr>
          <p:cNvPr id="4" name="Editable text: جمع‌بندی"/>
          <p:cNvSpPr/>
          <p:nvPr/>
        </p:nvSpPr>
        <p:spPr>
          <a:xfrm>
            <a:off x="2084832" y="274320"/>
            <a:ext cx="7744968" cy="201168"/>
          </a:xfrm>
          <a:prstGeom prst="rect">
            <a:avLst/>
          </a:prstGeom>
          <a:noFill/>
          <a:ln/>
        </p:spPr>
        <p:txBody>
          <a:bodyPr wrap="square" lIns="0" tIns="0" rIns="0" bIns="0" rtlCol="0" anchor="t"/>
          <a:lstStyle/>
          <a:p>
            <a:pPr rtl="1" algn="r" indent="0" marL="0">
              <a:lnSpc>
                <a:spcPct val="113000"/>
              </a:lnSpc>
              <a:buNone/>
            </a:pPr>
            <a:r>
              <a:rPr lang="fa-IR" altLang="en-US" sz="1100" dirty="0">
                <a:solidFill>
                  <a:srgbClr val="8EA0BD"/>
                </a:solidFill>
                <a:latin typeface="Vazirmatn" pitchFamily="34" charset="0"/>
                <a:ea typeface="Vazirmatn" pitchFamily="34" charset="-122"/>
                <a:cs typeface="Vazirmatn" pitchFamily="34" charset="-120"/>
              </a:rPr>
              <a:t>جمع‌بندی</a:t>
            </a:r>
            <a:endParaRPr lang="fa-IR" sz="1100" dirty="0"/>
          </a:p>
        </p:txBody>
      </p:sp>
      <p:pic>
        <p:nvPicPr>
          <p:cNvPr id="5" name="Screenshot / image: logo.png" descr="لوگوی اصلی سامانه">    </p:cNvPr>
          <p:cNvPicPr>
            <a:picLocks noChangeAspect="1"/>
          </p:cNvPicPr>
          <p:nvPr/>
        </p:nvPicPr>
        <p:blipFill>
          <a:blip r:embed="rId1"/>
          <a:stretch>
            <a:fillRect/>
          </a:stretch>
        </p:blipFill>
        <p:spPr>
          <a:xfrm>
            <a:off x="11237976" y="210312"/>
            <a:ext cx="420624" cy="420624"/>
          </a:xfrm>
          <a:prstGeom prst="rect">
            <a:avLst/>
          </a:prstGeom>
        </p:spPr>
      </p:pic>
      <p:sp>
        <p:nvSpPr>
          <p:cNvPr id="6" name="Editable text: CRM / QC"/>
          <p:cNvSpPr/>
          <p:nvPr/>
        </p:nvSpPr>
        <p:spPr>
          <a:xfrm>
            <a:off x="10213848" y="310896"/>
            <a:ext cx="841248" cy="184912"/>
          </a:xfrm>
          <a:prstGeom prst="rect">
            <a:avLst/>
          </a:prstGeom>
          <a:noFill/>
          <a:ln/>
        </p:spPr>
        <p:txBody>
          <a:bodyPr wrap="square" lIns="0" tIns="0" rIns="0" bIns="0" rtlCol="0" anchor="t"/>
          <a:lstStyle/>
          <a:p>
            <a:pPr algn="l" indent="0" marL="0">
              <a:lnSpc>
                <a:spcPct val="113000"/>
              </a:lnSpc>
              <a:buNone/>
            </a:pPr>
            <a:r>
              <a:rPr lang="fa-IR" altLang="en-US" sz="1040" b="1" dirty="0">
                <a:solidFill>
                  <a:srgbClr val="CBD5E1"/>
                </a:solidFill>
                <a:latin typeface="Vazirmatn" pitchFamily="34" charset="0"/>
                <a:ea typeface="Vazirmatn" pitchFamily="34" charset="-122"/>
                <a:cs typeface="Vazirmatn" pitchFamily="34" charset="-120"/>
              </a:rPr>
              <a:t>CRM / QC</a:t>
            </a:r>
            <a:endParaRPr lang="fa-IR" sz="1040" dirty="0"/>
          </a:p>
        </p:txBody>
      </p:sp>
      <p:sp>
        <p:nvSpPr>
          <p:cNvPr id="7" name="Editable line"/>
          <p:cNvSpPr/>
          <p:nvPr/>
        </p:nvSpPr>
        <p:spPr>
          <a:xfrm>
            <a:off x="502920" y="612648"/>
            <a:ext cx="11192256" cy="0"/>
          </a:xfrm>
          <a:prstGeom prst="line">
            <a:avLst/>
          </a:prstGeom>
          <a:solidFill>
            <a:srgbClr val="090D16"/>
          </a:solidFill>
          <a:ln w="8255">
            <a:solidFill>
              <a:srgbClr val="22304F"/>
            </a:solidFill>
            <a:prstDash val="solid"/>
          </a:ln>
        </p:spPr>
      </p:sp>
      <p:sp>
        <p:nvSpPr>
          <p:cNvPr id="8" name="Editable text: شروع کار؛ مسیر پیشنهادی استفاده از سامانه"/>
          <p:cNvSpPr/>
          <p:nvPr/>
        </p:nvSpPr>
        <p:spPr>
          <a:xfrm>
            <a:off x="530352" y="786384"/>
            <a:ext cx="11100816" cy="497840"/>
          </a:xfrm>
          <a:prstGeom prst="rect">
            <a:avLst/>
          </a:prstGeom>
          <a:noFill/>
          <a:ln/>
        </p:spPr>
        <p:txBody>
          <a:bodyPr wrap="square" lIns="0" tIns="0" rIns="0" bIns="0" rtlCol="0" anchor="t"/>
          <a:lstStyle/>
          <a:p>
            <a:pPr rtl="1" algn="r" indent="0" marL="0">
              <a:lnSpc>
                <a:spcPct val="100000"/>
              </a:lnSpc>
              <a:buNone/>
            </a:pPr>
            <a:r>
              <a:rPr lang="fa-IR" altLang="en-US" sz="2800" b="1" dirty="0">
                <a:solidFill>
                  <a:srgbClr val="F1F5F9"/>
                </a:solidFill>
                <a:latin typeface="Vazirmatn" pitchFamily="34" charset="0"/>
                <a:ea typeface="Vazirmatn" pitchFamily="34" charset="-122"/>
                <a:cs typeface="Vazirmatn" pitchFamily="34" charset="-120"/>
              </a:rPr>
              <a:t>شروع کار؛ مسیر پیشنهادی استفاده از سامانه</a:t>
            </a:r>
            <a:endParaRPr lang="fa-IR" sz="2800" dirty="0"/>
          </a:p>
        </p:txBody>
      </p:sp>
      <p:sp>
        <p:nvSpPr>
          <p:cNvPr id="9" name="Editable text: از تنظیم مرجع افراد تا گزارش، اقدام و نگهداری اطلاعات"/>
          <p:cNvSpPr/>
          <p:nvPr/>
        </p:nvSpPr>
        <p:spPr>
          <a:xfrm>
            <a:off x="548640" y="1298448"/>
            <a:ext cx="11027664" cy="274320"/>
          </a:xfrm>
          <a:prstGeom prst="rect">
            <a:avLst/>
          </a:prstGeom>
          <a:noFill/>
          <a:ln/>
        </p:spPr>
        <p:txBody>
          <a:bodyPr wrap="square" lIns="0" tIns="0" rIns="0" bIns="0" rtlCol="0" anchor="t"/>
          <a:lstStyle/>
          <a:p>
            <a:pPr rtl="1" algn="r" indent="0" marL="0">
              <a:lnSpc>
                <a:spcPct val="113000"/>
              </a:lnSpc>
              <a:buNone/>
            </a:pPr>
            <a:r>
              <a:rPr lang="fa-IR" altLang="en-US" sz="1350" dirty="0">
                <a:solidFill>
                  <a:srgbClr val="8EA0BD"/>
                </a:solidFill>
                <a:latin typeface="Vazirmatn" pitchFamily="34" charset="0"/>
                <a:ea typeface="Vazirmatn" pitchFamily="34" charset="-122"/>
                <a:cs typeface="Vazirmatn" pitchFamily="34" charset="-120"/>
              </a:rPr>
              <a:t>از تنظیم مرجع افراد تا گزارش، اقدام و نگهداری اطلاعات</a:t>
            </a:r>
            <a:endParaRPr lang="fa-IR" sz="1350" dirty="0"/>
          </a:p>
        </p:txBody>
      </p:sp>
      <p:sp>
        <p:nvSpPr>
          <p:cNvPr id="10" name="Editable line"/>
          <p:cNvSpPr/>
          <p:nvPr/>
        </p:nvSpPr>
        <p:spPr>
          <a:xfrm>
            <a:off x="502920" y="6528816"/>
            <a:ext cx="11183112" cy="0"/>
          </a:xfrm>
          <a:prstGeom prst="line">
            <a:avLst/>
          </a:prstGeom>
          <a:solidFill>
            <a:srgbClr val="090D16"/>
          </a:solidFill>
          <a:ln w="7620">
            <a:solidFill>
              <a:srgbClr val="22304F"/>
            </a:solidFill>
            <a:prstDash val="solid"/>
          </a:ln>
        </p:spPr>
      </p:sp>
      <p:sp>
        <p:nvSpPr>
          <p:cNvPr id="11" name="Editable text: فهرست بخش‌ها">
            <a:hlinkClick r:id="rId2" tooltip="بازگشت به نقشه بخش‌ها" action="ppaction://hlinksldjump"/>
          </p:cNvPr>
          <p:cNvSpPr/>
          <p:nvPr/>
        </p:nvSpPr>
        <p:spPr>
          <a:xfrm>
            <a:off x="10351008" y="6620256"/>
            <a:ext cx="1097280" cy="170688"/>
          </a:xfrm>
          <a:prstGeom prst="rect">
            <a:avLst/>
          </a:prstGeom>
          <a:noFill/>
          <a:ln/>
        </p:spPr>
        <p:txBody>
          <a:bodyPr wrap="square" lIns="0" tIns="0" rIns="0" bIns="0" rtlCol="0" anchor="t"/>
          <a:lstStyle/>
          <a:p>
            <a:pPr rtl="1" algn="r" indent="0" marL="0">
              <a:lnSpc>
                <a:spcPct val="113000"/>
              </a:lnSpc>
              <a:buNone/>
            </a:pPr>
            <a:r>
              <a:rPr lang="fa-IR" altLang="en-US" sz="960" u="sng" dirty="0">
                <a:solidFill>
                  <a:srgbClr val="38BDF8"/>
                </a:solidFill>
                <a:latin typeface="Vazirmatn" pitchFamily="34" charset="0"/>
                <a:ea typeface="Vazirmatn" pitchFamily="34" charset="-122"/>
                <a:cs typeface="Vazirmatn" pitchFamily="34" charset="-120"/>
                <a:hlinkClick r:id="rId2" action="ppaction://hlinksldjump" tooltip="بازگشت به نقشه بخش‌ها">
                  <a:extLst>
                    <a:ext uri="{A12FA001-AC4F-418D-AE19-62706E023703}">
                      <ahyp:hlinkClr xmlns:ahyp="http://schemas.microsoft.com/office/drawing/2018/hyperlinkcolor" val="tx"/>
                    </a:ext>
                  </a:extLst>
                </a:hlinkClick>
              </a:rPr>
              <a:t>فهرست بخش‌ها</a:t>
            </a:r>
            <a:endParaRPr lang="fa-IR" sz="960" dirty="0"/>
          </a:p>
        </p:txBody>
      </p:sp>
      <p:sp>
        <p:nvSpPr>
          <p:cNvPr id="12" name="Editable text: اسکرین‌شات واقعی • داده نمایشی"/>
          <p:cNvSpPr/>
          <p:nvPr/>
        </p:nvSpPr>
        <p:spPr>
          <a:xfrm>
            <a:off x="6135624" y="6620256"/>
            <a:ext cx="3831336" cy="164592"/>
          </a:xfrm>
          <a:prstGeom prst="rect">
            <a:avLst/>
          </a:prstGeom>
          <a:noFill/>
          <a:ln/>
        </p:spPr>
        <p:txBody>
          <a:bodyPr wrap="square" lIns="0" tIns="0" rIns="0" bIns="0" rtlCol="0" anchor="t"/>
          <a:lstStyle/>
          <a:p>
            <a:pPr rtl="1" algn="r" indent="0" marL="0">
              <a:lnSpc>
                <a:spcPct val="113000"/>
              </a:lnSpc>
              <a:buNone/>
            </a:pPr>
            <a:r>
              <a:rPr lang="fa-IR" altLang="en-US" sz="910" dirty="0">
                <a:solidFill>
                  <a:srgbClr val="8EA0BD"/>
                </a:solidFill>
                <a:latin typeface="Vazirmatn" pitchFamily="34" charset="0"/>
                <a:ea typeface="Vazirmatn" pitchFamily="34" charset="-122"/>
                <a:cs typeface="Vazirmatn" pitchFamily="34" charset="-120"/>
              </a:rPr>
              <a:t>اسکرین‌شات واقعی • داده نمایشی</a:t>
            </a:r>
            <a:endParaRPr lang="fa-IR" sz="910" dirty="0"/>
          </a:p>
        </p:txBody>
      </p:sp>
      <p:sp>
        <p:nvSpPr>
          <p:cNvPr id="13" name="Editable text: ۳۱ / ۳۱"/>
          <p:cNvSpPr/>
          <p:nvPr/>
        </p:nvSpPr>
        <p:spPr>
          <a:xfrm>
            <a:off x="521208" y="6611112"/>
            <a:ext cx="777240" cy="177800"/>
          </a:xfrm>
          <a:prstGeom prst="rect">
            <a:avLst/>
          </a:prstGeom>
          <a:noFill/>
          <a:ln/>
        </p:spPr>
        <p:txBody>
          <a:bodyPr wrap="square" lIns="0" tIns="0" rIns="0" bIns="0" rtlCol="0" anchor="t"/>
          <a:lstStyle/>
          <a:p>
            <a:pPr algn="l" indent="0" marL="0">
              <a:lnSpc>
                <a:spcPct val="113000"/>
              </a:lnSpc>
              <a:buNone/>
            </a:pPr>
            <a:r>
              <a:rPr lang="fa-IR" altLang="en-US" sz="1000" dirty="0">
                <a:solidFill>
                  <a:srgbClr val="CBD5E1"/>
                </a:solidFill>
                <a:latin typeface="Vazirmatn" pitchFamily="34" charset="0"/>
                <a:ea typeface="Vazirmatn" pitchFamily="34" charset="-122"/>
                <a:cs typeface="Vazirmatn" pitchFamily="34" charset="-120"/>
              </a:rPr>
              <a:t>۳۱ / ۳۱</a:t>
            </a:r>
            <a:endParaRPr lang="fa-IR" sz="1000" dirty="0"/>
          </a:p>
        </p:txBody>
      </p:sp>
      <p:sp>
        <p:nvSpPr>
          <p:cNvPr id="14" name="Editable rect"/>
          <p:cNvSpPr/>
          <p:nvPr/>
        </p:nvSpPr>
        <p:spPr>
          <a:xfrm>
            <a:off x="502920" y="6830568"/>
            <a:ext cx="11192256" cy="22860"/>
          </a:xfrm>
          <a:prstGeom prst="rect">
            <a:avLst/>
          </a:prstGeom>
          <a:solidFill>
            <a:srgbClr val="38BDF8"/>
          </a:solidFill>
          <a:ln w="12700">
            <a:solidFill>
              <a:srgbClr val="38BDF8">
                <a:alpha val="0"/>
              </a:srgbClr>
            </a:solidFill>
            <a:prstDash val="solid"/>
          </a:ln>
        </p:spPr>
      </p:sp>
      <p:sp>
        <p:nvSpPr>
          <p:cNvPr id="15" name="Editable roundRect"/>
          <p:cNvSpPr/>
          <p:nvPr/>
        </p:nvSpPr>
        <p:spPr>
          <a:xfrm>
            <a:off x="8229600" y="1874520"/>
            <a:ext cx="3447288" cy="1271016"/>
          </a:xfrm>
          <a:prstGeom prst="roundRect">
            <a:avLst>
              <a:gd name="adj" fmla="val 6000"/>
            </a:avLst>
          </a:prstGeom>
          <a:solidFill>
            <a:srgbClr val="111A2E"/>
          </a:solidFill>
          <a:ln w="8890">
            <a:solidFill>
              <a:srgbClr val="22304F"/>
            </a:solidFill>
            <a:prstDash val="solid"/>
          </a:ln>
        </p:spPr>
      </p:sp>
      <p:sp>
        <p:nvSpPr>
          <p:cNvPr id="16" name="Editable ellipse"/>
          <p:cNvSpPr/>
          <p:nvPr/>
        </p:nvSpPr>
        <p:spPr>
          <a:xfrm>
            <a:off x="11036808" y="2048256"/>
            <a:ext cx="402336" cy="402336"/>
          </a:xfrm>
          <a:prstGeom prst="ellipse">
            <a:avLst/>
          </a:prstGeom>
          <a:solidFill>
            <a:srgbClr val="16223C"/>
          </a:solidFill>
          <a:ln w="12700">
            <a:solidFill>
              <a:srgbClr val="16223C">
                <a:alpha val="0"/>
              </a:srgbClr>
            </a:solidFill>
            <a:prstDash val="solid"/>
          </a:ln>
        </p:spPr>
      </p:sp>
      <p:sp>
        <p:nvSpPr>
          <p:cNvPr id="17" name="Editable text: ۱"/>
          <p:cNvSpPr/>
          <p:nvPr/>
        </p:nvSpPr>
        <p:spPr>
          <a:xfrm>
            <a:off x="11064240" y="2103120"/>
            <a:ext cx="347472" cy="266700"/>
          </a:xfrm>
          <a:prstGeom prst="rect">
            <a:avLst/>
          </a:prstGeom>
          <a:noFill/>
          <a:ln/>
        </p:spPr>
        <p:txBody>
          <a:bodyPr wrap="square" lIns="0" tIns="0" rIns="0" bIns="0" rtlCol="0" anchor="t"/>
          <a:lstStyle/>
          <a:p>
            <a:pPr rtl="1" algn="ctr" indent="0" marL="0">
              <a:lnSpc>
                <a:spcPct val="113000"/>
              </a:lnSpc>
              <a:buNone/>
            </a:pPr>
            <a:r>
              <a:rPr lang="fa-IR" altLang="en-US" sz="1500" b="1" dirty="0">
                <a:solidFill>
                  <a:srgbClr val="38BDF8"/>
                </a:solidFill>
                <a:latin typeface="Vazirmatn" pitchFamily="34" charset="0"/>
                <a:ea typeface="Vazirmatn" pitchFamily="34" charset="-122"/>
                <a:cs typeface="Vazirmatn" pitchFamily="34" charset="-120"/>
              </a:rPr>
              <a:t>۱</a:t>
            </a:r>
            <a:endParaRPr lang="fa-IR" sz="1500" dirty="0"/>
          </a:p>
        </p:txBody>
      </p:sp>
      <p:sp>
        <p:nvSpPr>
          <p:cNvPr id="18" name="Editable text: مرجع افراد"/>
          <p:cNvSpPr/>
          <p:nvPr/>
        </p:nvSpPr>
        <p:spPr>
          <a:xfrm>
            <a:off x="8421624" y="2084832"/>
            <a:ext cx="243230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38BDF8"/>
                </a:solidFill>
                <a:latin typeface="Vazirmatn" pitchFamily="34" charset="0"/>
                <a:ea typeface="Vazirmatn" pitchFamily="34" charset="-122"/>
                <a:cs typeface="Vazirmatn" pitchFamily="34" charset="-120"/>
              </a:rPr>
              <a:t>مرجع افراد</a:t>
            </a:r>
            <a:endParaRPr lang="fa-IR" sz="1800" dirty="0"/>
          </a:p>
        </p:txBody>
      </p:sp>
      <p:sp>
        <p:nvSpPr>
          <p:cNvPr id="19" name="Editable text: کارشناسان، تیم‌ها و ارزیابان QC را کنترل کنید."/>
          <p:cNvSpPr/>
          <p:nvPr/>
        </p:nvSpPr>
        <p:spPr>
          <a:xfrm>
            <a:off x="8421624" y="2560320"/>
            <a:ext cx="2962656" cy="457200"/>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کارشناسان، تیم‌ها و ارزیابان QC را کنترل کنید.</a:t>
            </a:r>
            <a:endParaRPr lang="fa-IR" sz="1380" dirty="0"/>
          </a:p>
        </p:txBody>
      </p:sp>
      <p:sp>
        <p:nvSpPr>
          <p:cNvPr id="20" name="Editable roundRect"/>
          <p:cNvSpPr/>
          <p:nvPr/>
        </p:nvSpPr>
        <p:spPr>
          <a:xfrm>
            <a:off x="4343400" y="1874520"/>
            <a:ext cx="3447288" cy="1271016"/>
          </a:xfrm>
          <a:prstGeom prst="roundRect">
            <a:avLst>
              <a:gd name="adj" fmla="val 6000"/>
            </a:avLst>
          </a:prstGeom>
          <a:solidFill>
            <a:srgbClr val="111A2E"/>
          </a:solidFill>
          <a:ln w="8890">
            <a:solidFill>
              <a:srgbClr val="22304F"/>
            </a:solidFill>
            <a:prstDash val="solid"/>
          </a:ln>
        </p:spPr>
      </p:sp>
      <p:sp>
        <p:nvSpPr>
          <p:cNvPr id="21" name="Editable ellipse"/>
          <p:cNvSpPr/>
          <p:nvPr/>
        </p:nvSpPr>
        <p:spPr>
          <a:xfrm>
            <a:off x="7150608" y="2048256"/>
            <a:ext cx="402336" cy="402336"/>
          </a:xfrm>
          <a:prstGeom prst="ellipse">
            <a:avLst/>
          </a:prstGeom>
          <a:solidFill>
            <a:srgbClr val="16223C"/>
          </a:solidFill>
          <a:ln w="12700">
            <a:solidFill>
              <a:srgbClr val="16223C">
                <a:alpha val="0"/>
              </a:srgbClr>
            </a:solidFill>
            <a:prstDash val="solid"/>
          </a:ln>
        </p:spPr>
      </p:sp>
      <p:sp>
        <p:nvSpPr>
          <p:cNvPr id="22" name="Editable text: ۲"/>
          <p:cNvSpPr/>
          <p:nvPr/>
        </p:nvSpPr>
        <p:spPr>
          <a:xfrm>
            <a:off x="7178040" y="2103120"/>
            <a:ext cx="347472" cy="266700"/>
          </a:xfrm>
          <a:prstGeom prst="rect">
            <a:avLst/>
          </a:prstGeom>
          <a:noFill/>
          <a:ln/>
        </p:spPr>
        <p:txBody>
          <a:bodyPr wrap="square" lIns="0" tIns="0" rIns="0" bIns="0" rtlCol="0" anchor="t"/>
          <a:lstStyle/>
          <a:p>
            <a:pPr rtl="1" algn="ctr" indent="0" marL="0">
              <a:lnSpc>
                <a:spcPct val="113000"/>
              </a:lnSpc>
              <a:buNone/>
            </a:pPr>
            <a:r>
              <a:rPr lang="fa-IR" altLang="en-US" sz="1500" b="1" dirty="0">
                <a:solidFill>
                  <a:srgbClr val="A78BFA"/>
                </a:solidFill>
                <a:latin typeface="Vazirmatn" pitchFamily="34" charset="0"/>
                <a:ea typeface="Vazirmatn" pitchFamily="34" charset="-122"/>
                <a:cs typeface="Vazirmatn" pitchFamily="34" charset="-120"/>
              </a:rPr>
              <a:t>۲</a:t>
            </a:r>
            <a:endParaRPr lang="fa-IR" sz="1500" dirty="0"/>
          </a:p>
        </p:txBody>
      </p:sp>
      <p:sp>
        <p:nvSpPr>
          <p:cNvPr id="23" name="Editable text: قواعد سامانه"/>
          <p:cNvSpPr/>
          <p:nvPr/>
        </p:nvSpPr>
        <p:spPr>
          <a:xfrm>
            <a:off x="4535424" y="2084832"/>
            <a:ext cx="243230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A78BFA"/>
                </a:solidFill>
                <a:latin typeface="Vazirmatn" pitchFamily="34" charset="0"/>
                <a:ea typeface="Vazirmatn" pitchFamily="34" charset="-122"/>
                <a:cs typeface="Vazirmatn" pitchFamily="34" charset="-120"/>
              </a:rPr>
              <a:t>قواعد سامانه</a:t>
            </a:r>
            <a:endParaRPr lang="fa-IR" sz="1800" dirty="0"/>
          </a:p>
        </p:txBody>
      </p:sp>
      <p:sp>
        <p:nvSpPr>
          <p:cNvPr id="24" name="Editable text: تنظیمات پایه، SLA و المان‌ها را مرور کنید."/>
          <p:cNvSpPr/>
          <p:nvPr/>
        </p:nvSpPr>
        <p:spPr>
          <a:xfrm>
            <a:off x="4535424" y="2560320"/>
            <a:ext cx="2962656" cy="457200"/>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تنظیمات پایه، SLA و المان‌ها را مرور کنید.</a:t>
            </a:r>
            <a:endParaRPr lang="fa-IR" sz="1380" dirty="0"/>
          </a:p>
        </p:txBody>
      </p:sp>
      <p:sp>
        <p:nvSpPr>
          <p:cNvPr id="25" name="Editable roundRect"/>
          <p:cNvSpPr/>
          <p:nvPr/>
        </p:nvSpPr>
        <p:spPr>
          <a:xfrm>
            <a:off x="457200" y="1874520"/>
            <a:ext cx="3447288" cy="1271016"/>
          </a:xfrm>
          <a:prstGeom prst="roundRect">
            <a:avLst>
              <a:gd name="adj" fmla="val 6000"/>
            </a:avLst>
          </a:prstGeom>
          <a:solidFill>
            <a:srgbClr val="111A2E"/>
          </a:solidFill>
          <a:ln w="8890">
            <a:solidFill>
              <a:srgbClr val="22304F"/>
            </a:solidFill>
            <a:prstDash val="solid"/>
          </a:ln>
        </p:spPr>
      </p:sp>
      <p:sp>
        <p:nvSpPr>
          <p:cNvPr id="26" name="Editable ellipse"/>
          <p:cNvSpPr/>
          <p:nvPr/>
        </p:nvSpPr>
        <p:spPr>
          <a:xfrm>
            <a:off x="3264408" y="2048256"/>
            <a:ext cx="402336" cy="402336"/>
          </a:xfrm>
          <a:prstGeom prst="ellipse">
            <a:avLst/>
          </a:prstGeom>
          <a:solidFill>
            <a:srgbClr val="16223C"/>
          </a:solidFill>
          <a:ln w="12700">
            <a:solidFill>
              <a:srgbClr val="16223C">
                <a:alpha val="0"/>
              </a:srgbClr>
            </a:solidFill>
            <a:prstDash val="solid"/>
          </a:ln>
        </p:spPr>
      </p:sp>
      <p:sp>
        <p:nvSpPr>
          <p:cNvPr id="27" name="Editable text: ۳"/>
          <p:cNvSpPr/>
          <p:nvPr/>
        </p:nvSpPr>
        <p:spPr>
          <a:xfrm>
            <a:off x="3291840" y="2103120"/>
            <a:ext cx="347472" cy="266700"/>
          </a:xfrm>
          <a:prstGeom prst="rect">
            <a:avLst/>
          </a:prstGeom>
          <a:noFill/>
          <a:ln/>
        </p:spPr>
        <p:txBody>
          <a:bodyPr wrap="square" lIns="0" tIns="0" rIns="0" bIns="0" rtlCol="0" anchor="t"/>
          <a:lstStyle/>
          <a:p>
            <a:pPr rtl="1" algn="ctr" indent="0" marL="0">
              <a:lnSpc>
                <a:spcPct val="113000"/>
              </a:lnSpc>
              <a:buNone/>
            </a:pPr>
            <a:r>
              <a:rPr lang="fa-IR" altLang="en-US" sz="1500" b="1" dirty="0">
                <a:solidFill>
                  <a:srgbClr val="34D399"/>
                </a:solidFill>
                <a:latin typeface="Vazirmatn" pitchFamily="34" charset="0"/>
                <a:ea typeface="Vazirmatn" pitchFamily="34" charset="-122"/>
                <a:cs typeface="Vazirmatn" pitchFamily="34" charset="-120"/>
              </a:rPr>
              <a:t>۳</a:t>
            </a:r>
            <a:endParaRPr lang="fa-IR" sz="1500" dirty="0"/>
          </a:p>
        </p:txBody>
      </p:sp>
      <p:sp>
        <p:nvSpPr>
          <p:cNvPr id="28" name="Editable text: ورود ارزیابی"/>
          <p:cNvSpPr/>
          <p:nvPr/>
        </p:nvSpPr>
        <p:spPr>
          <a:xfrm>
            <a:off x="649224" y="2084832"/>
            <a:ext cx="243230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34D399"/>
                </a:solidFill>
                <a:latin typeface="Vazirmatn" pitchFamily="34" charset="0"/>
                <a:ea typeface="Vazirmatn" pitchFamily="34" charset="-122"/>
                <a:cs typeface="Vazirmatn" pitchFamily="34" charset="-120"/>
              </a:rPr>
              <a:t>ورود ارزیابی</a:t>
            </a:r>
            <a:endParaRPr lang="fa-IR" sz="1800" dirty="0"/>
          </a:p>
        </p:txBody>
      </p:sp>
      <p:sp>
        <p:nvSpPr>
          <p:cNvPr id="29" name="Editable text: تیکت و سوشال را ثبت یا اکسل QC را وارد کنید."/>
          <p:cNvSpPr/>
          <p:nvPr/>
        </p:nvSpPr>
        <p:spPr>
          <a:xfrm>
            <a:off x="649224" y="2560320"/>
            <a:ext cx="2962656" cy="457200"/>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تیکت و سوشال را ثبت یا اکسل QC را وارد کنید.</a:t>
            </a:r>
            <a:endParaRPr lang="fa-IR" sz="1380" dirty="0"/>
          </a:p>
        </p:txBody>
      </p:sp>
      <p:sp>
        <p:nvSpPr>
          <p:cNvPr id="30" name="Editable roundRect"/>
          <p:cNvSpPr/>
          <p:nvPr/>
        </p:nvSpPr>
        <p:spPr>
          <a:xfrm>
            <a:off x="8229600" y="3383280"/>
            <a:ext cx="3447288" cy="1271016"/>
          </a:xfrm>
          <a:prstGeom prst="roundRect">
            <a:avLst>
              <a:gd name="adj" fmla="val 6000"/>
            </a:avLst>
          </a:prstGeom>
          <a:solidFill>
            <a:srgbClr val="111A2E"/>
          </a:solidFill>
          <a:ln w="8890">
            <a:solidFill>
              <a:srgbClr val="22304F"/>
            </a:solidFill>
            <a:prstDash val="solid"/>
          </a:ln>
        </p:spPr>
      </p:sp>
      <p:sp>
        <p:nvSpPr>
          <p:cNvPr id="31" name="Editable ellipse"/>
          <p:cNvSpPr/>
          <p:nvPr/>
        </p:nvSpPr>
        <p:spPr>
          <a:xfrm>
            <a:off x="11036808" y="3557016"/>
            <a:ext cx="402336" cy="402336"/>
          </a:xfrm>
          <a:prstGeom prst="ellipse">
            <a:avLst/>
          </a:prstGeom>
          <a:solidFill>
            <a:srgbClr val="16223C"/>
          </a:solidFill>
          <a:ln w="12700">
            <a:solidFill>
              <a:srgbClr val="16223C">
                <a:alpha val="0"/>
              </a:srgbClr>
            </a:solidFill>
            <a:prstDash val="solid"/>
          </a:ln>
        </p:spPr>
      </p:sp>
      <p:sp>
        <p:nvSpPr>
          <p:cNvPr id="32" name="Editable text: ۴"/>
          <p:cNvSpPr/>
          <p:nvPr/>
        </p:nvSpPr>
        <p:spPr>
          <a:xfrm>
            <a:off x="11064240" y="3611880"/>
            <a:ext cx="347472" cy="266700"/>
          </a:xfrm>
          <a:prstGeom prst="rect">
            <a:avLst/>
          </a:prstGeom>
          <a:noFill/>
          <a:ln/>
        </p:spPr>
        <p:txBody>
          <a:bodyPr wrap="square" lIns="0" tIns="0" rIns="0" bIns="0" rtlCol="0" anchor="t"/>
          <a:lstStyle/>
          <a:p>
            <a:pPr rtl="1" algn="ctr" indent="0" marL="0">
              <a:lnSpc>
                <a:spcPct val="113000"/>
              </a:lnSpc>
              <a:buNone/>
            </a:pPr>
            <a:r>
              <a:rPr lang="fa-IR" altLang="en-US" sz="1500" b="1" dirty="0">
                <a:solidFill>
                  <a:srgbClr val="38BDF8"/>
                </a:solidFill>
                <a:latin typeface="Vazirmatn" pitchFamily="34" charset="0"/>
                <a:ea typeface="Vazirmatn" pitchFamily="34" charset="-122"/>
                <a:cs typeface="Vazirmatn" pitchFamily="34" charset="-120"/>
              </a:rPr>
              <a:t>۴</a:t>
            </a:r>
            <a:endParaRPr lang="fa-IR" sz="1500" dirty="0"/>
          </a:p>
        </p:txBody>
      </p:sp>
      <p:sp>
        <p:nvSpPr>
          <p:cNvPr id="33" name="Editable text: بازه و گزارش"/>
          <p:cNvSpPr/>
          <p:nvPr/>
        </p:nvSpPr>
        <p:spPr>
          <a:xfrm>
            <a:off x="8421624" y="3593592"/>
            <a:ext cx="243230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38BDF8"/>
                </a:solidFill>
                <a:latin typeface="Vazirmatn" pitchFamily="34" charset="0"/>
                <a:ea typeface="Vazirmatn" pitchFamily="34" charset="-122"/>
                <a:cs typeface="Vazirmatn" pitchFamily="34" charset="-120"/>
              </a:rPr>
              <a:t>بازه و گزارش</a:t>
            </a:r>
            <a:endParaRPr lang="fa-IR" sz="1800" dirty="0"/>
          </a:p>
        </p:txBody>
      </p:sp>
      <p:sp>
        <p:nvSpPr>
          <p:cNvPr id="34" name="Editable text: تاریخ بررسی را انتخاب و گزارش‌ها را مقایسه کنید."/>
          <p:cNvSpPr/>
          <p:nvPr/>
        </p:nvSpPr>
        <p:spPr>
          <a:xfrm>
            <a:off x="8421624" y="4069080"/>
            <a:ext cx="2962656" cy="457200"/>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تاریخ بررسی را انتخاب و گزارش‌ها را مقایسه کنید.</a:t>
            </a:r>
            <a:endParaRPr lang="fa-IR" sz="1380" dirty="0"/>
          </a:p>
        </p:txBody>
      </p:sp>
      <p:sp>
        <p:nvSpPr>
          <p:cNvPr id="35" name="Editable roundRect"/>
          <p:cNvSpPr/>
          <p:nvPr/>
        </p:nvSpPr>
        <p:spPr>
          <a:xfrm>
            <a:off x="4343400" y="3383280"/>
            <a:ext cx="3447288" cy="1271016"/>
          </a:xfrm>
          <a:prstGeom prst="roundRect">
            <a:avLst>
              <a:gd name="adj" fmla="val 6000"/>
            </a:avLst>
          </a:prstGeom>
          <a:solidFill>
            <a:srgbClr val="111A2E"/>
          </a:solidFill>
          <a:ln w="8890">
            <a:solidFill>
              <a:srgbClr val="22304F"/>
            </a:solidFill>
            <a:prstDash val="solid"/>
          </a:ln>
        </p:spPr>
      </p:sp>
      <p:sp>
        <p:nvSpPr>
          <p:cNvPr id="36" name="Editable ellipse"/>
          <p:cNvSpPr/>
          <p:nvPr/>
        </p:nvSpPr>
        <p:spPr>
          <a:xfrm>
            <a:off x="7150608" y="3557016"/>
            <a:ext cx="402336" cy="402336"/>
          </a:xfrm>
          <a:prstGeom prst="ellipse">
            <a:avLst/>
          </a:prstGeom>
          <a:solidFill>
            <a:srgbClr val="16223C"/>
          </a:solidFill>
          <a:ln w="12700">
            <a:solidFill>
              <a:srgbClr val="16223C">
                <a:alpha val="0"/>
              </a:srgbClr>
            </a:solidFill>
            <a:prstDash val="solid"/>
          </a:ln>
        </p:spPr>
      </p:sp>
      <p:sp>
        <p:nvSpPr>
          <p:cNvPr id="37" name="Editable text: ۵"/>
          <p:cNvSpPr/>
          <p:nvPr/>
        </p:nvSpPr>
        <p:spPr>
          <a:xfrm>
            <a:off x="7178040" y="3611880"/>
            <a:ext cx="347472" cy="266700"/>
          </a:xfrm>
          <a:prstGeom prst="rect">
            <a:avLst/>
          </a:prstGeom>
          <a:noFill/>
          <a:ln/>
        </p:spPr>
        <p:txBody>
          <a:bodyPr wrap="square" lIns="0" tIns="0" rIns="0" bIns="0" rtlCol="0" anchor="t"/>
          <a:lstStyle/>
          <a:p>
            <a:pPr rtl="1" algn="ctr" indent="0" marL="0">
              <a:lnSpc>
                <a:spcPct val="113000"/>
              </a:lnSpc>
              <a:buNone/>
            </a:pPr>
            <a:r>
              <a:rPr lang="fa-IR" altLang="en-US" sz="1500" b="1" dirty="0">
                <a:solidFill>
                  <a:srgbClr val="A78BFA"/>
                </a:solidFill>
                <a:latin typeface="Vazirmatn" pitchFamily="34" charset="0"/>
                <a:ea typeface="Vazirmatn" pitchFamily="34" charset="-122"/>
                <a:cs typeface="Vazirmatn" pitchFamily="34" charset="-120"/>
              </a:rPr>
              <a:t>۵</a:t>
            </a:r>
            <a:endParaRPr lang="fa-IR" sz="1500" dirty="0"/>
          </a:p>
        </p:txBody>
      </p:sp>
      <p:sp>
        <p:nvSpPr>
          <p:cNvPr id="38" name="Editable text: پرونده و اقدام"/>
          <p:cNvSpPr/>
          <p:nvPr/>
        </p:nvSpPr>
        <p:spPr>
          <a:xfrm>
            <a:off x="4535424" y="3593592"/>
            <a:ext cx="243230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A78BFA"/>
                </a:solidFill>
                <a:latin typeface="Vazirmatn" pitchFamily="34" charset="0"/>
                <a:ea typeface="Vazirmatn" pitchFamily="34" charset="-122"/>
                <a:cs typeface="Vazirmatn" pitchFamily="34" charset="-120"/>
              </a:rPr>
              <a:t>پرونده و اقدام</a:t>
            </a:r>
            <a:endParaRPr lang="fa-IR" sz="1800" dirty="0"/>
          </a:p>
        </p:txBody>
      </p:sp>
      <p:sp>
        <p:nvSpPr>
          <p:cNvPr id="39" name="Editable text: جزئیات فرد را ببینید و اقدام اصلاحی ثبت کنید."/>
          <p:cNvSpPr/>
          <p:nvPr/>
        </p:nvSpPr>
        <p:spPr>
          <a:xfrm>
            <a:off x="4535424" y="4069080"/>
            <a:ext cx="2962656" cy="457200"/>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جزئیات فرد را ببینید و اقدام اصلاحی ثبت کنید.</a:t>
            </a:r>
            <a:endParaRPr lang="fa-IR" sz="1380" dirty="0"/>
          </a:p>
        </p:txBody>
      </p:sp>
      <p:sp>
        <p:nvSpPr>
          <p:cNvPr id="40" name="Editable roundRect"/>
          <p:cNvSpPr/>
          <p:nvPr/>
        </p:nvSpPr>
        <p:spPr>
          <a:xfrm>
            <a:off x="457200" y="3383280"/>
            <a:ext cx="3447288" cy="1271016"/>
          </a:xfrm>
          <a:prstGeom prst="roundRect">
            <a:avLst>
              <a:gd name="adj" fmla="val 6000"/>
            </a:avLst>
          </a:prstGeom>
          <a:solidFill>
            <a:srgbClr val="111A2E"/>
          </a:solidFill>
          <a:ln w="8890">
            <a:solidFill>
              <a:srgbClr val="22304F"/>
            </a:solidFill>
            <a:prstDash val="solid"/>
          </a:ln>
        </p:spPr>
      </p:sp>
      <p:sp>
        <p:nvSpPr>
          <p:cNvPr id="41" name="Editable ellipse"/>
          <p:cNvSpPr/>
          <p:nvPr/>
        </p:nvSpPr>
        <p:spPr>
          <a:xfrm>
            <a:off x="3264408" y="3557016"/>
            <a:ext cx="402336" cy="402336"/>
          </a:xfrm>
          <a:prstGeom prst="ellipse">
            <a:avLst/>
          </a:prstGeom>
          <a:solidFill>
            <a:srgbClr val="16223C"/>
          </a:solidFill>
          <a:ln w="12700">
            <a:solidFill>
              <a:srgbClr val="16223C">
                <a:alpha val="0"/>
              </a:srgbClr>
            </a:solidFill>
            <a:prstDash val="solid"/>
          </a:ln>
        </p:spPr>
      </p:sp>
      <p:sp>
        <p:nvSpPr>
          <p:cNvPr id="42" name="Editable text: ۶"/>
          <p:cNvSpPr/>
          <p:nvPr/>
        </p:nvSpPr>
        <p:spPr>
          <a:xfrm>
            <a:off x="3291840" y="3611880"/>
            <a:ext cx="347472" cy="266700"/>
          </a:xfrm>
          <a:prstGeom prst="rect">
            <a:avLst/>
          </a:prstGeom>
          <a:noFill/>
          <a:ln/>
        </p:spPr>
        <p:txBody>
          <a:bodyPr wrap="square" lIns="0" tIns="0" rIns="0" bIns="0" rtlCol="0" anchor="t"/>
          <a:lstStyle/>
          <a:p>
            <a:pPr rtl="1" algn="ctr" indent="0" marL="0">
              <a:lnSpc>
                <a:spcPct val="113000"/>
              </a:lnSpc>
              <a:buNone/>
            </a:pPr>
            <a:r>
              <a:rPr lang="fa-IR" altLang="en-US" sz="1500" b="1" dirty="0">
                <a:solidFill>
                  <a:srgbClr val="34D399"/>
                </a:solidFill>
                <a:latin typeface="Vazirmatn" pitchFamily="34" charset="0"/>
                <a:ea typeface="Vazirmatn" pitchFamily="34" charset="-122"/>
                <a:cs typeface="Vazirmatn" pitchFamily="34" charset="-120"/>
              </a:rPr>
              <a:t>۶</a:t>
            </a:r>
            <a:endParaRPr lang="fa-IR" sz="1500" dirty="0"/>
          </a:p>
        </p:txBody>
      </p:sp>
      <p:sp>
        <p:nvSpPr>
          <p:cNvPr id="43" name="Editable text: آرشیو و تأیید"/>
          <p:cNvSpPr/>
          <p:nvPr/>
        </p:nvSpPr>
        <p:spPr>
          <a:xfrm>
            <a:off x="649224" y="3593592"/>
            <a:ext cx="2432304" cy="320040"/>
          </a:xfrm>
          <a:prstGeom prst="rect">
            <a:avLst/>
          </a:prstGeom>
          <a:noFill/>
          <a:ln/>
        </p:spPr>
        <p:txBody>
          <a:bodyPr wrap="square" lIns="0" tIns="0" rIns="0" bIns="0" rtlCol="0" anchor="t"/>
          <a:lstStyle/>
          <a:p>
            <a:pPr rtl="1" algn="r" indent="0" marL="0">
              <a:lnSpc>
                <a:spcPct val="113000"/>
              </a:lnSpc>
              <a:buNone/>
            </a:pPr>
            <a:r>
              <a:rPr lang="fa-IR" altLang="en-US" sz="1800" b="1" dirty="0">
                <a:solidFill>
                  <a:srgbClr val="34D399"/>
                </a:solidFill>
                <a:latin typeface="Vazirmatn" pitchFamily="34" charset="0"/>
                <a:ea typeface="Vazirmatn" pitchFamily="34" charset="-122"/>
                <a:cs typeface="Vazirmatn" pitchFamily="34" charset="-120"/>
              </a:rPr>
              <a:t>آرشیو و تأیید</a:t>
            </a:r>
            <a:endParaRPr lang="fa-IR" sz="1800" dirty="0"/>
          </a:p>
        </p:txBody>
      </p:sp>
      <p:sp>
        <p:nvSpPr>
          <p:cNvPr id="44" name="Editable text: بک‌اپ بگیرید و اطلاعات مرورگر را تأیید کنید."/>
          <p:cNvSpPr/>
          <p:nvPr/>
        </p:nvSpPr>
        <p:spPr>
          <a:xfrm>
            <a:off x="649224" y="4069080"/>
            <a:ext cx="2962656" cy="457200"/>
          </a:xfrm>
          <a:prstGeom prst="rect">
            <a:avLst/>
          </a:prstGeom>
          <a:noFill/>
          <a:ln/>
        </p:spPr>
        <p:txBody>
          <a:bodyPr wrap="square" lIns="0" tIns="0" rIns="0" bIns="0" rtlCol="0" anchor="t"/>
          <a:lstStyle/>
          <a:p>
            <a:pPr rtl="1" algn="r" indent="0" marL="0">
              <a:lnSpc>
                <a:spcPct val="113000"/>
              </a:lnSpc>
              <a:buNone/>
            </a:pPr>
            <a:r>
              <a:rPr lang="fa-IR" altLang="en-US" sz="1380" dirty="0">
                <a:solidFill>
                  <a:srgbClr val="CBD5E1"/>
                </a:solidFill>
                <a:latin typeface="Vazirmatn" pitchFamily="34" charset="0"/>
                <a:ea typeface="Vazirmatn" pitchFamily="34" charset="-122"/>
                <a:cs typeface="Vazirmatn" pitchFamily="34" charset="-120"/>
              </a:rPr>
              <a:t>بک‌اپ بگیرید و اطلاعات مرورگر را تأیید کنید.</a:t>
            </a:r>
            <a:endParaRPr lang="fa-IR" sz="1380" dirty="0"/>
          </a:p>
        </p:txBody>
      </p:sp>
      <p:sp>
        <p:nvSpPr>
          <p:cNvPr id="45" name="Editable roundRect"/>
          <p:cNvSpPr/>
          <p:nvPr/>
        </p:nvSpPr>
        <p:spPr>
          <a:xfrm>
            <a:off x="502920" y="5230368"/>
            <a:ext cx="11173968" cy="1115568"/>
          </a:xfrm>
          <a:prstGeom prst="roundRect">
            <a:avLst>
              <a:gd name="adj" fmla="val 6000"/>
            </a:avLst>
          </a:prstGeom>
          <a:solidFill>
            <a:srgbClr val="16223C"/>
          </a:solidFill>
          <a:ln w="8890">
            <a:solidFill>
              <a:srgbClr val="22304F"/>
            </a:solidFill>
            <a:prstDash val="solid"/>
          </a:ln>
        </p:spPr>
      </p:sp>
      <p:sp>
        <p:nvSpPr>
          <p:cNvPr id="46" name="Editable text: ارزیاب QC"/>
          <p:cNvSpPr/>
          <p:nvPr/>
        </p:nvSpPr>
        <p:spPr>
          <a:xfrm>
            <a:off x="8549640" y="5422392"/>
            <a:ext cx="3035808" cy="305816"/>
          </a:xfrm>
          <a:prstGeom prst="rect">
            <a:avLst/>
          </a:prstGeom>
          <a:noFill/>
          <a:ln/>
        </p:spPr>
        <p:txBody>
          <a:bodyPr wrap="square" lIns="0" tIns="0" rIns="0" bIns="0" rtlCol="0" anchor="t"/>
          <a:lstStyle/>
          <a:p>
            <a:pPr rtl="1" algn="ctr" indent="0" marL="0">
              <a:lnSpc>
                <a:spcPct val="113000"/>
              </a:lnSpc>
              <a:buNone/>
            </a:pPr>
            <a:r>
              <a:rPr lang="fa-IR" altLang="en-US" sz="1720" b="1" dirty="0">
                <a:solidFill>
                  <a:srgbClr val="F1F5F9"/>
                </a:solidFill>
                <a:latin typeface="Vazirmatn" pitchFamily="34" charset="0"/>
                <a:ea typeface="Vazirmatn" pitchFamily="34" charset="-122"/>
                <a:cs typeface="Vazirmatn" pitchFamily="34" charset="-120"/>
              </a:rPr>
              <a:t>ارزیاب QC</a:t>
            </a:r>
            <a:endParaRPr lang="fa-IR" sz="1720" dirty="0"/>
          </a:p>
        </p:txBody>
      </p:sp>
      <p:sp>
        <p:nvSpPr>
          <p:cNvPr id="47" name="Editable text: ثبت دقیق و قابل پیگیری"/>
          <p:cNvSpPr/>
          <p:nvPr/>
        </p:nvSpPr>
        <p:spPr>
          <a:xfrm>
            <a:off x="8549640" y="5852160"/>
            <a:ext cx="3035808" cy="243586"/>
          </a:xfrm>
          <a:prstGeom prst="rect">
            <a:avLst/>
          </a:prstGeom>
          <a:noFill/>
          <a:ln/>
        </p:spPr>
        <p:txBody>
          <a:bodyPr wrap="square" lIns="0" tIns="0" rIns="0" bIns="0" rtlCol="0" anchor="t"/>
          <a:lstStyle/>
          <a:p>
            <a:pPr rtl="1" algn="ctr" indent="0" marL="0">
              <a:lnSpc>
                <a:spcPct val="113000"/>
              </a:lnSpc>
              <a:buNone/>
            </a:pPr>
            <a:r>
              <a:rPr lang="fa-IR" altLang="en-US" sz="1370" dirty="0">
                <a:solidFill>
                  <a:srgbClr val="8EA0BD"/>
                </a:solidFill>
                <a:latin typeface="Vazirmatn" pitchFamily="34" charset="0"/>
                <a:ea typeface="Vazirmatn" pitchFamily="34" charset="-122"/>
                <a:cs typeface="Vazirmatn" pitchFamily="34" charset="-120"/>
              </a:rPr>
              <a:t>ثبت دقیق و قابل پیگیری</a:t>
            </a:r>
            <a:endParaRPr lang="fa-IR" sz="1370" dirty="0"/>
          </a:p>
        </p:txBody>
      </p:sp>
      <p:sp>
        <p:nvSpPr>
          <p:cNvPr id="48" name="Editable text: سرپرست تیم"/>
          <p:cNvSpPr/>
          <p:nvPr/>
        </p:nvSpPr>
        <p:spPr>
          <a:xfrm>
            <a:off x="4663440" y="5422392"/>
            <a:ext cx="3035808" cy="305816"/>
          </a:xfrm>
          <a:prstGeom prst="rect">
            <a:avLst/>
          </a:prstGeom>
          <a:noFill/>
          <a:ln/>
        </p:spPr>
        <p:txBody>
          <a:bodyPr wrap="square" lIns="0" tIns="0" rIns="0" bIns="0" rtlCol="0" anchor="t"/>
          <a:lstStyle/>
          <a:p>
            <a:pPr rtl="1" algn="ctr" indent="0" marL="0">
              <a:lnSpc>
                <a:spcPct val="113000"/>
              </a:lnSpc>
              <a:buNone/>
            </a:pPr>
            <a:r>
              <a:rPr lang="fa-IR" altLang="en-US" sz="1720" b="1" dirty="0">
                <a:solidFill>
                  <a:srgbClr val="F1F5F9"/>
                </a:solidFill>
                <a:latin typeface="Vazirmatn" pitchFamily="34" charset="0"/>
                <a:ea typeface="Vazirmatn" pitchFamily="34" charset="-122"/>
                <a:cs typeface="Vazirmatn" pitchFamily="34" charset="-120"/>
              </a:rPr>
              <a:t>سرپرست تیم</a:t>
            </a:r>
            <a:endParaRPr lang="fa-IR" sz="1720" dirty="0"/>
          </a:p>
        </p:txBody>
      </p:sp>
      <p:sp>
        <p:nvSpPr>
          <p:cNvPr id="49" name="Editable text: پرونده فرد و پیگیری اقدام"/>
          <p:cNvSpPr/>
          <p:nvPr/>
        </p:nvSpPr>
        <p:spPr>
          <a:xfrm>
            <a:off x="4663440" y="5852160"/>
            <a:ext cx="3035808" cy="243586"/>
          </a:xfrm>
          <a:prstGeom prst="rect">
            <a:avLst/>
          </a:prstGeom>
          <a:noFill/>
          <a:ln/>
        </p:spPr>
        <p:txBody>
          <a:bodyPr wrap="square" lIns="0" tIns="0" rIns="0" bIns="0" rtlCol="0" anchor="t"/>
          <a:lstStyle/>
          <a:p>
            <a:pPr rtl="1" algn="ctr" indent="0" marL="0">
              <a:lnSpc>
                <a:spcPct val="113000"/>
              </a:lnSpc>
              <a:buNone/>
            </a:pPr>
            <a:r>
              <a:rPr lang="fa-IR" altLang="en-US" sz="1370" dirty="0">
                <a:solidFill>
                  <a:srgbClr val="8EA0BD"/>
                </a:solidFill>
                <a:latin typeface="Vazirmatn" pitchFamily="34" charset="0"/>
                <a:ea typeface="Vazirmatn" pitchFamily="34" charset="-122"/>
                <a:cs typeface="Vazirmatn" pitchFamily="34" charset="-120"/>
              </a:rPr>
              <a:t>پرونده فرد و پیگیری اقدام</a:t>
            </a:r>
            <a:endParaRPr lang="fa-IR" sz="1370" dirty="0"/>
          </a:p>
        </p:txBody>
      </p:sp>
      <p:sp>
        <p:nvSpPr>
          <p:cNvPr id="50" name="Editable text: مدیر"/>
          <p:cNvSpPr/>
          <p:nvPr/>
        </p:nvSpPr>
        <p:spPr>
          <a:xfrm>
            <a:off x="777240" y="5422392"/>
            <a:ext cx="3035808" cy="305816"/>
          </a:xfrm>
          <a:prstGeom prst="rect">
            <a:avLst/>
          </a:prstGeom>
          <a:noFill/>
          <a:ln/>
        </p:spPr>
        <p:txBody>
          <a:bodyPr wrap="square" lIns="0" tIns="0" rIns="0" bIns="0" rtlCol="0" anchor="t"/>
          <a:lstStyle/>
          <a:p>
            <a:pPr rtl="1" algn="ctr" indent="0" marL="0">
              <a:lnSpc>
                <a:spcPct val="113000"/>
              </a:lnSpc>
              <a:buNone/>
            </a:pPr>
            <a:r>
              <a:rPr lang="fa-IR" altLang="en-US" sz="1720" b="1" dirty="0">
                <a:solidFill>
                  <a:srgbClr val="F1F5F9"/>
                </a:solidFill>
                <a:latin typeface="Vazirmatn" pitchFamily="34" charset="0"/>
                <a:ea typeface="Vazirmatn" pitchFamily="34" charset="-122"/>
                <a:cs typeface="Vazirmatn" pitchFamily="34" charset="-120"/>
              </a:rPr>
              <a:t>مدیر</a:t>
            </a:r>
            <a:endParaRPr lang="fa-IR" sz="1720" dirty="0"/>
          </a:p>
        </p:txBody>
      </p:sp>
      <p:sp>
        <p:nvSpPr>
          <p:cNvPr id="51" name="Editable text: مقایسه تیم‌ها و اولویت آموزش"/>
          <p:cNvSpPr/>
          <p:nvPr/>
        </p:nvSpPr>
        <p:spPr>
          <a:xfrm>
            <a:off x="777240" y="5852160"/>
            <a:ext cx="3035808" cy="243586"/>
          </a:xfrm>
          <a:prstGeom prst="rect">
            <a:avLst/>
          </a:prstGeom>
          <a:noFill/>
          <a:ln/>
        </p:spPr>
        <p:txBody>
          <a:bodyPr wrap="square" lIns="0" tIns="0" rIns="0" bIns="0" rtlCol="0" anchor="t"/>
          <a:lstStyle/>
          <a:p>
            <a:pPr rtl="1" algn="ctr" indent="0" marL="0">
              <a:lnSpc>
                <a:spcPct val="113000"/>
              </a:lnSpc>
              <a:buNone/>
            </a:pPr>
            <a:r>
              <a:rPr lang="fa-IR" altLang="en-US" sz="1370" dirty="0">
                <a:solidFill>
                  <a:srgbClr val="8EA0BD"/>
                </a:solidFill>
                <a:latin typeface="Vazirmatn" pitchFamily="34" charset="0"/>
                <a:ea typeface="Vazirmatn" pitchFamily="34" charset="-122"/>
                <a:cs typeface="Vazirmatn" pitchFamily="34" charset="-120"/>
              </a:rPr>
              <a:t>مقایسه تیم‌ها و اولویت آموزش</a:t>
            </a:r>
            <a:endParaRPr lang="fa-IR" sz="1370" dirty="0"/>
          </a:p>
        </p:txBody>
      </p:sp>
    </p:spTree>
  </p:cSld>
  <p:clrMapOvr>
    <a:masterClrMapping/>
  </p:clrMapOvr>
</p:sld>
</file>

<file path=ppt/theme/theme1.xml><?xml version="1.0" encoding="utf-8"?>
<a:theme xmlns:a="http://schemas.openxmlformats.org/drawingml/2006/main" name="Office Theme">
  <a:themeElements>
    <a:clrScheme name="Office">
      <a:dk1>
        <a:srgbClr val="090D16"/>
      </a:dk1>
      <a:lt1>
        <a:srgbClr val="F1F5F9"/>
      </a:lt1>
      <a:dk2>
        <a:srgbClr val="111A2E"/>
      </a:dk2>
      <a:lt2>
        <a:srgbClr val="CBD5E1"/>
      </a:lt2>
      <a:accent1>
        <a:srgbClr val="38BDF8"/>
      </a:accent1>
      <a:accent2>
        <a:srgbClr val="A78BFA"/>
      </a:accent2>
      <a:accent3>
        <a:srgbClr val="34D399"/>
      </a:accent3>
      <a:accent4>
        <a:srgbClr val="FBBF24"/>
      </a:accent4>
      <a:accent5>
        <a:srgbClr val="F87171"/>
      </a:accent5>
      <a:accent6>
        <a:srgbClr val="087BBD"/>
      </a:accent6>
      <a:hlink>
        <a:srgbClr val="38BDF8"/>
      </a:hlink>
      <a:folHlink>
        <a:srgbClr val="A78BFA"/>
      </a:folHlink>
    </a:clrScheme>
    <a:fontScheme name="Office">
      <a:majorFont>
        <a:latin typeface="Vazirmatn"/>
        <a:ea typeface=""/>
        <a:cs typeface=""/>
        <a:font script="Jpan" typeface="游ゴシック Light"/>
        <a:font script="Hang" typeface="맑은 고딕"/>
        <a:font script="Hans" typeface="等线 Light"/>
        <a:font script="Hant" typeface="新細明體"/>
        <a:font script="Arab" typeface="Vazirmat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azirmatn"/>
        <a:ea typeface=""/>
        <a:cs typeface=""/>
        <a:font script="Jpan" typeface="游ゴシック"/>
        <a:font script="Hang" typeface="맑은 고딕"/>
        <a:font script="Hans" typeface="等线"/>
        <a:font script="Hant" typeface="新細明體"/>
        <a:font script="Arab" typeface="Vazirmatn"/>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CRM Quality Assurance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معرفی سامانه یکپارچه کنترل کیفیت CRM</dc:title>
  <dc:subject>معرفی کاربردی بخش‌های سامانه کنترل کیفیت CRM</dc:subject>
  <dc:creator>CRM Quality Control</dc:creator>
  <cp:lastModifiedBy>CRM Quality Control</cp:lastModifiedBy>
  <cp:revision>1</cp:revision>
  <dcterms:created xsi:type="dcterms:W3CDTF">2026-10-13T09:40:32Z</dcterms:created>
  <dcterms:modified xsi:type="dcterms:W3CDTF">2026-10-13T09:40:32Z</dcterms:modified>
</cp:coreProperties>
</file>